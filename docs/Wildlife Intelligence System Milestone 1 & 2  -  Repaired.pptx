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53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635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7315200" cy="7315200"/>
          </a:xfrm>
          <a:prstGeom prst="ellipse">
            <a:avLst/>
          </a:prstGeom>
          <a:ln w="12700">
            <a:solidFill>
              <a:srgbClr val="52796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1232" y="-2761488"/>
            <a:ext cx="8083296" cy="8083296"/>
          </a:xfrm>
          <a:prstGeom prst="ellipse">
            <a:avLst/>
          </a:prstGeom>
          <a:ln w="12700">
            <a:solidFill>
              <a:srgbClr val="52796F">
                <a:alpha val="3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87184" y="-3145536"/>
            <a:ext cx="8851392" cy="8851392"/>
          </a:xfrm>
          <a:prstGeom prst="ellipse">
            <a:avLst/>
          </a:prstGeom>
          <a:ln w="12700">
            <a:solidFill>
              <a:srgbClr val="52796F">
                <a:alpha val="3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03136" y="-3529584"/>
            <a:ext cx="9619488" cy="9619488"/>
          </a:xfrm>
          <a:prstGeom prst="ellipse">
            <a:avLst/>
          </a:prstGeom>
          <a:ln w="12700">
            <a:solidFill>
              <a:srgbClr val="52796F">
                <a:alpha val="2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19088" y="-3913632"/>
            <a:ext cx="10387584" cy="10387584"/>
          </a:xfrm>
          <a:prstGeom prst="ellipse">
            <a:avLst/>
          </a:prstGeom>
          <a:ln w="12700">
            <a:solidFill>
              <a:srgbClr val="52796F">
                <a:alpha val="21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WILDLIFE POPULATION</a:t>
            </a:r>
            <a:endParaRPr lang="en-US" sz="40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&amp; Milestone 2 — Consolidated Progress Report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416052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4434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2026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Jayasri 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github.com/Jayasrip08/wildlife-population-intelligence-system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141732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647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08760" y="180136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Vision &amp; SDLC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219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Agile milestone roadmap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5074920" cy="141732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7647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903720" y="180136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dual-database design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074920" cy="141732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192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08760" y="335584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Deliverables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7764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RBAC, schema, ingestion pipeline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2160" y="3154680"/>
            <a:ext cx="5074920" cy="141732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3192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335584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Deliverables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37764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recognition, bioacoustics, biodiversity, reporting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5074920" cy="141732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73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08760" y="49103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Benchmarks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33095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performance, testing results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52160" y="4709160"/>
            <a:ext cx="5074920" cy="141732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4873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03720" y="49103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Ahead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533095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preview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Development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automates wildlife species identification, population count estimation, habitat health assessment, and poaching/threat detection using multi-modal AI (YOLOv8, YAMNet/BirdNET) combined with PostGIS geospatial analytics.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6492240" cy="3063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SDLC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&amp; Agile SDLC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monitoring demands phased data ingestion, continuous model evaluation, multi-role dashboards, and rapid deployment of threat-detection algorithms — Agile fits this reality far better than a single linear build.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&amp; Geospatial Stack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965960"/>
            <a:ext cx="4434840" cy="1097280"/>
          </a:xfrm>
          <a:prstGeom prst="roundRect">
            <a:avLst>
              <a:gd name="adj" fmla="val 5000"/>
            </a:avLst>
          </a:prstGeom>
          <a:solidFill>
            <a:srgbClr val="F7F7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16368" y="2221992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7516368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0" y="20939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229600" y="247802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Camera-trap &amp; drone image detection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0" y="3291840"/>
            <a:ext cx="4434840" cy="1097280"/>
          </a:xfrm>
          <a:prstGeom prst="roundRect">
            <a:avLst>
              <a:gd name="adj" fmla="val 5000"/>
            </a:avLst>
          </a:prstGeom>
          <a:solidFill>
            <a:srgbClr val="F7F7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516368" y="3547872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516368" y="3547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34198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YAMNet / BirdNET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229600" y="380390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Bioacoustic species identification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0" y="4617720"/>
            <a:ext cx="4434840" cy="1097280"/>
          </a:xfrm>
          <a:prstGeom prst="roundRect">
            <a:avLst>
              <a:gd name="adj" fmla="val 5000"/>
            </a:avLst>
          </a:prstGeom>
          <a:solidFill>
            <a:srgbClr val="F7F7F2"/>
          </a:solidFill>
          <a:ln/>
        </p:spPr>
      </p:sp>
      <p:sp>
        <p:nvSpPr>
          <p:cNvPr id="21" name="Shape 19"/>
          <p:cNvSpPr/>
          <p:nvPr/>
        </p:nvSpPr>
        <p:spPr>
          <a:xfrm>
            <a:off x="7516368" y="4873752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7516368" y="4873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0" y="47457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PostGIS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229600" y="512978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analytics on survey zones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3429000"/>
            <a:ext cx="9811512" cy="0"/>
          </a:xfrm>
          <a:prstGeom prst="line">
            <a:avLst/>
          </a:prstGeom>
          <a:noFill/>
          <a:ln w="38100">
            <a:solidFill>
              <a:srgbClr val="CA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3136392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31363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F7F7F2"/>
          </a:solidFill>
          <a:ln w="15875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9751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init, requirements, architecture, DB design, JWT/RBAC, dataset pipeline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88720" y="2926080"/>
            <a:ext cx="0" cy="502920"/>
          </a:xfrm>
          <a:prstGeom prst="line">
            <a:avLst/>
          </a:prstGeom>
          <a:noFill/>
          <a:ln w="15875">
            <a:solidFill>
              <a:srgbClr val="1B433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01868" y="3136392"/>
            <a:ext cx="585216" cy="585216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801868" y="31363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85716" y="393192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F7F7F2"/>
          </a:solidFill>
          <a:ln w="15875">
            <a:solidFill>
              <a:srgbClr val="527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8596" y="40416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68596" y="43525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8596" y="46268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recognition (vision+audio), biodiversity analytics, PDF reporting, full integration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4476" y="3429000"/>
            <a:ext cx="0" cy="502920"/>
          </a:xfrm>
          <a:prstGeom prst="line">
            <a:avLst/>
          </a:prstGeom>
          <a:noFill/>
          <a:ln w="15875">
            <a:solidFill>
              <a:srgbClr val="52796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707624" y="3136392"/>
            <a:ext cx="585216" cy="585216"/>
          </a:xfrm>
          <a:prstGeom prst="ellipse">
            <a:avLst/>
          </a:prstGeom>
          <a:solidFill>
            <a:srgbClr val="A9B8AC"/>
          </a:solidFill>
          <a:ln/>
        </p:spPr>
      </p:sp>
      <p:sp>
        <p:nvSpPr>
          <p:cNvPr id="20" name="Text 18"/>
          <p:cNvSpPr/>
          <p:nvPr/>
        </p:nvSpPr>
        <p:spPr>
          <a:xfrm>
            <a:off x="10707624" y="31363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716975" y="155448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F7F7F2"/>
          </a:solidFill>
          <a:ln w="15875">
            <a:solidFill>
              <a:srgbClr val="A9B8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99855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99855" y="19751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99855" y="224942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fine-tuning, high-throughput video streaming, edge deployment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000232" y="2926080"/>
            <a:ext cx="0" cy="502920"/>
          </a:xfrm>
          <a:prstGeom prst="line">
            <a:avLst/>
          </a:prstGeom>
          <a:noFill/>
          <a:ln w="15875">
            <a:solidFill>
              <a:srgbClr val="A9B8A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0" y="146304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463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 — React 19 + Vite + Vanilla CSS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080760" y="2240280"/>
            <a:ext cx="0" cy="411480"/>
          </a:xfrm>
          <a:prstGeom prst="line">
            <a:avLst/>
          </a:prstGeom>
          <a:noFill/>
          <a:ln w="25400">
            <a:solidFill>
              <a:srgbClr val="527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JSON / JWT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69748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52796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697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Core — FastAPI (Python)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754880" y="3474720"/>
            <a:ext cx="0" cy="502920"/>
          </a:xfrm>
          <a:prstGeom prst="line">
            <a:avLst/>
          </a:prstGeom>
          <a:noFill/>
          <a:ln w="25400">
            <a:solidFill>
              <a:srgbClr val="5279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3474720"/>
            <a:ext cx="1463040" cy="50292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397764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F7F7F2"/>
          </a:solidFill>
          <a:ln w="19050">
            <a:solidFill>
              <a:srgbClr val="5279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206240"/>
            <a:ext cx="548640" cy="548640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4160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PostGIS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709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Surveys · Monitoring Sites · RBAC · Spatial coordinates (relational + geospatial)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97764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F7F7F2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4206240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4160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Logs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4709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sensor telemetry, image/audio metadata, and AI detection logs (flexible documents)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715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separation of concerns: React frontend for role-tailored dashboards, FastAPI for business logic &amp; security, PostgreSQL/PostGIS for structured spatial data, MongoDB for unstructured high-volume logs.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Monitoring Workflow — 5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56816" cy="2834640"/>
          </a:xfrm>
          <a:prstGeom prst="roundRect">
            <a:avLst>
              <a:gd name="adj" fmla="val 3271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24028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Definition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611880"/>
            <a:ext cx="16824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sites: GPS coordinates, habitat params, sensing hardware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95728" y="331927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23744" y="2103120"/>
            <a:ext cx="1956816" cy="2834640"/>
          </a:xfrm>
          <a:prstGeom prst="roundRect">
            <a:avLst>
              <a:gd name="adj" fmla="val 3271"/>
            </a:avLst>
          </a:prstGeom>
          <a:solidFill>
            <a:srgbClr val="52796F"/>
          </a:solidFill>
          <a:ln/>
        </p:spPr>
      </p:sp>
      <p:sp>
        <p:nvSpPr>
          <p:cNvPr id="10" name="Text 8"/>
          <p:cNvSpPr/>
          <p:nvPr/>
        </p:nvSpPr>
        <p:spPr>
          <a:xfrm>
            <a:off x="2660904" y="224028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60904" y="283464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Ingestion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60904" y="3611880"/>
            <a:ext cx="16824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Camera/drone images, audio recordings, environmental telemetry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62272" y="331927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90288" y="2103120"/>
            <a:ext cx="1956816" cy="2834640"/>
          </a:xfrm>
          <a:prstGeom prst="roundRect">
            <a:avLst>
              <a:gd name="adj" fmla="val 3271"/>
            </a:avLst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224028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27448" y="283464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Detection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27448" y="3611880"/>
            <a:ext cx="16824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vision + bioacoustic classification, confidence scoring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331927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56832" y="2103120"/>
            <a:ext cx="1956816" cy="2834640"/>
          </a:xfrm>
          <a:prstGeom prst="roundRect">
            <a:avLst>
              <a:gd name="adj" fmla="val 3271"/>
            </a:avLst>
          </a:prstGeom>
          <a:solidFill>
            <a:srgbClr val="52796F"/>
          </a:solidFill>
          <a:ln/>
        </p:spPr>
      </p:sp>
      <p:sp>
        <p:nvSpPr>
          <p:cNvPr id="20" name="Text 18"/>
          <p:cNvSpPr/>
          <p:nvPr/>
        </p:nvSpPr>
        <p:spPr>
          <a:xfrm>
            <a:off x="6793992" y="224028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93992" y="283464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Engine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93992" y="3611880"/>
            <a:ext cx="16824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richness, population density, biodiversity index, threat alerts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0" y="331927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723376" y="2103120"/>
            <a:ext cx="1956816" cy="2834640"/>
          </a:xfrm>
          <a:prstGeom prst="roundRect">
            <a:avLst>
              <a:gd name="adj" fmla="val 3271"/>
            </a:avLst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8860536" y="224028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860536" y="283464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Response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60536" y="3611880"/>
            <a:ext cx="16824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Role-tailored dashboards dispatch officers &amp; wardens to zones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REQUIREMENTS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58191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RBAC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3400" y="1581912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4 roles: Administrator, Researcher, Conservation Officer, Forest Dept.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9921240" cy="0"/>
          </a:xfrm>
          <a:prstGeom prst="line">
            <a:avLst/>
          </a:prstGeom>
          <a:noFill/>
          <a:ln w="9525">
            <a:solidFill>
              <a:srgbClr val="CAD2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50592"/>
            <a:ext cx="82296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5059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47802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Management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43400" y="2478024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and track multi-zone monitoring surveys with GPS boundaries.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57200" y="3227832"/>
            <a:ext cx="9921240" cy="0"/>
          </a:xfrm>
          <a:prstGeom prst="line">
            <a:avLst/>
          </a:prstGeom>
          <a:noFill/>
          <a:ln w="9525">
            <a:solidFill>
              <a:srgbClr val="CAD2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46704"/>
            <a:ext cx="82296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4670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3741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Pipeline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43400" y="3374136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scripts to fetch iNaturalist Mini, GBIF, and Snapshot Serengeti datasets.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457200" y="4123944"/>
            <a:ext cx="9921240" cy="0"/>
          </a:xfrm>
          <a:prstGeom prst="line">
            <a:avLst/>
          </a:prstGeom>
          <a:noFill/>
          <a:ln w="9525">
            <a:solidFill>
              <a:srgbClr val="CA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42816"/>
            <a:ext cx="82296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4281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2702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Site Tracking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343400" y="4270248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track Camera Traps, Bioacoustic Nodes, and Drone paths.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57200" y="5020056"/>
            <a:ext cx="9921240" cy="0"/>
          </a:xfrm>
          <a:prstGeom prst="line">
            <a:avLst/>
          </a:prstGeom>
          <a:noFill/>
          <a:ln w="9525">
            <a:solidFill>
              <a:srgbClr val="CAD2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38928"/>
            <a:ext cx="82296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13892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51663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Framework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343400" y="516636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alerts for intrusion, poaching activity, node downtime, and fire risk.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457200" y="5916168"/>
            <a:ext cx="9921240" cy="0"/>
          </a:xfrm>
          <a:prstGeom prst="line">
            <a:avLst/>
          </a:prstGeom>
          <a:noFill/>
          <a:ln w="9525">
            <a:solidFill>
              <a:srgbClr val="CA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5 functional requirements completed in Milestone 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REQUIREMENTS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7F7F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562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endpoint enforcement, bcrypt hashing, 30-min JWT expiry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(&lt;1ms hashing)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31920" y="16002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7F7F2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18288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8562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160520" y="2468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 under 100ms for standard queries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4160520" y="34747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(Avg 12–45ms)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16002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7F7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635240" y="18288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18562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635240" y="2468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Dual-DB architecture separating spatial data from JSON logs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635240" y="34747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7F7F2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38912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4165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685800" y="5029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dark/light glassmorphic UI, WCAG-aligned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685800" y="6035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931920" y="416052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7F7F2"/>
          </a:solidFill>
          <a:ln/>
        </p:spPr>
      </p:sp>
      <p:sp>
        <p:nvSpPr>
          <p:cNvPr id="29" name="Shape 27"/>
          <p:cNvSpPr/>
          <p:nvPr/>
        </p:nvSpPr>
        <p:spPr>
          <a:xfrm>
            <a:off x="4160520" y="438912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0600" y="44165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4160520" y="5029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separation: React, FastAPI, DB abstraction layer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4160520" y="6035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USER STORIES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User Stories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52796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2880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Conservation Officer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310128"/>
            <a:ext cx="2871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immediate alerts on poaching/high-risk events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4224528"/>
            <a:ext cx="2871216" cy="0"/>
          </a:xfrm>
          <a:prstGeom prst="line">
            <a:avLst/>
          </a:prstGeom>
          <a:noFill/>
          <a:ln w="9525">
            <a:solidFill>
              <a:srgbClr val="CAD2C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315968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562856"/>
            <a:ext cx="2871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level, timestamp &amp; zone shown; view active field team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41648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1B43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82880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251460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Researcher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3063240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310128"/>
            <a:ext cx="2871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image/audio datasets &amp; run automated classification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4224528"/>
            <a:ext cx="2871216" cy="0"/>
          </a:xfrm>
          <a:prstGeom prst="line">
            <a:avLst/>
          </a:prstGeom>
          <a:noFill/>
          <a:ln w="9525">
            <a:solidFill>
              <a:srgbClr val="CAD2C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315968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4562856"/>
            <a:ext cx="2871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Serengeti, iNaturalist, GBIF; confidence-scored species lists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26096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52796F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2128" y="182880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78821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82128" y="251460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Warden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82128" y="3063240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82128" y="3310128"/>
            <a:ext cx="2871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patrol routes, fire risk, and wildlife corridors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82128" y="4224528"/>
            <a:ext cx="2871216" cy="0"/>
          </a:xfrm>
          <a:prstGeom prst="line">
            <a:avLst/>
          </a:prstGeom>
          <a:noFill/>
          <a:ln w="9525">
            <a:solidFill>
              <a:srgbClr val="CAD2C5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4315968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82128" y="4562856"/>
            <a:ext cx="2871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zone status table; fire-hazard risk indicators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DATA LAYER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PostGIS  (Relational &amp; Spatial)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7F7F2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476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4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username · email · hashed_password · role · is_active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98648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7F7F2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surveys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328269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4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created_by (FK) · start/end_date · habitat_type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22776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7F7F2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959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monitoring_sites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430682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4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survey_id (FK) · coordinates (Point) · device_type ·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 (Telemetry &amp; Media Logs)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5468112" cy="1051560"/>
          </a:xfrm>
          <a:prstGeom prst="roundRect">
            <a:avLst>
              <a:gd name="adj" fmla="val 4348"/>
            </a:avLst>
          </a:prstGeom>
          <a:solidFill>
            <a:srgbClr val="F7F7F2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9476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225856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4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site_id · timestamp · media_type · ai_results { species_detected[], animal_count 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081528"/>
            <a:ext cx="5468112" cy="1051560"/>
          </a:xfrm>
          <a:prstGeom prst="roundRect">
            <a:avLst>
              <a:gd name="adj" fmla="val 4348"/>
            </a:avLst>
          </a:prstGeom>
          <a:solidFill>
            <a:srgbClr val="F7F7F2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154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sensor_logs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46520" y="346557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4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site_id · temperature_celsius · humidity_percent · timestamp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425696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5445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holds structured, relational, and spatial records — MongoDB absorbs high-volume, schema-flexible sensor &amp; media logs referencing site_id.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VERIFICATION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Verification &amp; API Benchmarks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94760" y="155448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modular workspace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92440" y="16002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2796F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60020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SDLC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02082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/ NFR / user stories / Agile roadmap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206654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2796F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206654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24871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+ MongoDB schemas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253288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2796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253288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95351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JWT Auth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29535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JWT + passlib/bcrypt hashing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29992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2796F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99923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4198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Ingestion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341985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iNaturalist / GBIF / Serengeti scripts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346557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2796F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346557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System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94760" y="38862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dark/light glassmorphic CSS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92440" y="39319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2796F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393192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1508760"/>
            <a:ext cx="9418320" cy="0"/>
          </a:xfrm>
          <a:prstGeom prst="line">
            <a:avLst/>
          </a:prstGeom>
          <a:noFill/>
          <a:ln w="12700">
            <a:solidFill>
              <a:srgbClr val="CA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Response Benchmarks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81160" y="2103120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7F7F2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215798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14ms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378440" y="2157984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/auth/token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281160" y="2926080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7F7F2"/>
          </a:solidFill>
          <a:ln/>
        </p:spPr>
      </p:sp>
      <p:sp>
        <p:nvSpPr>
          <p:cNvPr id="34" name="Text 32"/>
          <p:cNvSpPr/>
          <p:nvPr/>
        </p:nvSpPr>
        <p:spPr>
          <a:xfrm>
            <a:off x="9418320" y="298094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378440" y="2980944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281160" y="3749040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7F7F2"/>
          </a:solidFill>
          <a:ln/>
        </p:spPr>
      </p:sp>
      <p:sp>
        <p:nvSpPr>
          <p:cNvPr id="37" name="Text 35"/>
          <p:cNvSpPr/>
          <p:nvPr/>
        </p:nvSpPr>
        <p:spPr>
          <a:xfrm>
            <a:off x="9418320" y="380390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22ms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378440" y="3803904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/api/surveys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281160" y="4572000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7F7F2"/>
          </a:solidFill>
          <a:ln/>
        </p:spPr>
      </p:sp>
      <p:sp>
        <p:nvSpPr>
          <p:cNvPr id="40" name="Text 38"/>
          <p:cNvSpPr/>
          <p:nvPr/>
        </p:nvSpPr>
        <p:spPr>
          <a:xfrm>
            <a:off x="9418320" y="462686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18ms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378440" y="4626864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/api/sites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172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targets met · Avg query time 12–45ms, well under the 100ms NFR threshold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Intelligence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extends the Milestone 1 foundation with a dedicated machine-learning and analytics layer sitting behind the existing REST API — moving from architecture into active species detection, acoustic classification, and ecological scoring.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487168" cy="3200400"/>
          </a:xfrm>
          <a:prstGeom prst="roundRect">
            <a:avLst>
              <a:gd name="adj" fmla="val 2574"/>
            </a:avLst>
          </a:prstGeom>
          <a:solidFill>
            <a:srgbClr val="20463C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6974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Engine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1214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image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backend/ml_image.py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2468880"/>
            <a:ext cx="2487168" cy="3200400"/>
          </a:xfrm>
          <a:prstGeom prst="roundRect">
            <a:avLst>
              <a:gd name="adj" fmla="val 2574"/>
            </a:avLst>
          </a:prstGeom>
          <a:solidFill>
            <a:srgbClr val="20463C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26974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3346704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0128" y="331012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Bioacoustics Engine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310128" y="3886200"/>
            <a:ext cx="21214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audio feature extraction &amp; classifier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51663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backend/ml_audio.py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97296" y="2468880"/>
            <a:ext cx="2487168" cy="3200400"/>
          </a:xfrm>
          <a:prstGeom prst="roundRect">
            <a:avLst>
              <a:gd name="adj" fmla="val 2574"/>
            </a:avLst>
          </a:prstGeom>
          <a:solidFill>
            <a:srgbClr val="20463C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26974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6016752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0176" y="331012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Engine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80176" y="3886200"/>
            <a:ext cx="21214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Shannon–Wiener / Simpson diversity &amp; ecosystem scoring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0176" y="51663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backend/biodiversity.py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67344" y="2468880"/>
            <a:ext cx="2487168" cy="3200400"/>
          </a:xfrm>
          <a:prstGeom prst="roundRect">
            <a:avLst>
              <a:gd name="adj" fmla="val 2574"/>
            </a:avLst>
          </a:prstGeom>
          <a:solidFill>
            <a:srgbClr val="20463C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26974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50224" y="331012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Engine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650224" y="3886200"/>
            <a:ext cx="21214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generation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50224" y="51663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biodiversity.py &amp; main.py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PostgreSQL ORM tables — image_detections · audio_detections · biodiversity_metrics · wildlife_reports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CORE MODULES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Species Recognition Engines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7F7F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Analysis Engine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backend/ml_image.py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526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pipeline normalizes camera-trap &amp; drone imagery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detection with spatial coordinates [x,y,x,y]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animal counting per capture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sharpness scoring &amp; behavior tagging (Grazing, Alert, Resting)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POST /api/v1/species/analyze-image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15087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7F7F2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783080"/>
            <a:ext cx="594360" cy="594360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810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Bioacoustic Recognition Engine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85800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backend/ml_audio.py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4526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extracts spectral centroids, duration &amp; frequency spectrums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mammal roars, bird songs, amphibian calls, elephant infrasound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filtering &amp; acoustic event frequency-band analysis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POST /api/v1/bioacoustics/analyze-audio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ANALYTICS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Biodiversity Intelligence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backend/biodiversity.py  ·  GET /api/v1/biodiversity/analytics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29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Shannon–Wiener Diversity Index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H' = −Σ pᵢ ln(pᵢ)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overall habitat diversity from species proportional abundance.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42432" y="187452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52796F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2029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Simpson's Index of Diversity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016752" y="2395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16752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community stability and dominance concentration.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Multi-Criteria Ecosystem Health Score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7F7F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24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Diversity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063240" y="411480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7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4224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063240" y="4800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Quality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0" y="411480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7F7F2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4224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69280" y="4800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Richness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75320" y="411480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7F7F2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4224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275320" y="4800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Health Score gives Forest Departments a single, weighted, actionable metric for habitat condition across monitored zones.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DELIVERY &amp; TESTING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Reporting, Frontend &amp;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7F7F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Audit Report Generator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pipeline generates executive PDF documents with styled tables, benchmarks &amp; conservation recommendations. Secure static streaming via FastAPI.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7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/api/v1/reports/generate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7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/api/v1/reports/download/{file}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42432" y="1508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7F7F2"/>
          </a:solidFill>
          <a:ln/>
        </p:spPr>
      </p:sp>
      <p:sp>
        <p:nvSpPr>
          <p:cNvPr id="9" name="Text 7"/>
          <p:cNvSpPr/>
          <p:nvPr/>
        </p:nvSpPr>
        <p:spPr>
          <a:xfrm>
            <a:off x="6016752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Frontend Workflows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16752" y="20116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Analysis: drag-and-drop image upload + live detection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Lab: frequency spectrum &amp; match confidence display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Dashboard: live Shannon/Simpson cards &amp; health bars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Archive: one-click PDF generation &amp; download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Testing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384048" cy="384048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14223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4142232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Uvicorn on 127.0.0.1:8000 — /health returns {status: ok, milestone: 2}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57200" y="4727448"/>
            <a:ext cx="384048" cy="384048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27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 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4709160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on localhost:5173 — production build verified successfully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57200" y="5294376"/>
            <a:ext cx="384048" cy="384048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294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527608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5276088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5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ORM tables created: image_detections, audio_detections, biodiversity_metrics, wildlife_reports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Population Intelligence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1 &amp; 2 — Complete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Milestones 1 and 2 establish a fully integrated foundation — architecture, security, and data design paired with a working AI intelligence layer for species recognition, bioacoustics, and biodiversity scoring.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20463C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8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Agile SDLC, architecture, JWT/RBAC, PostgreSQL+PostGIS &amp; MongoDB schema, dataset ingestion pipeline, UI scaffolding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25196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20463C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507992" y="31089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8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vision engine, Librosa bioacoustics, Shannon/Simpson biodiversity analytics, ReportLab PDF reporting, full frontend/backend integration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2A3A2E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Next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302752" y="31089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8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fine-tuning, high-throughput video stream processing, edge device deployment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Jayasri P</a:t>
            </a:r>
            <a:r>
              <a:rPr lang="en-US" sz="1300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Infosys Springboard Virtual Internship 2026  ·  Batch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1656</Words>
  <Application>Microsoft Office PowerPoint</Application>
  <PresentationFormat>Widescreen</PresentationFormat>
  <Paragraphs>326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sri</cp:lastModifiedBy>
  <cp:revision>2</cp:revision>
  <dcterms:created xsi:type="dcterms:W3CDTF">2026-08-14T13:05:40Z</dcterms:created>
  <dcterms:modified xsi:type="dcterms:W3CDTF">2026-08-16T06:42:39Z</dcterms:modified>
</cp:coreProperties>
</file>