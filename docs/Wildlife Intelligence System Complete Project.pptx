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235"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7999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572000" cy="4572000"/>
          </a:xfrm>
          <a:prstGeom prst="ellipse">
            <a:avLst/>
          </a:prstGeom>
          <a:ln w="9525">
            <a:solidFill>
              <a:srgbClr val="52796F">
                <a:alpha val="45000"/>
              </a:srgbClr>
            </a:solidFill>
            <a:prstDash val="solid"/>
          </a:ln>
        </p:spPr>
      </p:sp>
      <p:sp>
        <p:nvSpPr>
          <p:cNvPr id="3" name="Shape 1"/>
          <p:cNvSpPr/>
          <p:nvPr/>
        </p:nvSpPr>
        <p:spPr>
          <a:xfrm>
            <a:off x="8458200" y="-1783080"/>
            <a:ext cx="5212080" cy="5212080"/>
          </a:xfrm>
          <a:prstGeom prst="ellipse">
            <a:avLst/>
          </a:prstGeom>
          <a:ln w="9525">
            <a:solidFill>
              <a:srgbClr val="52796F">
                <a:alpha val="45000"/>
              </a:srgbClr>
            </a:solidFill>
            <a:prstDash val="solid"/>
          </a:ln>
        </p:spPr>
      </p:sp>
      <p:sp>
        <p:nvSpPr>
          <p:cNvPr id="4" name="Shape 2"/>
          <p:cNvSpPr/>
          <p:nvPr/>
        </p:nvSpPr>
        <p:spPr>
          <a:xfrm>
            <a:off x="8138160" y="-2103120"/>
            <a:ext cx="5852160" cy="5852160"/>
          </a:xfrm>
          <a:prstGeom prst="ellipse">
            <a:avLst/>
          </a:prstGeom>
          <a:ln w="9525">
            <a:solidFill>
              <a:srgbClr val="52796F">
                <a:alpha val="45000"/>
              </a:srgbClr>
            </a:solidFill>
            <a:prstDash val="solid"/>
          </a:ln>
        </p:spPr>
      </p:sp>
      <p:sp>
        <p:nvSpPr>
          <p:cNvPr id="5" name="Shape 3"/>
          <p:cNvSpPr/>
          <p:nvPr/>
        </p:nvSpPr>
        <p:spPr>
          <a:xfrm>
            <a:off x="7818120" y="-2423160"/>
            <a:ext cx="6492240" cy="6492240"/>
          </a:xfrm>
          <a:prstGeom prst="ellipse">
            <a:avLst/>
          </a:prstGeom>
          <a:ln w="9525">
            <a:solidFill>
              <a:srgbClr val="52796F">
                <a:alpha val="45000"/>
              </a:srgbClr>
            </a:solidFill>
            <a:prstDash val="solid"/>
          </a:ln>
        </p:spPr>
      </p:sp>
      <p:sp>
        <p:nvSpPr>
          <p:cNvPr id="6" name="Text 4"/>
          <p:cNvSpPr/>
          <p:nvPr/>
        </p:nvSpPr>
        <p:spPr>
          <a:xfrm>
            <a:off x="640080" y="2171700"/>
            <a:ext cx="11303104" cy="365760"/>
          </a:xfrm>
          <a:prstGeom prst="rect">
            <a:avLst/>
          </a:prstGeom>
          <a:noFill/>
          <a:ln/>
        </p:spPr>
        <p:txBody>
          <a:bodyPr wrap="square" rtlCol="0" anchor="ctr"/>
          <a:lstStyle/>
          <a:p>
            <a:pPr marL="0" indent="0">
              <a:buNone/>
            </a:pPr>
            <a:r>
              <a:rPr lang="en-US" sz="2800" b="1" kern="0" spc="200" dirty="0">
                <a:solidFill>
                  <a:srgbClr val="D9A441"/>
                </a:solidFill>
                <a:latin typeface="Calibri" pitchFamily="34" charset="0"/>
                <a:ea typeface="Calibri" pitchFamily="34" charset="-122"/>
                <a:cs typeface="Calibri" pitchFamily="34" charset="-120"/>
              </a:rPr>
              <a:t>AI-POWERED WILDLIFE POPULATION INTELLIGENCE SYSTEM</a:t>
            </a:r>
            <a:endParaRPr lang="en-US" sz="2800" dirty="0"/>
          </a:p>
        </p:txBody>
      </p:sp>
      <p:sp>
        <p:nvSpPr>
          <p:cNvPr id="7" name="Text 5"/>
          <p:cNvSpPr/>
          <p:nvPr/>
        </p:nvSpPr>
        <p:spPr>
          <a:xfrm>
            <a:off x="548640" y="2446020"/>
            <a:ext cx="10515600" cy="118872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Complete Project Overview</a:t>
            </a:r>
            <a:endParaRPr lang="en-US" sz="2800" dirty="0"/>
          </a:p>
        </p:txBody>
      </p:sp>
      <p:sp>
        <p:nvSpPr>
          <p:cNvPr id="8" name="Text 6"/>
          <p:cNvSpPr/>
          <p:nvPr/>
        </p:nvSpPr>
        <p:spPr>
          <a:xfrm>
            <a:off x="640080" y="3520440"/>
            <a:ext cx="9144000" cy="457200"/>
          </a:xfrm>
          <a:prstGeom prst="rect">
            <a:avLst/>
          </a:prstGeom>
          <a:noFill/>
          <a:ln/>
        </p:spPr>
        <p:txBody>
          <a:bodyPr wrap="square" rtlCol="0" anchor="ctr"/>
          <a:lstStyle/>
          <a:p>
            <a:pPr marL="0" indent="0">
              <a:buNone/>
            </a:pPr>
            <a:r>
              <a:rPr lang="en-US" sz="2100" dirty="0">
                <a:solidFill>
                  <a:srgbClr val="CAD2C5"/>
                </a:solidFill>
                <a:latin typeface="Calibri" pitchFamily="34" charset="0"/>
                <a:ea typeface="Calibri" pitchFamily="34" charset="-122"/>
                <a:cs typeface="Calibri" pitchFamily="34" charset="-120"/>
              </a:rPr>
              <a:t>Milestones 1–4 — Final Consolidated Report</a:t>
            </a:r>
            <a:endParaRPr lang="en-US" sz="2100" dirty="0"/>
          </a:p>
        </p:txBody>
      </p:sp>
      <p:sp>
        <p:nvSpPr>
          <p:cNvPr id="9" name="Shape 7"/>
          <p:cNvSpPr/>
          <p:nvPr/>
        </p:nvSpPr>
        <p:spPr>
          <a:xfrm>
            <a:off x="640080" y="4160520"/>
            <a:ext cx="2011680" cy="0"/>
          </a:xfrm>
          <a:prstGeom prst="line">
            <a:avLst/>
          </a:prstGeom>
          <a:noFill/>
          <a:ln w="25400">
            <a:solidFill>
              <a:srgbClr val="D9A441"/>
            </a:solidFill>
            <a:prstDash val="solid"/>
          </a:ln>
        </p:spPr>
      </p:sp>
      <p:sp>
        <p:nvSpPr>
          <p:cNvPr id="10" name="Text 8"/>
          <p:cNvSpPr/>
          <p:nvPr/>
        </p:nvSpPr>
        <p:spPr>
          <a:xfrm>
            <a:off x="640080" y="4343400"/>
            <a:ext cx="7315200" cy="320040"/>
          </a:xfrm>
          <a:prstGeom prst="rect">
            <a:avLst/>
          </a:prstGeom>
          <a:noFill/>
          <a:ln/>
        </p:spPr>
        <p:txBody>
          <a:bodyPr wrap="square" rtlCol="0" anchor="ctr"/>
          <a:lstStyle/>
          <a:p>
            <a:pPr marL="0" indent="0">
              <a:buNone/>
            </a:pPr>
            <a:r>
              <a:rPr lang="en-US" sz="1550" dirty="0">
                <a:solidFill>
                  <a:srgbClr val="CAD2C5"/>
                </a:solidFill>
                <a:latin typeface="Calibri" pitchFamily="34" charset="0"/>
                <a:ea typeface="Calibri" pitchFamily="34" charset="-122"/>
                <a:cs typeface="Calibri" pitchFamily="34" charset="-120"/>
              </a:rPr>
              <a:t>Infosys Springboard Virtual Internship Program  ·  Batch 2</a:t>
            </a:r>
            <a:endParaRPr lang="en-US" sz="1550" dirty="0"/>
          </a:p>
        </p:txBody>
      </p:sp>
      <p:sp>
        <p:nvSpPr>
          <p:cNvPr id="11" name="Text 9"/>
          <p:cNvSpPr/>
          <p:nvPr/>
        </p:nvSpPr>
        <p:spPr>
          <a:xfrm>
            <a:off x="640080" y="4663440"/>
            <a:ext cx="7315200" cy="320040"/>
          </a:xfrm>
          <a:prstGeom prst="rect">
            <a:avLst/>
          </a:prstGeom>
          <a:noFill/>
          <a:ln/>
        </p:spPr>
        <p:txBody>
          <a:bodyPr wrap="square" rtlCol="0" anchor="ctr"/>
          <a:lstStyle/>
          <a:p>
            <a:pPr marL="0" indent="0">
              <a:buNone/>
            </a:pPr>
            <a:r>
              <a:rPr lang="en-US" sz="1550" dirty="0">
                <a:solidFill>
                  <a:srgbClr val="CAD2C5"/>
                </a:solidFill>
                <a:latin typeface="Calibri" pitchFamily="34" charset="0"/>
                <a:ea typeface="Calibri" pitchFamily="34" charset="-122"/>
                <a:cs typeface="Calibri" pitchFamily="34" charset="-120"/>
              </a:rPr>
              <a:t>Intern: Jayasri P</a:t>
            </a:r>
            <a:endParaRPr lang="en-US" sz="1550" dirty="0"/>
          </a:p>
        </p:txBody>
      </p:sp>
      <p:sp>
        <p:nvSpPr>
          <p:cNvPr id="12" name="Text 10"/>
          <p:cNvSpPr/>
          <p:nvPr/>
        </p:nvSpPr>
        <p:spPr>
          <a:xfrm>
            <a:off x="640080" y="6263640"/>
            <a:ext cx="8229600" cy="274320"/>
          </a:xfrm>
          <a:prstGeom prst="rect">
            <a:avLst/>
          </a:prstGeom>
          <a:noFill/>
          <a:ln/>
        </p:spPr>
        <p:txBody>
          <a:bodyPr wrap="square" rtlCol="0" anchor="ctr"/>
          <a:lstStyle/>
          <a:p>
            <a:pPr marL="0" indent="0">
              <a:buNone/>
            </a:pPr>
            <a:r>
              <a:rPr lang="en-US" sz="1250" dirty="0">
                <a:solidFill>
                  <a:srgbClr val="84A98C"/>
                </a:solidFill>
                <a:latin typeface="Calibri" pitchFamily="34" charset="0"/>
                <a:ea typeface="Calibri" pitchFamily="34" charset="-122"/>
                <a:cs typeface="Calibri" pitchFamily="34" charset="-120"/>
              </a:rPr>
              <a:t>github.com/Jayasrip08/wildlife-population-intelligence-system</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OVERVIEW</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What This Deck Covers</a:t>
            </a:r>
            <a:endParaRPr lang="en-US" sz="3000" dirty="0"/>
          </a:p>
        </p:txBody>
      </p:sp>
      <p:sp>
        <p:nvSpPr>
          <p:cNvPr id="4" name="Shape 2"/>
          <p:cNvSpPr/>
          <p:nvPr/>
        </p:nvSpPr>
        <p:spPr>
          <a:xfrm>
            <a:off x="548640" y="1691640"/>
            <a:ext cx="5074920" cy="1417320"/>
          </a:xfrm>
          <a:prstGeom prst="roundRect">
            <a:avLst>
              <a:gd name="adj" fmla="val 5161"/>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5" name="Text 3"/>
          <p:cNvSpPr/>
          <p:nvPr/>
        </p:nvSpPr>
        <p:spPr>
          <a:xfrm>
            <a:off x="777240" y="1856232"/>
            <a:ext cx="914400" cy="548640"/>
          </a:xfrm>
          <a:prstGeom prst="rect">
            <a:avLst/>
          </a:prstGeom>
          <a:noFill/>
          <a:ln/>
        </p:spPr>
        <p:txBody>
          <a:bodyPr wrap="square" rtlCol="0" anchor="ctr"/>
          <a:lstStyle/>
          <a:p>
            <a:pPr marL="0" indent="0">
              <a:buNone/>
            </a:pPr>
            <a:r>
              <a:rPr lang="en-US" sz="2850" b="1" dirty="0">
                <a:solidFill>
                  <a:srgbClr val="B5802E"/>
                </a:solidFill>
                <a:latin typeface="Cambria" pitchFamily="34" charset="0"/>
                <a:ea typeface="Cambria" pitchFamily="34" charset="-122"/>
                <a:cs typeface="Cambria" pitchFamily="34" charset="-120"/>
              </a:rPr>
              <a:t>01</a:t>
            </a:r>
            <a:endParaRPr lang="en-US" sz="2850" dirty="0"/>
          </a:p>
        </p:txBody>
      </p:sp>
      <p:sp>
        <p:nvSpPr>
          <p:cNvPr id="6" name="Text 4"/>
          <p:cNvSpPr/>
          <p:nvPr/>
        </p:nvSpPr>
        <p:spPr>
          <a:xfrm>
            <a:off x="1554480" y="1874520"/>
            <a:ext cx="3886200" cy="365760"/>
          </a:xfrm>
          <a:prstGeom prst="rect">
            <a:avLst/>
          </a:prstGeom>
          <a:noFill/>
          <a:ln/>
        </p:spPr>
        <p:txBody>
          <a:bodyPr wrap="square" rtlCol="0" anchor="ctr"/>
          <a:lstStyle/>
          <a:p>
            <a:pPr marL="0" indent="0">
              <a:buNone/>
            </a:pPr>
            <a:r>
              <a:rPr lang="en-US" sz="1700" b="1" dirty="0">
                <a:solidFill>
                  <a:srgbClr val="1B2B22"/>
                </a:solidFill>
                <a:latin typeface="Calibri" pitchFamily="34" charset="0"/>
                <a:ea typeface="Calibri" pitchFamily="34" charset="-122"/>
                <a:cs typeface="Calibri" pitchFamily="34" charset="-120"/>
              </a:rPr>
              <a:t>Project Vision &amp; Objective</a:t>
            </a:r>
            <a:endParaRPr lang="en-US" sz="1700" dirty="0"/>
          </a:p>
        </p:txBody>
      </p:sp>
      <p:sp>
        <p:nvSpPr>
          <p:cNvPr id="7" name="Text 5"/>
          <p:cNvSpPr/>
          <p:nvPr/>
        </p:nvSpPr>
        <p:spPr>
          <a:xfrm>
            <a:off x="1554480" y="2258568"/>
            <a:ext cx="3840480" cy="731520"/>
          </a:xfrm>
          <a:prstGeom prst="rect">
            <a:avLst/>
          </a:prstGeom>
          <a:noFill/>
          <a:ln/>
        </p:spPr>
        <p:txBody>
          <a:bodyPr wrap="square" rtlCol="0" anchor="ctr"/>
          <a:lstStyle/>
          <a:p>
            <a:pPr marL="0" indent="0">
              <a:buNone/>
            </a:pPr>
            <a:r>
              <a:rPr lang="en-US" sz="1300" dirty="0">
                <a:solidFill>
                  <a:srgbClr val="556259"/>
                </a:solidFill>
                <a:latin typeface="Calibri" pitchFamily="34" charset="0"/>
                <a:ea typeface="Calibri" pitchFamily="34" charset="-122"/>
                <a:cs typeface="Calibri" pitchFamily="34" charset="-120"/>
              </a:rPr>
              <a:t>Goals, target users, and the problem the platform solves</a:t>
            </a:r>
            <a:endParaRPr lang="en-US" sz="1300" dirty="0"/>
          </a:p>
        </p:txBody>
      </p:sp>
      <p:sp>
        <p:nvSpPr>
          <p:cNvPr id="8" name="Shape 6"/>
          <p:cNvSpPr/>
          <p:nvPr/>
        </p:nvSpPr>
        <p:spPr>
          <a:xfrm>
            <a:off x="5943600" y="1691640"/>
            <a:ext cx="5074920" cy="1417320"/>
          </a:xfrm>
          <a:prstGeom prst="roundRect">
            <a:avLst>
              <a:gd name="adj" fmla="val 5161"/>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9" name="Text 7"/>
          <p:cNvSpPr/>
          <p:nvPr/>
        </p:nvSpPr>
        <p:spPr>
          <a:xfrm>
            <a:off x="6172200" y="1856232"/>
            <a:ext cx="914400" cy="548640"/>
          </a:xfrm>
          <a:prstGeom prst="rect">
            <a:avLst/>
          </a:prstGeom>
          <a:noFill/>
          <a:ln/>
        </p:spPr>
        <p:txBody>
          <a:bodyPr wrap="square" rtlCol="0" anchor="ctr"/>
          <a:lstStyle/>
          <a:p>
            <a:pPr marL="0" indent="0">
              <a:buNone/>
            </a:pPr>
            <a:r>
              <a:rPr lang="en-US" sz="2850" b="1" dirty="0">
                <a:solidFill>
                  <a:srgbClr val="B5802E"/>
                </a:solidFill>
                <a:latin typeface="Cambria" pitchFamily="34" charset="0"/>
                <a:ea typeface="Cambria" pitchFamily="34" charset="-122"/>
                <a:cs typeface="Cambria" pitchFamily="34" charset="-120"/>
              </a:rPr>
              <a:t>02</a:t>
            </a:r>
            <a:endParaRPr lang="en-US" sz="2850" dirty="0"/>
          </a:p>
        </p:txBody>
      </p:sp>
      <p:sp>
        <p:nvSpPr>
          <p:cNvPr id="10" name="Text 8"/>
          <p:cNvSpPr/>
          <p:nvPr/>
        </p:nvSpPr>
        <p:spPr>
          <a:xfrm>
            <a:off x="6949440" y="1874520"/>
            <a:ext cx="3886200" cy="365760"/>
          </a:xfrm>
          <a:prstGeom prst="rect">
            <a:avLst/>
          </a:prstGeom>
          <a:noFill/>
          <a:ln/>
        </p:spPr>
        <p:txBody>
          <a:bodyPr wrap="square" rtlCol="0" anchor="ctr"/>
          <a:lstStyle/>
          <a:p>
            <a:pPr marL="0" indent="0">
              <a:buNone/>
            </a:pPr>
            <a:r>
              <a:rPr lang="en-US" sz="1700" b="1" dirty="0">
                <a:solidFill>
                  <a:srgbClr val="1B2B22"/>
                </a:solidFill>
                <a:latin typeface="Calibri" pitchFamily="34" charset="0"/>
                <a:ea typeface="Calibri" pitchFamily="34" charset="-122"/>
                <a:cs typeface="Calibri" pitchFamily="34" charset="-120"/>
              </a:rPr>
              <a:t>SDLC &amp; Complete Roadmap</a:t>
            </a:r>
            <a:endParaRPr lang="en-US" sz="1700" dirty="0"/>
          </a:p>
        </p:txBody>
      </p:sp>
      <p:sp>
        <p:nvSpPr>
          <p:cNvPr id="11" name="Text 9"/>
          <p:cNvSpPr/>
          <p:nvPr/>
        </p:nvSpPr>
        <p:spPr>
          <a:xfrm>
            <a:off x="6949440" y="2258568"/>
            <a:ext cx="3840480" cy="731520"/>
          </a:xfrm>
          <a:prstGeom prst="rect">
            <a:avLst/>
          </a:prstGeom>
          <a:noFill/>
          <a:ln/>
        </p:spPr>
        <p:txBody>
          <a:bodyPr wrap="square" rtlCol="0" anchor="ctr"/>
          <a:lstStyle/>
          <a:p>
            <a:pPr marL="0" indent="0">
              <a:buNone/>
            </a:pPr>
            <a:r>
              <a:rPr lang="en-US" sz="1300" dirty="0">
                <a:solidFill>
                  <a:srgbClr val="556259"/>
                </a:solidFill>
                <a:latin typeface="Calibri" pitchFamily="34" charset="0"/>
                <a:ea typeface="Calibri" pitchFamily="34" charset="-122"/>
                <a:cs typeface="Calibri" pitchFamily="34" charset="-120"/>
              </a:rPr>
              <a:t>Iterative &amp; Agile model across all four milestones</a:t>
            </a:r>
            <a:endParaRPr lang="en-US" sz="1300" dirty="0"/>
          </a:p>
        </p:txBody>
      </p:sp>
      <p:sp>
        <p:nvSpPr>
          <p:cNvPr id="12" name="Shape 10"/>
          <p:cNvSpPr/>
          <p:nvPr/>
        </p:nvSpPr>
        <p:spPr>
          <a:xfrm>
            <a:off x="548640" y="3364992"/>
            <a:ext cx="5074920" cy="1417320"/>
          </a:xfrm>
          <a:prstGeom prst="roundRect">
            <a:avLst>
              <a:gd name="adj" fmla="val 5161"/>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3" name="Text 11"/>
          <p:cNvSpPr/>
          <p:nvPr/>
        </p:nvSpPr>
        <p:spPr>
          <a:xfrm>
            <a:off x="777240" y="3529584"/>
            <a:ext cx="914400" cy="548640"/>
          </a:xfrm>
          <a:prstGeom prst="rect">
            <a:avLst/>
          </a:prstGeom>
          <a:noFill/>
          <a:ln/>
        </p:spPr>
        <p:txBody>
          <a:bodyPr wrap="square" rtlCol="0" anchor="ctr"/>
          <a:lstStyle/>
          <a:p>
            <a:pPr marL="0" indent="0">
              <a:buNone/>
            </a:pPr>
            <a:r>
              <a:rPr lang="en-US" sz="2850" b="1" dirty="0">
                <a:solidFill>
                  <a:srgbClr val="B5802E"/>
                </a:solidFill>
                <a:latin typeface="Cambria" pitchFamily="34" charset="0"/>
                <a:ea typeface="Cambria" pitchFamily="34" charset="-122"/>
                <a:cs typeface="Cambria" pitchFamily="34" charset="-120"/>
              </a:rPr>
              <a:t>03</a:t>
            </a:r>
            <a:endParaRPr lang="en-US" sz="2850" dirty="0"/>
          </a:p>
        </p:txBody>
      </p:sp>
      <p:sp>
        <p:nvSpPr>
          <p:cNvPr id="14" name="Text 12"/>
          <p:cNvSpPr/>
          <p:nvPr/>
        </p:nvSpPr>
        <p:spPr>
          <a:xfrm>
            <a:off x="1554480" y="3547872"/>
            <a:ext cx="3886200" cy="365760"/>
          </a:xfrm>
          <a:prstGeom prst="rect">
            <a:avLst/>
          </a:prstGeom>
          <a:noFill/>
          <a:ln/>
        </p:spPr>
        <p:txBody>
          <a:bodyPr wrap="square" rtlCol="0" anchor="ctr"/>
          <a:lstStyle/>
          <a:p>
            <a:pPr marL="0" indent="0">
              <a:buNone/>
            </a:pPr>
            <a:r>
              <a:rPr lang="en-US" sz="1700" b="1" dirty="0">
                <a:solidFill>
                  <a:srgbClr val="1B2B22"/>
                </a:solidFill>
                <a:latin typeface="Calibri" pitchFamily="34" charset="0"/>
                <a:ea typeface="Calibri" pitchFamily="34" charset="-122"/>
                <a:cs typeface="Calibri" pitchFamily="34" charset="-120"/>
              </a:rPr>
              <a:t>System Architecture</a:t>
            </a:r>
            <a:endParaRPr lang="en-US" sz="1700" dirty="0"/>
          </a:p>
        </p:txBody>
      </p:sp>
      <p:sp>
        <p:nvSpPr>
          <p:cNvPr id="15" name="Text 13"/>
          <p:cNvSpPr/>
          <p:nvPr/>
        </p:nvSpPr>
        <p:spPr>
          <a:xfrm>
            <a:off x="1554480" y="3931920"/>
            <a:ext cx="3840480" cy="731520"/>
          </a:xfrm>
          <a:prstGeom prst="rect">
            <a:avLst/>
          </a:prstGeom>
          <a:noFill/>
          <a:ln/>
        </p:spPr>
        <p:txBody>
          <a:bodyPr wrap="square" rtlCol="0" anchor="ctr"/>
          <a:lstStyle/>
          <a:p>
            <a:pPr marL="0" indent="0">
              <a:buNone/>
            </a:pPr>
            <a:r>
              <a:rPr lang="en-US" sz="1300" dirty="0">
                <a:solidFill>
                  <a:srgbClr val="556259"/>
                </a:solidFill>
                <a:latin typeface="Calibri" pitchFamily="34" charset="0"/>
                <a:ea typeface="Calibri" pitchFamily="34" charset="-122"/>
                <a:cs typeface="Calibri" pitchFamily="34" charset="-120"/>
              </a:rPr>
              <a:t>Frontend, backend, AI/ML, GIS, and data layers</a:t>
            </a:r>
            <a:endParaRPr lang="en-US" sz="1300" dirty="0"/>
          </a:p>
        </p:txBody>
      </p:sp>
      <p:sp>
        <p:nvSpPr>
          <p:cNvPr id="16" name="Shape 14"/>
          <p:cNvSpPr/>
          <p:nvPr/>
        </p:nvSpPr>
        <p:spPr>
          <a:xfrm>
            <a:off x="5943600" y="3364992"/>
            <a:ext cx="5074920" cy="1417320"/>
          </a:xfrm>
          <a:prstGeom prst="roundRect">
            <a:avLst>
              <a:gd name="adj" fmla="val 5161"/>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7" name="Text 15"/>
          <p:cNvSpPr/>
          <p:nvPr/>
        </p:nvSpPr>
        <p:spPr>
          <a:xfrm>
            <a:off x="6172200" y="3529584"/>
            <a:ext cx="914400" cy="548640"/>
          </a:xfrm>
          <a:prstGeom prst="rect">
            <a:avLst/>
          </a:prstGeom>
          <a:noFill/>
          <a:ln/>
        </p:spPr>
        <p:txBody>
          <a:bodyPr wrap="square" rtlCol="0" anchor="ctr"/>
          <a:lstStyle/>
          <a:p>
            <a:pPr marL="0" indent="0">
              <a:buNone/>
            </a:pPr>
            <a:r>
              <a:rPr lang="en-US" sz="2850" b="1" dirty="0">
                <a:solidFill>
                  <a:srgbClr val="B5802E"/>
                </a:solidFill>
                <a:latin typeface="Cambria" pitchFamily="34" charset="0"/>
                <a:ea typeface="Cambria" pitchFamily="34" charset="-122"/>
                <a:cs typeface="Cambria" pitchFamily="34" charset="-120"/>
              </a:rPr>
              <a:t>04</a:t>
            </a:r>
            <a:endParaRPr lang="en-US" sz="2850" dirty="0"/>
          </a:p>
        </p:txBody>
      </p:sp>
      <p:sp>
        <p:nvSpPr>
          <p:cNvPr id="18" name="Text 16"/>
          <p:cNvSpPr/>
          <p:nvPr/>
        </p:nvSpPr>
        <p:spPr>
          <a:xfrm>
            <a:off x="6949440" y="3547872"/>
            <a:ext cx="3886200" cy="365760"/>
          </a:xfrm>
          <a:prstGeom prst="rect">
            <a:avLst/>
          </a:prstGeom>
          <a:noFill/>
          <a:ln/>
        </p:spPr>
        <p:txBody>
          <a:bodyPr wrap="square" rtlCol="0" anchor="ctr"/>
          <a:lstStyle/>
          <a:p>
            <a:pPr marL="0" indent="0">
              <a:buNone/>
            </a:pPr>
            <a:r>
              <a:rPr lang="en-US" sz="1700" b="1" dirty="0">
                <a:solidFill>
                  <a:srgbClr val="1B2B22"/>
                </a:solidFill>
                <a:latin typeface="Calibri" pitchFamily="34" charset="0"/>
                <a:ea typeface="Calibri" pitchFamily="34" charset="-122"/>
                <a:cs typeface="Calibri" pitchFamily="34" charset="-120"/>
              </a:rPr>
              <a:t>Milestone 1 – 4 Deliverables</a:t>
            </a:r>
            <a:endParaRPr lang="en-US" sz="1700" dirty="0"/>
          </a:p>
        </p:txBody>
      </p:sp>
      <p:sp>
        <p:nvSpPr>
          <p:cNvPr id="19" name="Text 17"/>
          <p:cNvSpPr/>
          <p:nvPr/>
        </p:nvSpPr>
        <p:spPr>
          <a:xfrm>
            <a:off x="6949440" y="3931920"/>
            <a:ext cx="3840480" cy="731520"/>
          </a:xfrm>
          <a:prstGeom prst="rect">
            <a:avLst/>
          </a:prstGeom>
          <a:noFill/>
          <a:ln/>
        </p:spPr>
        <p:txBody>
          <a:bodyPr wrap="square" rtlCol="0" anchor="ctr"/>
          <a:lstStyle/>
          <a:p>
            <a:pPr marL="0" indent="0">
              <a:buNone/>
            </a:pPr>
            <a:r>
              <a:rPr lang="en-US" sz="1300" dirty="0">
                <a:solidFill>
                  <a:srgbClr val="556259"/>
                </a:solidFill>
                <a:latin typeface="Calibri" pitchFamily="34" charset="0"/>
                <a:ea typeface="Calibri" pitchFamily="34" charset="-122"/>
                <a:cs typeface="Calibri" pitchFamily="34" charset="-120"/>
              </a:rPr>
              <a:t>What was built, verified, and shipped in each phase</a:t>
            </a:r>
            <a:endParaRPr lang="en-US" sz="1300" dirty="0"/>
          </a:p>
        </p:txBody>
      </p:sp>
      <p:sp>
        <p:nvSpPr>
          <p:cNvPr id="20" name="Shape 18"/>
          <p:cNvSpPr/>
          <p:nvPr/>
        </p:nvSpPr>
        <p:spPr>
          <a:xfrm>
            <a:off x="548640" y="5038344"/>
            <a:ext cx="5074920" cy="1417320"/>
          </a:xfrm>
          <a:prstGeom prst="roundRect">
            <a:avLst>
              <a:gd name="adj" fmla="val 5161"/>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1" name="Text 19"/>
          <p:cNvSpPr/>
          <p:nvPr/>
        </p:nvSpPr>
        <p:spPr>
          <a:xfrm>
            <a:off x="777240" y="5202936"/>
            <a:ext cx="914400" cy="548640"/>
          </a:xfrm>
          <a:prstGeom prst="rect">
            <a:avLst/>
          </a:prstGeom>
          <a:noFill/>
          <a:ln/>
        </p:spPr>
        <p:txBody>
          <a:bodyPr wrap="square" rtlCol="0" anchor="ctr"/>
          <a:lstStyle/>
          <a:p>
            <a:pPr marL="0" indent="0">
              <a:buNone/>
            </a:pPr>
            <a:r>
              <a:rPr lang="en-US" sz="2850" b="1" dirty="0">
                <a:solidFill>
                  <a:srgbClr val="B5802E"/>
                </a:solidFill>
                <a:latin typeface="Cambria" pitchFamily="34" charset="0"/>
                <a:ea typeface="Cambria" pitchFamily="34" charset="-122"/>
                <a:cs typeface="Cambria" pitchFamily="34" charset="-120"/>
              </a:rPr>
              <a:t>05</a:t>
            </a:r>
            <a:endParaRPr lang="en-US" sz="2850" dirty="0"/>
          </a:p>
        </p:txBody>
      </p:sp>
      <p:sp>
        <p:nvSpPr>
          <p:cNvPr id="22" name="Text 20"/>
          <p:cNvSpPr/>
          <p:nvPr/>
        </p:nvSpPr>
        <p:spPr>
          <a:xfrm>
            <a:off x="1554480" y="5221224"/>
            <a:ext cx="3886200" cy="365760"/>
          </a:xfrm>
          <a:prstGeom prst="rect">
            <a:avLst/>
          </a:prstGeom>
          <a:noFill/>
          <a:ln/>
        </p:spPr>
        <p:txBody>
          <a:bodyPr wrap="square" rtlCol="0" anchor="ctr"/>
          <a:lstStyle/>
          <a:p>
            <a:pPr marL="0" indent="0">
              <a:buNone/>
            </a:pPr>
            <a:r>
              <a:rPr lang="en-US" sz="1700" b="1" dirty="0">
                <a:solidFill>
                  <a:srgbClr val="1B2B22"/>
                </a:solidFill>
                <a:latin typeface="Calibri" pitchFamily="34" charset="0"/>
                <a:ea typeface="Calibri" pitchFamily="34" charset="-122"/>
                <a:cs typeface="Calibri" pitchFamily="34" charset="-120"/>
              </a:rPr>
              <a:t>Modules, Roles &amp; Database</a:t>
            </a:r>
            <a:endParaRPr lang="en-US" sz="1700" dirty="0"/>
          </a:p>
        </p:txBody>
      </p:sp>
      <p:sp>
        <p:nvSpPr>
          <p:cNvPr id="23" name="Text 21"/>
          <p:cNvSpPr/>
          <p:nvPr/>
        </p:nvSpPr>
        <p:spPr>
          <a:xfrm>
            <a:off x="1554480" y="5605272"/>
            <a:ext cx="3840480" cy="731520"/>
          </a:xfrm>
          <a:prstGeom prst="rect">
            <a:avLst/>
          </a:prstGeom>
          <a:noFill/>
          <a:ln/>
        </p:spPr>
        <p:txBody>
          <a:bodyPr wrap="square" rtlCol="0" anchor="ctr"/>
          <a:lstStyle/>
          <a:p>
            <a:pPr marL="0" indent="0">
              <a:buNone/>
            </a:pPr>
            <a:r>
              <a:rPr lang="en-US" sz="1300" dirty="0">
                <a:solidFill>
                  <a:srgbClr val="556259"/>
                </a:solidFill>
                <a:latin typeface="Calibri" pitchFamily="34" charset="0"/>
                <a:ea typeface="Calibri" pitchFamily="34" charset="-122"/>
                <a:cs typeface="Calibri" pitchFamily="34" charset="-120"/>
              </a:rPr>
              <a:t>The 14 functional modules and complete data model</a:t>
            </a:r>
            <a:endParaRPr lang="en-US" sz="1300" dirty="0"/>
          </a:p>
        </p:txBody>
      </p:sp>
      <p:sp>
        <p:nvSpPr>
          <p:cNvPr id="24" name="Shape 22"/>
          <p:cNvSpPr/>
          <p:nvPr/>
        </p:nvSpPr>
        <p:spPr>
          <a:xfrm>
            <a:off x="5943600" y="5038344"/>
            <a:ext cx="5074920" cy="1417320"/>
          </a:xfrm>
          <a:prstGeom prst="roundRect">
            <a:avLst>
              <a:gd name="adj" fmla="val 5161"/>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5" name="Text 23"/>
          <p:cNvSpPr/>
          <p:nvPr/>
        </p:nvSpPr>
        <p:spPr>
          <a:xfrm>
            <a:off x="6172200" y="5202936"/>
            <a:ext cx="914400" cy="548640"/>
          </a:xfrm>
          <a:prstGeom prst="rect">
            <a:avLst/>
          </a:prstGeom>
          <a:noFill/>
          <a:ln/>
        </p:spPr>
        <p:txBody>
          <a:bodyPr wrap="square" rtlCol="0" anchor="ctr"/>
          <a:lstStyle/>
          <a:p>
            <a:pPr marL="0" indent="0">
              <a:buNone/>
            </a:pPr>
            <a:r>
              <a:rPr lang="en-US" sz="2850" b="1" dirty="0">
                <a:solidFill>
                  <a:srgbClr val="B5802E"/>
                </a:solidFill>
                <a:latin typeface="Cambria" pitchFamily="34" charset="0"/>
                <a:ea typeface="Cambria" pitchFamily="34" charset="-122"/>
                <a:cs typeface="Cambria" pitchFamily="34" charset="-120"/>
              </a:rPr>
              <a:t>06</a:t>
            </a:r>
            <a:endParaRPr lang="en-US" sz="2850" dirty="0"/>
          </a:p>
        </p:txBody>
      </p:sp>
      <p:sp>
        <p:nvSpPr>
          <p:cNvPr id="26" name="Text 24"/>
          <p:cNvSpPr/>
          <p:nvPr/>
        </p:nvSpPr>
        <p:spPr>
          <a:xfrm>
            <a:off x="6949440" y="5221224"/>
            <a:ext cx="3886200" cy="365760"/>
          </a:xfrm>
          <a:prstGeom prst="rect">
            <a:avLst/>
          </a:prstGeom>
          <a:noFill/>
          <a:ln/>
        </p:spPr>
        <p:txBody>
          <a:bodyPr wrap="square" rtlCol="0" anchor="ctr"/>
          <a:lstStyle/>
          <a:p>
            <a:pPr marL="0" indent="0">
              <a:buNone/>
            </a:pPr>
            <a:r>
              <a:rPr lang="en-US" sz="1700" b="1" dirty="0">
                <a:solidFill>
                  <a:srgbClr val="1B2B22"/>
                </a:solidFill>
                <a:latin typeface="Calibri" pitchFamily="34" charset="0"/>
                <a:ea typeface="Calibri" pitchFamily="34" charset="-122"/>
                <a:cs typeface="Calibri" pitchFamily="34" charset="-120"/>
              </a:rPr>
              <a:t>Tech Stack &amp; Benchmarks</a:t>
            </a:r>
            <a:endParaRPr lang="en-US" sz="1700" dirty="0"/>
          </a:p>
        </p:txBody>
      </p:sp>
      <p:sp>
        <p:nvSpPr>
          <p:cNvPr id="27" name="Text 25"/>
          <p:cNvSpPr/>
          <p:nvPr/>
        </p:nvSpPr>
        <p:spPr>
          <a:xfrm>
            <a:off x="6949440" y="5605272"/>
            <a:ext cx="3840480" cy="731520"/>
          </a:xfrm>
          <a:prstGeom prst="rect">
            <a:avLst/>
          </a:prstGeom>
          <a:noFill/>
          <a:ln/>
        </p:spPr>
        <p:txBody>
          <a:bodyPr wrap="square" rtlCol="0" anchor="ctr"/>
          <a:lstStyle/>
          <a:p>
            <a:pPr marL="0" indent="0">
              <a:buNone/>
            </a:pPr>
            <a:r>
              <a:rPr lang="en-US" sz="1300" dirty="0">
                <a:solidFill>
                  <a:srgbClr val="556259"/>
                </a:solidFill>
                <a:latin typeface="Calibri" pitchFamily="34" charset="0"/>
                <a:ea typeface="Calibri" pitchFamily="34" charset="-122"/>
                <a:cs typeface="Calibri" pitchFamily="34" charset="-120"/>
              </a:rPr>
              <a:t>Tooling choices and end-to-end verification results</a:t>
            </a:r>
            <a:endParaRPr lang="en-US" sz="1300" dirty="0"/>
          </a:p>
        </p:txBody>
      </p:sp>
      <p:sp>
        <p:nvSpPr>
          <p:cNvPr id="28" name="Text 26"/>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29" name="Text 27"/>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PROJECT VISION</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Objective &amp; Target Users</a:t>
            </a:r>
            <a:endParaRPr lang="en-US" sz="3000" dirty="0"/>
          </a:p>
        </p:txBody>
      </p:sp>
      <p:sp>
        <p:nvSpPr>
          <p:cNvPr id="4" name="Text 2"/>
          <p:cNvSpPr/>
          <p:nvPr/>
        </p:nvSpPr>
        <p:spPr>
          <a:xfrm>
            <a:off x="548640" y="1600200"/>
            <a:ext cx="6675120" cy="1554480"/>
          </a:xfrm>
          <a:prstGeom prst="rect">
            <a:avLst/>
          </a:prstGeom>
          <a:noFill/>
          <a:ln/>
        </p:spPr>
        <p:txBody>
          <a:bodyPr wrap="square" rtlCol="0" anchor="ctr"/>
          <a:lstStyle/>
          <a:p>
            <a:pPr marL="0" indent="0">
              <a:lnSpc>
                <a:spcPct val="125000"/>
              </a:lnSpc>
              <a:buNone/>
            </a:pPr>
            <a:r>
              <a:rPr lang="en-US" sz="1650" dirty="0">
                <a:solidFill>
                  <a:srgbClr val="1B2B22"/>
                </a:solidFill>
                <a:latin typeface="Calibri" pitchFamily="34" charset="0"/>
                <a:ea typeface="Calibri" pitchFamily="34" charset="-122"/>
                <a:cs typeface="Calibri" pitchFamily="34" charset="-120"/>
              </a:rPr>
              <a:t>Build an AI-powered Wildlife Population Intelligence System that uses image recognition, acoustic analysis, computer vision, and machine learning to automatically identify wildlife species, estimate population sizes, monitor biodiversity changes, detect endangered species, and analyze habitat health.</a:t>
            </a:r>
            <a:endParaRPr lang="en-US" sz="1650" dirty="0"/>
          </a:p>
        </p:txBody>
      </p:sp>
      <p:sp>
        <p:nvSpPr>
          <p:cNvPr id="5" name="Text 3"/>
          <p:cNvSpPr/>
          <p:nvPr/>
        </p:nvSpPr>
        <p:spPr>
          <a:xfrm>
            <a:off x="548640" y="3246120"/>
            <a:ext cx="6675120" cy="1463040"/>
          </a:xfrm>
          <a:prstGeom prst="rect">
            <a:avLst/>
          </a:prstGeom>
          <a:noFill/>
          <a:ln/>
        </p:spPr>
        <p:txBody>
          <a:bodyPr wrap="square" rtlCol="0" anchor="ctr"/>
          <a:lstStyle/>
          <a:p>
            <a:pPr marL="0" indent="0">
              <a:lnSpc>
                <a:spcPct val="125000"/>
              </a:lnSpc>
              <a:buNone/>
            </a:pPr>
            <a:r>
              <a:rPr lang="en-US" sz="1650" dirty="0">
                <a:solidFill>
                  <a:srgbClr val="1B2B22"/>
                </a:solidFill>
                <a:latin typeface="Calibri" pitchFamily="34" charset="0"/>
                <a:ea typeface="Calibri" pitchFamily="34" charset="-122"/>
                <a:cs typeface="Calibri" pitchFamily="34" charset="-120"/>
              </a:rPr>
              <a:t>The platform ingests camera trap images, drone imagery, satellite data, environmental sensors, and wildlife audio recordings to support biodiversity conservation, ecological monitoring, habitat management, and field research — from raw data capture to executive decision-making.</a:t>
            </a:r>
            <a:endParaRPr lang="en-US" sz="1650" dirty="0"/>
          </a:p>
        </p:txBody>
      </p:sp>
      <p:sp>
        <p:nvSpPr>
          <p:cNvPr id="6" name="Shape 4"/>
          <p:cNvSpPr/>
          <p:nvPr/>
        </p:nvSpPr>
        <p:spPr>
          <a:xfrm>
            <a:off x="7543800" y="1600200"/>
            <a:ext cx="4114800" cy="4572000"/>
          </a:xfrm>
          <a:prstGeom prst="roundRect">
            <a:avLst>
              <a:gd name="adj" fmla="val 1778"/>
            </a:avLst>
          </a:prstGeom>
          <a:solidFill>
            <a:srgbClr val="1B4332"/>
          </a:solidFill>
          <a:ln w="12700">
            <a:solidFill>
              <a:srgbClr val="1B4332"/>
            </a:solidFill>
            <a:prstDash val="solid"/>
          </a:ln>
          <a:effectLst>
            <a:outerShdw blurRad="76200" dist="25400" dir="5400000" algn="bl" rotWithShape="0">
              <a:srgbClr val="1B4332">
                <a:alpha val="12000"/>
              </a:srgbClr>
            </a:outerShdw>
          </a:effectLst>
        </p:spPr>
      </p:sp>
      <p:sp>
        <p:nvSpPr>
          <p:cNvPr id="7" name="Text 5"/>
          <p:cNvSpPr/>
          <p:nvPr/>
        </p:nvSpPr>
        <p:spPr>
          <a:xfrm>
            <a:off x="7863840" y="1828800"/>
            <a:ext cx="3474720" cy="274320"/>
          </a:xfrm>
          <a:prstGeom prst="rect">
            <a:avLst/>
          </a:prstGeom>
          <a:noFill/>
          <a:ln/>
        </p:spPr>
        <p:txBody>
          <a:bodyPr wrap="square" rtlCol="0" anchor="ctr"/>
          <a:lstStyle/>
          <a:p>
            <a:pPr marL="0" indent="0">
              <a:buNone/>
            </a:pPr>
            <a:r>
              <a:rPr lang="en-US" sz="1300" b="1" kern="0" spc="200" dirty="0">
                <a:solidFill>
                  <a:srgbClr val="D9A441"/>
                </a:solidFill>
                <a:latin typeface="Calibri" pitchFamily="34" charset="0"/>
                <a:ea typeface="Calibri" pitchFamily="34" charset="-122"/>
                <a:cs typeface="Calibri" pitchFamily="34" charset="-120"/>
              </a:rPr>
              <a:t>BUILT FOR</a:t>
            </a:r>
            <a:endParaRPr lang="en-US" sz="1300" dirty="0"/>
          </a:p>
        </p:txBody>
      </p:sp>
      <p:sp>
        <p:nvSpPr>
          <p:cNvPr id="8" name="Shape 6"/>
          <p:cNvSpPr/>
          <p:nvPr/>
        </p:nvSpPr>
        <p:spPr>
          <a:xfrm>
            <a:off x="7863840" y="2286000"/>
            <a:ext cx="109728" cy="109728"/>
          </a:xfrm>
          <a:prstGeom prst="ellipse">
            <a:avLst/>
          </a:prstGeom>
          <a:solidFill>
            <a:srgbClr val="D9A441"/>
          </a:solidFill>
          <a:ln/>
        </p:spPr>
      </p:sp>
      <p:sp>
        <p:nvSpPr>
          <p:cNvPr id="9" name="Text 7"/>
          <p:cNvSpPr/>
          <p:nvPr/>
        </p:nvSpPr>
        <p:spPr>
          <a:xfrm>
            <a:off x="8092440" y="2167128"/>
            <a:ext cx="3383280" cy="36576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Wildlife Researchers</a:t>
            </a:r>
            <a:endParaRPr lang="en-US" sz="1600" dirty="0"/>
          </a:p>
        </p:txBody>
      </p:sp>
      <p:sp>
        <p:nvSpPr>
          <p:cNvPr id="10" name="Shape 8"/>
          <p:cNvSpPr/>
          <p:nvPr/>
        </p:nvSpPr>
        <p:spPr>
          <a:xfrm>
            <a:off x="7863840" y="2907792"/>
            <a:ext cx="109728" cy="109728"/>
          </a:xfrm>
          <a:prstGeom prst="ellipse">
            <a:avLst/>
          </a:prstGeom>
          <a:solidFill>
            <a:srgbClr val="D9A441"/>
          </a:solidFill>
          <a:ln/>
        </p:spPr>
      </p:sp>
      <p:sp>
        <p:nvSpPr>
          <p:cNvPr id="11" name="Text 9"/>
          <p:cNvSpPr/>
          <p:nvPr/>
        </p:nvSpPr>
        <p:spPr>
          <a:xfrm>
            <a:off x="8092440" y="2788920"/>
            <a:ext cx="3383280" cy="36576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Conservation Organizations</a:t>
            </a:r>
            <a:endParaRPr lang="en-US" sz="1600" dirty="0"/>
          </a:p>
        </p:txBody>
      </p:sp>
      <p:sp>
        <p:nvSpPr>
          <p:cNvPr id="12" name="Shape 10"/>
          <p:cNvSpPr/>
          <p:nvPr/>
        </p:nvSpPr>
        <p:spPr>
          <a:xfrm>
            <a:off x="7863840" y="3529584"/>
            <a:ext cx="109728" cy="109728"/>
          </a:xfrm>
          <a:prstGeom prst="ellipse">
            <a:avLst/>
          </a:prstGeom>
          <a:solidFill>
            <a:srgbClr val="D9A441"/>
          </a:solidFill>
          <a:ln/>
        </p:spPr>
      </p:sp>
      <p:sp>
        <p:nvSpPr>
          <p:cNvPr id="13" name="Text 11"/>
          <p:cNvSpPr/>
          <p:nvPr/>
        </p:nvSpPr>
        <p:spPr>
          <a:xfrm>
            <a:off x="8092440" y="3410712"/>
            <a:ext cx="3383280" cy="36576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Forest Departments</a:t>
            </a:r>
            <a:endParaRPr lang="en-US" sz="1600" dirty="0"/>
          </a:p>
        </p:txBody>
      </p:sp>
      <p:sp>
        <p:nvSpPr>
          <p:cNvPr id="14" name="Shape 12"/>
          <p:cNvSpPr/>
          <p:nvPr/>
        </p:nvSpPr>
        <p:spPr>
          <a:xfrm>
            <a:off x="7863840" y="4151376"/>
            <a:ext cx="109728" cy="109728"/>
          </a:xfrm>
          <a:prstGeom prst="ellipse">
            <a:avLst/>
          </a:prstGeom>
          <a:solidFill>
            <a:srgbClr val="D9A441"/>
          </a:solidFill>
          <a:ln/>
        </p:spPr>
      </p:sp>
      <p:sp>
        <p:nvSpPr>
          <p:cNvPr id="15" name="Text 13"/>
          <p:cNvSpPr/>
          <p:nvPr/>
        </p:nvSpPr>
        <p:spPr>
          <a:xfrm>
            <a:off x="8092440" y="4032504"/>
            <a:ext cx="3383280" cy="36576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Environmental Agencies</a:t>
            </a:r>
            <a:endParaRPr lang="en-US" sz="1600" dirty="0"/>
          </a:p>
        </p:txBody>
      </p:sp>
      <p:sp>
        <p:nvSpPr>
          <p:cNvPr id="16" name="Shape 14"/>
          <p:cNvSpPr/>
          <p:nvPr/>
        </p:nvSpPr>
        <p:spPr>
          <a:xfrm>
            <a:off x="7863840" y="4773168"/>
            <a:ext cx="109728" cy="109728"/>
          </a:xfrm>
          <a:prstGeom prst="ellipse">
            <a:avLst/>
          </a:prstGeom>
          <a:solidFill>
            <a:srgbClr val="D9A441"/>
          </a:solidFill>
          <a:ln/>
        </p:spPr>
      </p:sp>
      <p:sp>
        <p:nvSpPr>
          <p:cNvPr id="17" name="Text 15"/>
          <p:cNvSpPr/>
          <p:nvPr/>
        </p:nvSpPr>
        <p:spPr>
          <a:xfrm>
            <a:off x="8092440" y="4654296"/>
            <a:ext cx="3383280" cy="36576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National Parks</a:t>
            </a:r>
            <a:endParaRPr lang="en-US" sz="1600" dirty="0"/>
          </a:p>
        </p:txBody>
      </p:sp>
      <p:sp>
        <p:nvSpPr>
          <p:cNvPr id="18" name="Shape 16"/>
          <p:cNvSpPr/>
          <p:nvPr/>
        </p:nvSpPr>
        <p:spPr>
          <a:xfrm>
            <a:off x="7863840" y="5394960"/>
            <a:ext cx="109728" cy="109728"/>
          </a:xfrm>
          <a:prstGeom prst="ellipse">
            <a:avLst/>
          </a:prstGeom>
          <a:solidFill>
            <a:srgbClr val="D9A441"/>
          </a:solidFill>
          <a:ln/>
        </p:spPr>
      </p:sp>
      <p:sp>
        <p:nvSpPr>
          <p:cNvPr id="19" name="Text 17"/>
          <p:cNvSpPr/>
          <p:nvPr/>
        </p:nvSpPr>
        <p:spPr>
          <a:xfrm>
            <a:off x="8092440" y="5276088"/>
            <a:ext cx="3383280" cy="36576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NGOs &amp; Biodiversity Teams</a:t>
            </a:r>
            <a:endParaRPr lang="en-US" sz="1600" dirty="0"/>
          </a:p>
        </p:txBody>
      </p:sp>
      <p:sp>
        <p:nvSpPr>
          <p:cNvPr id="20" name="Text 18"/>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21" name="Text 19"/>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METHODOLOGY &amp; ROADMAP</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Iterative &amp; Agile SDLC — All Milestones Complete</a:t>
            </a:r>
            <a:endParaRPr lang="en-US" sz="3000" dirty="0"/>
          </a:p>
        </p:txBody>
      </p:sp>
      <p:sp>
        <p:nvSpPr>
          <p:cNvPr id="4" name="Text 2"/>
          <p:cNvSpPr/>
          <p:nvPr/>
        </p:nvSpPr>
        <p:spPr>
          <a:xfrm>
            <a:off x="548640" y="1508760"/>
            <a:ext cx="10607040" cy="640080"/>
          </a:xfrm>
          <a:prstGeom prst="rect">
            <a:avLst/>
          </a:prstGeom>
          <a:noFill/>
          <a:ln/>
        </p:spPr>
        <p:txBody>
          <a:bodyPr wrap="square" rtlCol="0" anchor="ctr"/>
          <a:lstStyle/>
          <a:p>
            <a:pPr marL="0" indent="0">
              <a:buNone/>
            </a:pPr>
            <a:r>
              <a:rPr lang="en-US" sz="1550" dirty="0">
                <a:solidFill>
                  <a:srgbClr val="556259"/>
                </a:solidFill>
                <a:latin typeface="Calibri" pitchFamily="34" charset="0"/>
                <a:ea typeface="Calibri" pitchFamily="34" charset="-122"/>
                <a:cs typeface="Calibri" pitchFamily="34" charset="-120"/>
              </a:rPr>
              <a:t>Wildlife monitoring requires phased data ingestion, continuous model evaluation, multi-role dashboards, and rapid deployment of threat-detection algorithms — so the project followed an Iterative &amp; Agile SDLC across four two-week milestones.</a:t>
            </a:r>
            <a:endParaRPr lang="en-US" sz="1550" dirty="0"/>
          </a:p>
        </p:txBody>
      </p:sp>
      <p:sp>
        <p:nvSpPr>
          <p:cNvPr id="5" name="Shape 3"/>
          <p:cNvSpPr/>
          <p:nvPr/>
        </p:nvSpPr>
        <p:spPr>
          <a:xfrm>
            <a:off x="960120" y="2926080"/>
            <a:ext cx="10195560" cy="0"/>
          </a:xfrm>
          <a:prstGeom prst="line">
            <a:avLst/>
          </a:prstGeom>
          <a:noFill/>
          <a:ln w="25400">
            <a:solidFill>
              <a:srgbClr val="CAD2C5"/>
            </a:solidFill>
            <a:prstDash val="solid"/>
          </a:ln>
        </p:spPr>
      </p:sp>
      <p:sp>
        <p:nvSpPr>
          <p:cNvPr id="6" name="Shape 4"/>
          <p:cNvSpPr/>
          <p:nvPr/>
        </p:nvSpPr>
        <p:spPr>
          <a:xfrm>
            <a:off x="548640" y="2514600"/>
            <a:ext cx="822960" cy="822960"/>
          </a:xfrm>
          <a:prstGeom prst="ellipse">
            <a:avLst/>
          </a:prstGeom>
          <a:solidFill>
            <a:srgbClr val="1B4332"/>
          </a:solidFill>
          <a:ln/>
        </p:spPr>
      </p:sp>
      <p:sp>
        <p:nvSpPr>
          <p:cNvPr id="7" name="Text 5"/>
          <p:cNvSpPr/>
          <p:nvPr/>
        </p:nvSpPr>
        <p:spPr>
          <a:xfrm>
            <a:off x="548640" y="2514600"/>
            <a:ext cx="822960" cy="82296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M1</a:t>
            </a:r>
            <a:endParaRPr lang="en-US" sz="2100" dirty="0"/>
          </a:p>
        </p:txBody>
      </p:sp>
      <p:sp>
        <p:nvSpPr>
          <p:cNvPr id="8" name="Shape 6"/>
          <p:cNvSpPr/>
          <p:nvPr/>
        </p:nvSpPr>
        <p:spPr>
          <a:xfrm>
            <a:off x="548640" y="3520439"/>
            <a:ext cx="2651760" cy="2368289"/>
          </a:xfrm>
          <a:prstGeom prst="roundRect">
            <a:avLst>
              <a:gd name="adj" fmla="val 3478"/>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9" name="Text 7"/>
          <p:cNvSpPr/>
          <p:nvPr/>
        </p:nvSpPr>
        <p:spPr>
          <a:xfrm>
            <a:off x="731520" y="3657600"/>
            <a:ext cx="2286000" cy="274320"/>
          </a:xfrm>
          <a:prstGeom prst="rect">
            <a:avLst/>
          </a:prstGeom>
          <a:noFill/>
          <a:ln/>
        </p:spPr>
        <p:txBody>
          <a:bodyPr wrap="square" rtlCol="0" anchor="ctr"/>
          <a:lstStyle/>
          <a:p>
            <a:pPr marL="0" indent="0">
              <a:buNone/>
            </a:pPr>
            <a:r>
              <a:rPr lang="en-US" sz="1200" b="1" kern="0" spc="100" dirty="0">
                <a:solidFill>
                  <a:srgbClr val="B5802E"/>
                </a:solidFill>
                <a:latin typeface="Calibri" pitchFamily="34" charset="0"/>
                <a:ea typeface="Calibri" pitchFamily="34" charset="-122"/>
                <a:cs typeface="Calibri" pitchFamily="34" charset="-120"/>
              </a:rPr>
              <a:t>WEEKS 1–2</a:t>
            </a:r>
            <a:endParaRPr lang="en-US" sz="1200" dirty="0"/>
          </a:p>
        </p:txBody>
      </p:sp>
      <p:sp>
        <p:nvSpPr>
          <p:cNvPr id="10" name="Text 8"/>
          <p:cNvSpPr/>
          <p:nvPr/>
        </p:nvSpPr>
        <p:spPr>
          <a:xfrm>
            <a:off x="731520" y="3931920"/>
            <a:ext cx="2286000" cy="594360"/>
          </a:xfrm>
          <a:prstGeom prst="rect">
            <a:avLst/>
          </a:prstGeom>
          <a:noFill/>
          <a:ln/>
        </p:spPr>
        <p:txBody>
          <a:bodyPr wrap="square" rtlCol="0" anchor="ctr"/>
          <a:lstStyle/>
          <a:p>
            <a:pPr marL="0" indent="0">
              <a:buNone/>
            </a:pPr>
            <a:r>
              <a:rPr lang="en-US" sz="1750" b="1" dirty="0">
                <a:solidFill>
                  <a:srgbClr val="1B2B22"/>
                </a:solidFill>
                <a:latin typeface="Cambria" pitchFamily="34" charset="0"/>
                <a:ea typeface="Cambria" pitchFamily="34" charset="-122"/>
                <a:cs typeface="Cambria" pitchFamily="34" charset="-120"/>
              </a:rPr>
              <a:t>Foundation &amp; Core Setup</a:t>
            </a:r>
            <a:endParaRPr lang="en-US" sz="1750" dirty="0"/>
          </a:p>
        </p:txBody>
      </p:sp>
      <p:sp>
        <p:nvSpPr>
          <p:cNvPr id="11" name="Text 9"/>
          <p:cNvSpPr/>
          <p:nvPr/>
        </p:nvSpPr>
        <p:spPr>
          <a:xfrm>
            <a:off x="731520" y="4572000"/>
            <a:ext cx="2286000" cy="868680"/>
          </a:xfrm>
          <a:prstGeom prst="rect">
            <a:avLst/>
          </a:prstGeom>
          <a:noFill/>
          <a:ln/>
        </p:spPr>
        <p:txBody>
          <a:bodyPr wrap="square" rtlCol="0" anchor="ctr"/>
          <a:lstStyle/>
          <a:p>
            <a:pPr marL="0" indent="0">
              <a:buNone/>
            </a:pPr>
            <a:r>
              <a:rPr lang="en-US" sz="1250" dirty="0">
                <a:solidFill>
                  <a:srgbClr val="556259"/>
                </a:solidFill>
                <a:latin typeface="Calibri" pitchFamily="34" charset="0"/>
                <a:ea typeface="Calibri" pitchFamily="34" charset="-122"/>
                <a:cs typeface="Calibri" pitchFamily="34" charset="-120"/>
              </a:rPr>
              <a:t>Architecture, database design, JWT auth &amp; RBAC, dataset pipeline</a:t>
            </a:r>
            <a:endParaRPr lang="en-US" sz="1250" dirty="0"/>
          </a:p>
        </p:txBody>
      </p:sp>
      <p:sp>
        <p:nvSpPr>
          <p:cNvPr id="12" name="Text 10"/>
          <p:cNvSpPr/>
          <p:nvPr/>
        </p:nvSpPr>
        <p:spPr>
          <a:xfrm>
            <a:off x="731520" y="5486400"/>
            <a:ext cx="2286000" cy="274320"/>
          </a:xfrm>
          <a:prstGeom prst="rect">
            <a:avLst/>
          </a:prstGeom>
          <a:noFill/>
          <a:ln/>
        </p:spPr>
        <p:txBody>
          <a:bodyPr wrap="square" rtlCol="0" anchor="ctr"/>
          <a:lstStyle/>
          <a:p>
            <a:pPr marL="0" indent="0">
              <a:buNone/>
            </a:pPr>
            <a:r>
              <a:rPr lang="en-US" sz="1200" b="1" dirty="0">
                <a:solidFill>
                  <a:srgbClr val="52796F"/>
                </a:solidFill>
                <a:latin typeface="Calibri" pitchFamily="34" charset="0"/>
                <a:ea typeface="Calibri" pitchFamily="34" charset="-122"/>
                <a:cs typeface="Calibri" pitchFamily="34" charset="-120"/>
              </a:rPr>
              <a:t>✓ COMPLETED</a:t>
            </a:r>
            <a:endParaRPr lang="en-US" sz="1200" dirty="0"/>
          </a:p>
        </p:txBody>
      </p:sp>
      <p:sp>
        <p:nvSpPr>
          <p:cNvPr id="13" name="Shape 11"/>
          <p:cNvSpPr/>
          <p:nvPr/>
        </p:nvSpPr>
        <p:spPr>
          <a:xfrm>
            <a:off x="3337560" y="2514600"/>
            <a:ext cx="822960" cy="822960"/>
          </a:xfrm>
          <a:prstGeom prst="ellipse">
            <a:avLst/>
          </a:prstGeom>
          <a:solidFill>
            <a:srgbClr val="1B4332"/>
          </a:solidFill>
          <a:ln/>
        </p:spPr>
      </p:sp>
      <p:sp>
        <p:nvSpPr>
          <p:cNvPr id="14" name="Text 12"/>
          <p:cNvSpPr/>
          <p:nvPr/>
        </p:nvSpPr>
        <p:spPr>
          <a:xfrm>
            <a:off x="3337560" y="2514600"/>
            <a:ext cx="822960" cy="82296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M2</a:t>
            </a:r>
            <a:endParaRPr lang="en-US" sz="2100" dirty="0"/>
          </a:p>
        </p:txBody>
      </p:sp>
      <p:sp>
        <p:nvSpPr>
          <p:cNvPr id="15" name="Shape 13"/>
          <p:cNvSpPr/>
          <p:nvPr/>
        </p:nvSpPr>
        <p:spPr>
          <a:xfrm>
            <a:off x="3337560" y="3520439"/>
            <a:ext cx="2651760" cy="2368285"/>
          </a:xfrm>
          <a:prstGeom prst="roundRect">
            <a:avLst>
              <a:gd name="adj" fmla="val 3478"/>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6" name="Text 14"/>
          <p:cNvSpPr/>
          <p:nvPr/>
        </p:nvSpPr>
        <p:spPr>
          <a:xfrm>
            <a:off x="3520440" y="3657600"/>
            <a:ext cx="2286000" cy="274320"/>
          </a:xfrm>
          <a:prstGeom prst="rect">
            <a:avLst/>
          </a:prstGeom>
          <a:noFill/>
          <a:ln/>
        </p:spPr>
        <p:txBody>
          <a:bodyPr wrap="square" rtlCol="0" anchor="ctr"/>
          <a:lstStyle/>
          <a:p>
            <a:pPr marL="0" indent="0">
              <a:buNone/>
            </a:pPr>
            <a:r>
              <a:rPr lang="en-US" sz="1200" b="1" kern="0" spc="100" dirty="0">
                <a:solidFill>
                  <a:srgbClr val="B5802E"/>
                </a:solidFill>
                <a:latin typeface="Calibri" pitchFamily="34" charset="0"/>
                <a:ea typeface="Calibri" pitchFamily="34" charset="-122"/>
                <a:cs typeface="Calibri" pitchFamily="34" charset="-120"/>
              </a:rPr>
              <a:t>WEEKS 3–4</a:t>
            </a:r>
            <a:endParaRPr lang="en-US" sz="1200" dirty="0"/>
          </a:p>
        </p:txBody>
      </p:sp>
      <p:sp>
        <p:nvSpPr>
          <p:cNvPr id="17" name="Text 15"/>
          <p:cNvSpPr/>
          <p:nvPr/>
        </p:nvSpPr>
        <p:spPr>
          <a:xfrm>
            <a:off x="3520440" y="3931920"/>
            <a:ext cx="2286000" cy="594360"/>
          </a:xfrm>
          <a:prstGeom prst="rect">
            <a:avLst/>
          </a:prstGeom>
          <a:noFill/>
          <a:ln/>
        </p:spPr>
        <p:txBody>
          <a:bodyPr wrap="square" rtlCol="0" anchor="ctr"/>
          <a:lstStyle/>
          <a:p>
            <a:pPr marL="0" indent="0">
              <a:buNone/>
            </a:pPr>
            <a:r>
              <a:rPr lang="en-US" sz="1750" b="1" dirty="0">
                <a:solidFill>
                  <a:srgbClr val="1B2B22"/>
                </a:solidFill>
                <a:latin typeface="Cambria" pitchFamily="34" charset="0"/>
                <a:ea typeface="Cambria" pitchFamily="34" charset="-122"/>
                <a:cs typeface="Cambria" pitchFamily="34" charset="-120"/>
              </a:rPr>
              <a:t>Species Recognition Engine</a:t>
            </a:r>
            <a:endParaRPr lang="en-US" sz="1750" dirty="0"/>
          </a:p>
        </p:txBody>
      </p:sp>
      <p:sp>
        <p:nvSpPr>
          <p:cNvPr id="18" name="Text 16"/>
          <p:cNvSpPr/>
          <p:nvPr/>
        </p:nvSpPr>
        <p:spPr>
          <a:xfrm>
            <a:off x="3520440" y="4572000"/>
            <a:ext cx="2286000" cy="868680"/>
          </a:xfrm>
          <a:prstGeom prst="rect">
            <a:avLst/>
          </a:prstGeom>
          <a:noFill/>
          <a:ln/>
        </p:spPr>
        <p:txBody>
          <a:bodyPr wrap="square" rtlCol="0" anchor="ctr"/>
          <a:lstStyle/>
          <a:p>
            <a:pPr marL="0" indent="0">
              <a:buNone/>
            </a:pPr>
            <a:r>
              <a:rPr lang="en-US" sz="1250" dirty="0">
                <a:solidFill>
                  <a:srgbClr val="556259"/>
                </a:solidFill>
                <a:latin typeface="Calibri" pitchFamily="34" charset="0"/>
                <a:ea typeface="Calibri" pitchFamily="34" charset="-122"/>
                <a:cs typeface="Calibri" pitchFamily="34" charset="-120"/>
              </a:rPr>
              <a:t>Vision + audio detection, biodiversity analytics, PDF reporting</a:t>
            </a:r>
            <a:endParaRPr lang="en-US" sz="1250" dirty="0"/>
          </a:p>
        </p:txBody>
      </p:sp>
      <p:sp>
        <p:nvSpPr>
          <p:cNvPr id="19" name="Text 17"/>
          <p:cNvSpPr/>
          <p:nvPr/>
        </p:nvSpPr>
        <p:spPr>
          <a:xfrm>
            <a:off x="3520440" y="5486400"/>
            <a:ext cx="2286000" cy="274320"/>
          </a:xfrm>
          <a:prstGeom prst="rect">
            <a:avLst/>
          </a:prstGeom>
          <a:noFill/>
          <a:ln/>
        </p:spPr>
        <p:txBody>
          <a:bodyPr wrap="square" rtlCol="0" anchor="ctr"/>
          <a:lstStyle/>
          <a:p>
            <a:pPr marL="0" indent="0">
              <a:buNone/>
            </a:pPr>
            <a:r>
              <a:rPr lang="en-US" sz="1200" b="1" dirty="0">
                <a:solidFill>
                  <a:srgbClr val="52796F"/>
                </a:solidFill>
                <a:latin typeface="Calibri" pitchFamily="34" charset="0"/>
                <a:ea typeface="Calibri" pitchFamily="34" charset="-122"/>
                <a:cs typeface="Calibri" pitchFamily="34" charset="-120"/>
              </a:rPr>
              <a:t>✓ COMPLETED</a:t>
            </a:r>
            <a:endParaRPr lang="en-US" sz="1200" dirty="0"/>
          </a:p>
        </p:txBody>
      </p:sp>
      <p:sp>
        <p:nvSpPr>
          <p:cNvPr id="20" name="Shape 18"/>
          <p:cNvSpPr/>
          <p:nvPr/>
        </p:nvSpPr>
        <p:spPr>
          <a:xfrm>
            <a:off x="6126480" y="2514600"/>
            <a:ext cx="822960" cy="822960"/>
          </a:xfrm>
          <a:prstGeom prst="ellipse">
            <a:avLst/>
          </a:prstGeom>
          <a:solidFill>
            <a:srgbClr val="1B4332"/>
          </a:solidFill>
          <a:ln/>
        </p:spPr>
      </p:sp>
      <p:sp>
        <p:nvSpPr>
          <p:cNvPr id="21" name="Text 19"/>
          <p:cNvSpPr/>
          <p:nvPr/>
        </p:nvSpPr>
        <p:spPr>
          <a:xfrm>
            <a:off x="6126480" y="2514600"/>
            <a:ext cx="822960" cy="82296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M3</a:t>
            </a:r>
            <a:endParaRPr lang="en-US" sz="2100" dirty="0"/>
          </a:p>
        </p:txBody>
      </p:sp>
      <p:sp>
        <p:nvSpPr>
          <p:cNvPr id="22" name="Shape 20"/>
          <p:cNvSpPr/>
          <p:nvPr/>
        </p:nvSpPr>
        <p:spPr>
          <a:xfrm>
            <a:off x="6126480" y="3520440"/>
            <a:ext cx="2651760" cy="2368288"/>
          </a:xfrm>
          <a:prstGeom prst="roundRect">
            <a:avLst>
              <a:gd name="adj" fmla="val 3478"/>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3" name="Text 21"/>
          <p:cNvSpPr/>
          <p:nvPr/>
        </p:nvSpPr>
        <p:spPr>
          <a:xfrm>
            <a:off x="6309360" y="3657600"/>
            <a:ext cx="2286000" cy="274320"/>
          </a:xfrm>
          <a:prstGeom prst="rect">
            <a:avLst/>
          </a:prstGeom>
          <a:noFill/>
          <a:ln/>
        </p:spPr>
        <p:txBody>
          <a:bodyPr wrap="square" rtlCol="0" anchor="ctr"/>
          <a:lstStyle/>
          <a:p>
            <a:pPr marL="0" indent="0">
              <a:buNone/>
            </a:pPr>
            <a:r>
              <a:rPr lang="en-US" sz="1200" b="1" kern="0" spc="100" dirty="0">
                <a:solidFill>
                  <a:srgbClr val="B5802E"/>
                </a:solidFill>
                <a:latin typeface="Calibri" pitchFamily="34" charset="0"/>
                <a:ea typeface="Calibri" pitchFamily="34" charset="-122"/>
                <a:cs typeface="Calibri" pitchFamily="34" charset="-120"/>
              </a:rPr>
              <a:t>WEEKS 5–6</a:t>
            </a:r>
            <a:endParaRPr lang="en-US" sz="1200" dirty="0"/>
          </a:p>
        </p:txBody>
      </p:sp>
      <p:sp>
        <p:nvSpPr>
          <p:cNvPr id="24" name="Text 22"/>
          <p:cNvSpPr/>
          <p:nvPr/>
        </p:nvSpPr>
        <p:spPr>
          <a:xfrm>
            <a:off x="6309360" y="3931920"/>
            <a:ext cx="2286000" cy="594360"/>
          </a:xfrm>
          <a:prstGeom prst="rect">
            <a:avLst/>
          </a:prstGeom>
          <a:noFill/>
          <a:ln/>
        </p:spPr>
        <p:txBody>
          <a:bodyPr wrap="square" rtlCol="0" anchor="ctr"/>
          <a:lstStyle/>
          <a:p>
            <a:pPr marL="0" indent="0">
              <a:buNone/>
            </a:pPr>
            <a:r>
              <a:rPr lang="en-US" sz="1750" b="1" dirty="0">
                <a:solidFill>
                  <a:srgbClr val="1B2B22"/>
                </a:solidFill>
                <a:latin typeface="Cambria" pitchFamily="34" charset="0"/>
                <a:ea typeface="Cambria" pitchFamily="34" charset="-122"/>
                <a:cs typeface="Cambria" pitchFamily="34" charset="-120"/>
              </a:rPr>
              <a:t>Population &amp; Conservation</a:t>
            </a:r>
            <a:endParaRPr lang="en-US" sz="1750" dirty="0"/>
          </a:p>
        </p:txBody>
      </p:sp>
      <p:sp>
        <p:nvSpPr>
          <p:cNvPr id="25" name="Text 23"/>
          <p:cNvSpPr/>
          <p:nvPr/>
        </p:nvSpPr>
        <p:spPr>
          <a:xfrm>
            <a:off x="6309360" y="4572000"/>
            <a:ext cx="2286000" cy="868680"/>
          </a:xfrm>
          <a:prstGeom prst="rect">
            <a:avLst/>
          </a:prstGeom>
          <a:noFill/>
          <a:ln/>
        </p:spPr>
        <p:txBody>
          <a:bodyPr wrap="square" rtlCol="0" anchor="ctr"/>
          <a:lstStyle/>
          <a:p>
            <a:pPr marL="0" indent="0">
              <a:buNone/>
            </a:pPr>
            <a:r>
              <a:rPr lang="en-US" sz="1250" dirty="0">
                <a:solidFill>
                  <a:srgbClr val="556259"/>
                </a:solidFill>
                <a:latin typeface="Calibri" pitchFamily="34" charset="0"/>
                <a:ea typeface="Calibri" pitchFamily="34" charset="-122"/>
                <a:cs typeface="Calibri" pitchFamily="34" charset="-120"/>
              </a:rPr>
              <a:t>Abundance estimation, habitat intelligence, ecosystem health scoring</a:t>
            </a:r>
            <a:endParaRPr lang="en-US" sz="1250" dirty="0"/>
          </a:p>
        </p:txBody>
      </p:sp>
      <p:sp>
        <p:nvSpPr>
          <p:cNvPr id="26" name="Text 24"/>
          <p:cNvSpPr/>
          <p:nvPr/>
        </p:nvSpPr>
        <p:spPr>
          <a:xfrm>
            <a:off x="6309360" y="5486400"/>
            <a:ext cx="2286000" cy="274320"/>
          </a:xfrm>
          <a:prstGeom prst="rect">
            <a:avLst/>
          </a:prstGeom>
          <a:noFill/>
          <a:ln/>
        </p:spPr>
        <p:txBody>
          <a:bodyPr wrap="square" rtlCol="0" anchor="ctr"/>
          <a:lstStyle/>
          <a:p>
            <a:pPr marL="0" indent="0">
              <a:buNone/>
            </a:pPr>
            <a:r>
              <a:rPr lang="en-US" sz="1200" b="1" dirty="0">
                <a:solidFill>
                  <a:srgbClr val="52796F"/>
                </a:solidFill>
                <a:latin typeface="Calibri" pitchFamily="34" charset="0"/>
                <a:ea typeface="Calibri" pitchFamily="34" charset="-122"/>
                <a:cs typeface="Calibri" pitchFamily="34" charset="-120"/>
              </a:rPr>
              <a:t>✓ COMPLETED</a:t>
            </a:r>
            <a:endParaRPr lang="en-US" sz="1200" dirty="0"/>
          </a:p>
        </p:txBody>
      </p:sp>
      <p:sp>
        <p:nvSpPr>
          <p:cNvPr id="27" name="Shape 25"/>
          <p:cNvSpPr/>
          <p:nvPr/>
        </p:nvSpPr>
        <p:spPr>
          <a:xfrm>
            <a:off x="8915400" y="2514600"/>
            <a:ext cx="822960" cy="822960"/>
          </a:xfrm>
          <a:prstGeom prst="ellipse">
            <a:avLst/>
          </a:prstGeom>
          <a:solidFill>
            <a:srgbClr val="1B4332"/>
          </a:solidFill>
          <a:ln/>
        </p:spPr>
      </p:sp>
      <p:sp>
        <p:nvSpPr>
          <p:cNvPr id="28" name="Text 26"/>
          <p:cNvSpPr/>
          <p:nvPr/>
        </p:nvSpPr>
        <p:spPr>
          <a:xfrm>
            <a:off x="8915400" y="2514600"/>
            <a:ext cx="822960" cy="822960"/>
          </a:xfrm>
          <a:prstGeom prst="rect">
            <a:avLst/>
          </a:prstGeom>
          <a:noFill/>
          <a:ln/>
        </p:spPr>
        <p:txBody>
          <a:bodyPr wrap="square"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M4</a:t>
            </a:r>
            <a:endParaRPr lang="en-US" sz="2100" dirty="0"/>
          </a:p>
        </p:txBody>
      </p:sp>
      <p:sp>
        <p:nvSpPr>
          <p:cNvPr id="29" name="Shape 27"/>
          <p:cNvSpPr/>
          <p:nvPr/>
        </p:nvSpPr>
        <p:spPr>
          <a:xfrm>
            <a:off x="8915400" y="3520439"/>
            <a:ext cx="2651760" cy="2368283"/>
          </a:xfrm>
          <a:prstGeom prst="roundRect">
            <a:avLst>
              <a:gd name="adj" fmla="val 3478"/>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30" name="Text 28"/>
          <p:cNvSpPr/>
          <p:nvPr/>
        </p:nvSpPr>
        <p:spPr>
          <a:xfrm>
            <a:off x="9098280" y="3657600"/>
            <a:ext cx="2286000" cy="274320"/>
          </a:xfrm>
          <a:prstGeom prst="rect">
            <a:avLst/>
          </a:prstGeom>
          <a:noFill/>
          <a:ln/>
        </p:spPr>
        <p:txBody>
          <a:bodyPr wrap="square" rtlCol="0" anchor="ctr"/>
          <a:lstStyle/>
          <a:p>
            <a:pPr marL="0" indent="0">
              <a:buNone/>
            </a:pPr>
            <a:r>
              <a:rPr lang="en-US" sz="1200" b="1" kern="0" spc="100" dirty="0">
                <a:solidFill>
                  <a:srgbClr val="B5802E"/>
                </a:solidFill>
                <a:latin typeface="Calibri" pitchFamily="34" charset="0"/>
                <a:ea typeface="Calibri" pitchFamily="34" charset="-122"/>
                <a:cs typeface="Calibri" pitchFamily="34" charset="-120"/>
              </a:rPr>
              <a:t>WEEKS 7–8</a:t>
            </a:r>
            <a:endParaRPr lang="en-US" sz="1200" dirty="0"/>
          </a:p>
        </p:txBody>
      </p:sp>
      <p:sp>
        <p:nvSpPr>
          <p:cNvPr id="31" name="Text 29"/>
          <p:cNvSpPr/>
          <p:nvPr/>
        </p:nvSpPr>
        <p:spPr>
          <a:xfrm>
            <a:off x="9098280" y="3931920"/>
            <a:ext cx="2286000" cy="594360"/>
          </a:xfrm>
          <a:prstGeom prst="rect">
            <a:avLst/>
          </a:prstGeom>
          <a:noFill/>
          <a:ln/>
        </p:spPr>
        <p:txBody>
          <a:bodyPr wrap="square" rtlCol="0" anchor="ctr"/>
          <a:lstStyle/>
          <a:p>
            <a:pPr marL="0" indent="0">
              <a:buNone/>
            </a:pPr>
            <a:r>
              <a:rPr lang="en-US" sz="1750" b="1" dirty="0">
                <a:solidFill>
                  <a:srgbClr val="1B2B22"/>
                </a:solidFill>
                <a:latin typeface="Cambria" pitchFamily="34" charset="0"/>
                <a:ea typeface="Cambria" pitchFamily="34" charset="-122"/>
                <a:cs typeface="Cambria" pitchFamily="34" charset="-120"/>
              </a:rPr>
              <a:t>Executive GIS &amp; Deployment</a:t>
            </a:r>
            <a:endParaRPr lang="en-US" sz="1750" dirty="0"/>
          </a:p>
        </p:txBody>
      </p:sp>
      <p:sp>
        <p:nvSpPr>
          <p:cNvPr id="32" name="Text 30"/>
          <p:cNvSpPr/>
          <p:nvPr/>
        </p:nvSpPr>
        <p:spPr>
          <a:xfrm>
            <a:off x="9098280" y="4572000"/>
            <a:ext cx="2286000" cy="868680"/>
          </a:xfrm>
          <a:prstGeom prst="rect">
            <a:avLst/>
          </a:prstGeom>
          <a:noFill/>
          <a:ln/>
        </p:spPr>
        <p:txBody>
          <a:bodyPr wrap="square" rtlCol="0" anchor="ctr"/>
          <a:lstStyle/>
          <a:p>
            <a:pPr marL="0" indent="0">
              <a:buNone/>
            </a:pPr>
            <a:r>
              <a:rPr lang="en-US" sz="1250" dirty="0">
                <a:solidFill>
                  <a:srgbClr val="556259"/>
                </a:solidFill>
                <a:latin typeface="Calibri" pitchFamily="34" charset="0"/>
                <a:ea typeface="Calibri" pitchFamily="34" charset="-122"/>
                <a:cs typeface="Calibri" pitchFamily="34" charset="-120"/>
              </a:rPr>
              <a:t>GIS dashboards, executive analytics, end-to-end verification</a:t>
            </a:r>
            <a:endParaRPr lang="en-US" sz="1250" dirty="0"/>
          </a:p>
        </p:txBody>
      </p:sp>
      <p:sp>
        <p:nvSpPr>
          <p:cNvPr id="33" name="Text 31"/>
          <p:cNvSpPr/>
          <p:nvPr/>
        </p:nvSpPr>
        <p:spPr>
          <a:xfrm>
            <a:off x="9098280" y="5486400"/>
            <a:ext cx="2286000" cy="274320"/>
          </a:xfrm>
          <a:prstGeom prst="rect">
            <a:avLst/>
          </a:prstGeom>
          <a:noFill/>
          <a:ln/>
        </p:spPr>
        <p:txBody>
          <a:bodyPr wrap="square" rtlCol="0" anchor="ctr"/>
          <a:lstStyle/>
          <a:p>
            <a:pPr marL="0" indent="0">
              <a:buNone/>
            </a:pPr>
            <a:r>
              <a:rPr lang="en-US" sz="1200" b="1" dirty="0">
                <a:solidFill>
                  <a:srgbClr val="52796F"/>
                </a:solidFill>
                <a:latin typeface="Calibri" pitchFamily="34" charset="0"/>
                <a:ea typeface="Calibri" pitchFamily="34" charset="-122"/>
                <a:cs typeface="Calibri" pitchFamily="34" charset="-120"/>
              </a:rPr>
              <a:t>✓ COMPLETED</a:t>
            </a:r>
            <a:endParaRPr lang="en-US" sz="1200" dirty="0"/>
          </a:p>
        </p:txBody>
      </p:sp>
      <p:sp>
        <p:nvSpPr>
          <p:cNvPr id="34" name="Text 32"/>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35" name="Text 33"/>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ARCHITECTURE</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Complete System Architecture</a:t>
            </a:r>
            <a:endParaRPr lang="en-US" sz="3000" dirty="0"/>
          </a:p>
        </p:txBody>
      </p:sp>
      <p:sp>
        <p:nvSpPr>
          <p:cNvPr id="4" name="Shape 2"/>
          <p:cNvSpPr/>
          <p:nvPr/>
        </p:nvSpPr>
        <p:spPr>
          <a:xfrm>
            <a:off x="640080" y="1691640"/>
            <a:ext cx="10881360" cy="960120"/>
          </a:xfrm>
          <a:prstGeom prst="roundRect">
            <a:avLst>
              <a:gd name="adj" fmla="val 5714"/>
            </a:avLst>
          </a:prstGeom>
          <a:solidFill>
            <a:srgbClr val="1B4332"/>
          </a:solidFill>
          <a:ln/>
        </p:spPr>
      </p:sp>
      <p:sp>
        <p:nvSpPr>
          <p:cNvPr id="5" name="Text 3"/>
          <p:cNvSpPr/>
          <p:nvPr/>
        </p:nvSpPr>
        <p:spPr>
          <a:xfrm>
            <a:off x="914400" y="1783080"/>
            <a:ext cx="3291840" cy="777240"/>
          </a:xfrm>
          <a:prstGeom prst="rect">
            <a:avLst/>
          </a:prstGeom>
          <a:noFill/>
          <a:ln/>
        </p:spPr>
        <p:txBody>
          <a:bodyPr wrap="square" rtlCol="0" anchor="ctr"/>
          <a:lstStyle/>
          <a:p>
            <a:pPr marL="0" indent="0">
              <a:buNone/>
            </a:pPr>
            <a:r>
              <a:rPr lang="en-US" sz="1750" b="1" dirty="0">
                <a:solidFill>
                  <a:srgbClr val="FFFFFF"/>
                </a:solidFill>
                <a:latin typeface="Cambria" pitchFamily="34" charset="0"/>
                <a:ea typeface="Cambria" pitchFamily="34" charset="-122"/>
                <a:cs typeface="Cambria" pitchFamily="34" charset="-120"/>
              </a:rPr>
              <a:t>Frontend Interface</a:t>
            </a:r>
            <a:endParaRPr lang="en-US" sz="1750" dirty="0"/>
          </a:p>
        </p:txBody>
      </p:sp>
      <p:sp>
        <p:nvSpPr>
          <p:cNvPr id="6" name="Text 4"/>
          <p:cNvSpPr/>
          <p:nvPr/>
        </p:nvSpPr>
        <p:spPr>
          <a:xfrm>
            <a:off x="4206240" y="1783080"/>
            <a:ext cx="7040880" cy="77724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React 19 + Vite — Dashboards, GIS Map, Species/Audio Labs, Report Export</a:t>
            </a:r>
            <a:endParaRPr lang="en-US" sz="1350" dirty="0"/>
          </a:p>
        </p:txBody>
      </p:sp>
      <p:sp>
        <p:nvSpPr>
          <p:cNvPr id="7" name="Text 5"/>
          <p:cNvSpPr/>
          <p:nvPr/>
        </p:nvSpPr>
        <p:spPr>
          <a:xfrm>
            <a:off x="5897880" y="2656332"/>
            <a:ext cx="365760" cy="155448"/>
          </a:xfrm>
          <a:prstGeom prst="rect">
            <a:avLst/>
          </a:prstGeom>
          <a:noFill/>
          <a:ln/>
        </p:spPr>
        <p:txBody>
          <a:bodyPr wrap="square" rtlCol="0" anchor="ctr"/>
          <a:lstStyle/>
          <a:p>
            <a:pPr marL="0" indent="0" algn="ctr">
              <a:buNone/>
            </a:pPr>
            <a:r>
              <a:rPr lang="en-US" sz="1300" dirty="0">
                <a:solidFill>
                  <a:srgbClr val="556259"/>
                </a:solidFill>
                <a:latin typeface="Calibri" pitchFamily="34" charset="0"/>
                <a:ea typeface="Calibri" pitchFamily="34" charset="-122"/>
                <a:cs typeface="Calibri" pitchFamily="34" charset="-120"/>
              </a:rPr>
              <a:t>▼</a:t>
            </a:r>
            <a:endParaRPr lang="en-US" sz="1300" dirty="0"/>
          </a:p>
        </p:txBody>
      </p:sp>
      <p:sp>
        <p:nvSpPr>
          <p:cNvPr id="8" name="Shape 6"/>
          <p:cNvSpPr/>
          <p:nvPr/>
        </p:nvSpPr>
        <p:spPr>
          <a:xfrm>
            <a:off x="640080" y="2816352"/>
            <a:ext cx="10881360" cy="960120"/>
          </a:xfrm>
          <a:prstGeom prst="roundRect">
            <a:avLst>
              <a:gd name="adj" fmla="val 5714"/>
            </a:avLst>
          </a:prstGeom>
          <a:solidFill>
            <a:srgbClr val="52796F"/>
          </a:solidFill>
          <a:ln/>
        </p:spPr>
      </p:sp>
      <p:sp>
        <p:nvSpPr>
          <p:cNvPr id="9" name="Text 7"/>
          <p:cNvSpPr/>
          <p:nvPr/>
        </p:nvSpPr>
        <p:spPr>
          <a:xfrm>
            <a:off x="914400" y="2907792"/>
            <a:ext cx="3291840" cy="777240"/>
          </a:xfrm>
          <a:prstGeom prst="rect">
            <a:avLst/>
          </a:prstGeom>
          <a:noFill/>
          <a:ln/>
        </p:spPr>
        <p:txBody>
          <a:bodyPr wrap="square" rtlCol="0" anchor="ctr"/>
          <a:lstStyle/>
          <a:p>
            <a:pPr marL="0" indent="0">
              <a:buNone/>
            </a:pPr>
            <a:r>
              <a:rPr lang="en-US" sz="1750" b="1" dirty="0">
                <a:solidFill>
                  <a:srgbClr val="FFFFFF"/>
                </a:solidFill>
                <a:latin typeface="Cambria" pitchFamily="34" charset="0"/>
                <a:ea typeface="Cambria" pitchFamily="34" charset="-122"/>
                <a:cs typeface="Cambria" pitchFamily="34" charset="-120"/>
              </a:rPr>
              <a:t>API Gateway</a:t>
            </a:r>
            <a:endParaRPr lang="en-US" sz="1750" dirty="0"/>
          </a:p>
        </p:txBody>
      </p:sp>
      <p:sp>
        <p:nvSpPr>
          <p:cNvPr id="10" name="Text 8"/>
          <p:cNvSpPr/>
          <p:nvPr/>
        </p:nvSpPr>
        <p:spPr>
          <a:xfrm>
            <a:off x="4206240" y="2907792"/>
            <a:ext cx="7040880" cy="77724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REST API (JSON / JWT) — FastAPI routers across every module</a:t>
            </a:r>
            <a:endParaRPr lang="en-US" sz="1350" dirty="0"/>
          </a:p>
        </p:txBody>
      </p:sp>
      <p:sp>
        <p:nvSpPr>
          <p:cNvPr id="11" name="Text 9"/>
          <p:cNvSpPr/>
          <p:nvPr/>
        </p:nvSpPr>
        <p:spPr>
          <a:xfrm>
            <a:off x="5897880" y="3781044"/>
            <a:ext cx="365760" cy="155448"/>
          </a:xfrm>
          <a:prstGeom prst="rect">
            <a:avLst/>
          </a:prstGeom>
          <a:noFill/>
          <a:ln/>
        </p:spPr>
        <p:txBody>
          <a:bodyPr wrap="square" rtlCol="0" anchor="ctr"/>
          <a:lstStyle/>
          <a:p>
            <a:pPr marL="0" indent="0" algn="ctr">
              <a:buNone/>
            </a:pPr>
            <a:r>
              <a:rPr lang="en-US" sz="1300" dirty="0">
                <a:solidFill>
                  <a:srgbClr val="556259"/>
                </a:solidFill>
                <a:latin typeface="Calibri" pitchFamily="34" charset="0"/>
                <a:ea typeface="Calibri" pitchFamily="34" charset="-122"/>
                <a:cs typeface="Calibri" pitchFamily="34" charset="-120"/>
              </a:rPr>
              <a:t>▼</a:t>
            </a:r>
            <a:endParaRPr lang="en-US" sz="1300" dirty="0"/>
          </a:p>
        </p:txBody>
      </p:sp>
      <p:sp>
        <p:nvSpPr>
          <p:cNvPr id="12" name="Shape 10"/>
          <p:cNvSpPr/>
          <p:nvPr/>
        </p:nvSpPr>
        <p:spPr>
          <a:xfrm>
            <a:off x="640080" y="3941064"/>
            <a:ext cx="10881360" cy="960120"/>
          </a:xfrm>
          <a:prstGeom prst="roundRect">
            <a:avLst>
              <a:gd name="adj" fmla="val 5714"/>
            </a:avLst>
          </a:prstGeom>
          <a:solidFill>
            <a:srgbClr val="84A98C"/>
          </a:solidFill>
          <a:ln/>
        </p:spPr>
      </p:sp>
      <p:sp>
        <p:nvSpPr>
          <p:cNvPr id="13" name="Text 11"/>
          <p:cNvSpPr/>
          <p:nvPr/>
        </p:nvSpPr>
        <p:spPr>
          <a:xfrm>
            <a:off x="914400" y="4032504"/>
            <a:ext cx="3291840" cy="777240"/>
          </a:xfrm>
          <a:prstGeom prst="rect">
            <a:avLst/>
          </a:prstGeom>
          <a:noFill/>
          <a:ln/>
        </p:spPr>
        <p:txBody>
          <a:bodyPr wrap="square" rtlCol="0" anchor="ctr"/>
          <a:lstStyle/>
          <a:p>
            <a:pPr marL="0" indent="0">
              <a:buNone/>
            </a:pPr>
            <a:r>
              <a:rPr lang="en-US" sz="1750" b="1" dirty="0">
                <a:solidFill>
                  <a:srgbClr val="FFFFFF"/>
                </a:solidFill>
                <a:latin typeface="Cambria" pitchFamily="34" charset="0"/>
                <a:ea typeface="Cambria" pitchFamily="34" charset="-122"/>
                <a:cs typeface="Cambria" pitchFamily="34" charset="-120"/>
              </a:rPr>
              <a:t>AI / ML &amp; Analytics Layer</a:t>
            </a:r>
            <a:endParaRPr lang="en-US" sz="1750" dirty="0"/>
          </a:p>
        </p:txBody>
      </p:sp>
      <p:sp>
        <p:nvSpPr>
          <p:cNvPr id="14" name="Text 12"/>
          <p:cNvSpPr/>
          <p:nvPr/>
        </p:nvSpPr>
        <p:spPr>
          <a:xfrm>
            <a:off x="4206240" y="4032504"/>
            <a:ext cx="7040880" cy="77724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Vision (YOLOv8/PyTorch) · Bioacoustics (Librosa) · Population &amp; Habitat · Conservation Scoring · GIS</a:t>
            </a:r>
            <a:endParaRPr lang="en-US" sz="1350" dirty="0"/>
          </a:p>
        </p:txBody>
      </p:sp>
      <p:sp>
        <p:nvSpPr>
          <p:cNvPr id="15" name="Text 13"/>
          <p:cNvSpPr/>
          <p:nvPr/>
        </p:nvSpPr>
        <p:spPr>
          <a:xfrm>
            <a:off x="5897880" y="4905756"/>
            <a:ext cx="365760" cy="155448"/>
          </a:xfrm>
          <a:prstGeom prst="rect">
            <a:avLst/>
          </a:prstGeom>
          <a:noFill/>
          <a:ln/>
        </p:spPr>
        <p:txBody>
          <a:bodyPr wrap="square" rtlCol="0" anchor="ctr"/>
          <a:lstStyle/>
          <a:p>
            <a:pPr marL="0" indent="0" algn="ctr">
              <a:buNone/>
            </a:pPr>
            <a:r>
              <a:rPr lang="en-US" sz="1300" dirty="0">
                <a:solidFill>
                  <a:srgbClr val="556259"/>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640080" y="5065776"/>
            <a:ext cx="10881360" cy="960120"/>
          </a:xfrm>
          <a:prstGeom prst="roundRect">
            <a:avLst>
              <a:gd name="adj" fmla="val 5714"/>
            </a:avLst>
          </a:prstGeom>
          <a:solidFill>
            <a:srgbClr val="B5802E"/>
          </a:solidFill>
          <a:ln/>
        </p:spPr>
      </p:sp>
      <p:sp>
        <p:nvSpPr>
          <p:cNvPr id="17" name="Text 15"/>
          <p:cNvSpPr/>
          <p:nvPr/>
        </p:nvSpPr>
        <p:spPr>
          <a:xfrm>
            <a:off x="914400" y="5157216"/>
            <a:ext cx="3291840" cy="777240"/>
          </a:xfrm>
          <a:prstGeom prst="rect">
            <a:avLst/>
          </a:prstGeom>
          <a:noFill/>
          <a:ln/>
        </p:spPr>
        <p:txBody>
          <a:bodyPr wrap="square" rtlCol="0" anchor="ctr"/>
          <a:lstStyle/>
          <a:p>
            <a:pPr marL="0" indent="0">
              <a:buNone/>
            </a:pPr>
            <a:r>
              <a:rPr lang="en-US" sz="1750" b="1" dirty="0">
                <a:solidFill>
                  <a:srgbClr val="FFFFFF"/>
                </a:solidFill>
                <a:latin typeface="Cambria" pitchFamily="34" charset="0"/>
                <a:ea typeface="Cambria" pitchFamily="34" charset="-122"/>
                <a:cs typeface="Cambria" pitchFamily="34" charset="-120"/>
              </a:rPr>
              <a:t>Data Layer</a:t>
            </a:r>
            <a:endParaRPr lang="en-US" sz="1750" dirty="0"/>
          </a:p>
        </p:txBody>
      </p:sp>
      <p:sp>
        <p:nvSpPr>
          <p:cNvPr id="18" name="Text 16"/>
          <p:cNvSpPr/>
          <p:nvPr/>
        </p:nvSpPr>
        <p:spPr>
          <a:xfrm>
            <a:off x="4206240" y="5157216"/>
            <a:ext cx="7040880" cy="77724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PostgreSQL / PostGIS (relational + spatial) · MongoDB (sensor &amp; media logs)</a:t>
            </a:r>
            <a:endParaRPr lang="en-US" sz="1350" dirty="0"/>
          </a:p>
        </p:txBody>
      </p:sp>
      <p:sp>
        <p:nvSpPr>
          <p:cNvPr id="19" name="Text 17"/>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20" name="Text 18"/>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DATA LIFECYCLE</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End-to-End Wildlife Monitoring Workflow</a:t>
            </a:r>
            <a:endParaRPr lang="en-US" sz="3000" dirty="0"/>
          </a:p>
        </p:txBody>
      </p:sp>
      <p:sp>
        <p:nvSpPr>
          <p:cNvPr id="4" name="Shape 2"/>
          <p:cNvSpPr/>
          <p:nvPr/>
        </p:nvSpPr>
        <p:spPr>
          <a:xfrm>
            <a:off x="548640" y="1920240"/>
            <a:ext cx="2084832" cy="3108960"/>
          </a:xfrm>
          <a:prstGeom prst="roundRect">
            <a:avLst>
              <a:gd name="adj" fmla="val 3509"/>
            </a:avLst>
          </a:prstGeom>
          <a:solidFill>
            <a:srgbClr val="1B4332"/>
          </a:solidFill>
          <a:ln w="12700">
            <a:solidFill>
              <a:srgbClr val="CAD2C5"/>
            </a:solidFill>
            <a:prstDash val="solid"/>
          </a:ln>
          <a:effectLst>
            <a:outerShdw blurRad="76200" dist="25400" dir="5400000" algn="bl" rotWithShape="0">
              <a:srgbClr val="1B4332">
                <a:alpha val="12000"/>
              </a:srgbClr>
            </a:outerShdw>
          </a:effectLst>
        </p:spPr>
      </p:sp>
      <p:sp>
        <p:nvSpPr>
          <p:cNvPr id="5" name="Text 3"/>
          <p:cNvSpPr/>
          <p:nvPr/>
        </p:nvSpPr>
        <p:spPr>
          <a:xfrm>
            <a:off x="713232" y="2084832"/>
            <a:ext cx="914400" cy="548640"/>
          </a:xfrm>
          <a:prstGeom prst="rect">
            <a:avLst/>
          </a:prstGeom>
          <a:noFill/>
          <a:ln/>
        </p:spPr>
        <p:txBody>
          <a:bodyPr wrap="square" rtlCol="0" anchor="ctr"/>
          <a:lstStyle/>
          <a:p>
            <a:pPr marL="0" indent="0">
              <a:buNone/>
            </a:pPr>
            <a:r>
              <a:rPr lang="en-US" sz="3050" b="1" dirty="0">
                <a:solidFill>
                  <a:srgbClr val="D9A441"/>
                </a:solidFill>
                <a:latin typeface="Cambria" pitchFamily="34" charset="0"/>
                <a:ea typeface="Cambria" pitchFamily="34" charset="-122"/>
                <a:cs typeface="Cambria" pitchFamily="34" charset="-120"/>
              </a:rPr>
              <a:t>1</a:t>
            </a:r>
            <a:endParaRPr lang="en-US" sz="3050" dirty="0"/>
          </a:p>
        </p:txBody>
      </p:sp>
      <p:sp>
        <p:nvSpPr>
          <p:cNvPr id="6" name="Text 4"/>
          <p:cNvSpPr/>
          <p:nvPr/>
        </p:nvSpPr>
        <p:spPr>
          <a:xfrm>
            <a:off x="713232" y="2670048"/>
            <a:ext cx="1755648" cy="6858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Data Ingestion</a:t>
            </a:r>
            <a:endParaRPr lang="en-US" sz="1600" dirty="0"/>
          </a:p>
        </p:txBody>
      </p:sp>
      <p:sp>
        <p:nvSpPr>
          <p:cNvPr id="7" name="Text 5"/>
          <p:cNvSpPr/>
          <p:nvPr/>
        </p:nvSpPr>
        <p:spPr>
          <a:xfrm>
            <a:off x="713232" y="3337560"/>
            <a:ext cx="1755648" cy="1554480"/>
          </a:xfrm>
          <a:prstGeom prst="rect">
            <a:avLst/>
          </a:prstGeom>
          <a:noFill/>
          <a:ln/>
        </p:spPr>
        <p:txBody>
          <a:bodyPr wrap="square" rtlCol="0" anchor="ctr"/>
          <a:lstStyle/>
          <a:p>
            <a:pPr marL="0" indent="0">
              <a:buNone/>
            </a:pPr>
            <a:r>
              <a:rPr lang="en-US" sz="1250" dirty="0">
                <a:solidFill>
                  <a:srgbClr val="CAD2C5"/>
                </a:solidFill>
                <a:latin typeface="Calibri" pitchFamily="34" charset="0"/>
                <a:ea typeface="Calibri" pitchFamily="34" charset="-122"/>
                <a:cs typeface="Calibri" pitchFamily="34" charset="-120"/>
              </a:rPr>
              <a:t>Camera trap images, drone imagery &amp; telemetry ingestion</a:t>
            </a:r>
            <a:endParaRPr lang="en-US" sz="1250" dirty="0"/>
          </a:p>
        </p:txBody>
      </p:sp>
      <p:sp>
        <p:nvSpPr>
          <p:cNvPr id="8" name="Text 6"/>
          <p:cNvSpPr/>
          <p:nvPr/>
        </p:nvSpPr>
        <p:spPr>
          <a:xfrm>
            <a:off x="2633472" y="3246120"/>
            <a:ext cx="118872" cy="457200"/>
          </a:xfrm>
          <a:prstGeom prst="rect">
            <a:avLst/>
          </a:prstGeom>
          <a:noFill/>
          <a:ln/>
        </p:spPr>
        <p:txBody>
          <a:bodyPr wrap="square" rtlCol="0" anchor="ctr"/>
          <a:lstStyle/>
          <a:p>
            <a:pPr marL="0" indent="0" algn="ctr">
              <a:buNone/>
            </a:pPr>
            <a:r>
              <a:rPr lang="en-US" sz="1900" b="1" dirty="0">
                <a:solidFill>
                  <a:srgbClr val="B5802E"/>
                </a:solidFill>
                <a:latin typeface="Calibri" pitchFamily="34" charset="0"/>
                <a:ea typeface="Calibri" pitchFamily="34" charset="-122"/>
                <a:cs typeface="Calibri" pitchFamily="34" charset="-120"/>
              </a:rPr>
              <a:t>→</a:t>
            </a:r>
            <a:endParaRPr lang="en-US" sz="1900" dirty="0"/>
          </a:p>
        </p:txBody>
      </p:sp>
      <p:sp>
        <p:nvSpPr>
          <p:cNvPr id="9" name="Shape 7"/>
          <p:cNvSpPr/>
          <p:nvPr/>
        </p:nvSpPr>
        <p:spPr>
          <a:xfrm>
            <a:off x="2752344" y="1920240"/>
            <a:ext cx="2084832" cy="3108960"/>
          </a:xfrm>
          <a:prstGeom prst="roundRect">
            <a:avLst>
              <a:gd name="adj" fmla="val 3509"/>
            </a:avLst>
          </a:prstGeom>
          <a:solidFill>
            <a:srgbClr val="52796F"/>
          </a:solidFill>
          <a:ln w="12700">
            <a:solidFill>
              <a:srgbClr val="CAD2C5"/>
            </a:solidFill>
            <a:prstDash val="solid"/>
          </a:ln>
          <a:effectLst>
            <a:outerShdw blurRad="76200" dist="25400" dir="5400000" algn="bl" rotWithShape="0">
              <a:srgbClr val="1B4332">
                <a:alpha val="12000"/>
              </a:srgbClr>
            </a:outerShdw>
          </a:effectLst>
        </p:spPr>
      </p:sp>
      <p:sp>
        <p:nvSpPr>
          <p:cNvPr id="10" name="Text 8"/>
          <p:cNvSpPr/>
          <p:nvPr/>
        </p:nvSpPr>
        <p:spPr>
          <a:xfrm>
            <a:off x="2916936" y="2084832"/>
            <a:ext cx="914400" cy="548640"/>
          </a:xfrm>
          <a:prstGeom prst="rect">
            <a:avLst/>
          </a:prstGeom>
          <a:noFill/>
          <a:ln/>
        </p:spPr>
        <p:txBody>
          <a:bodyPr wrap="square" rtlCol="0" anchor="ctr"/>
          <a:lstStyle/>
          <a:p>
            <a:pPr marL="0" indent="0">
              <a:buNone/>
            </a:pPr>
            <a:r>
              <a:rPr lang="en-US" sz="3050" b="1" dirty="0">
                <a:solidFill>
                  <a:srgbClr val="D9A441"/>
                </a:solidFill>
                <a:latin typeface="Cambria" pitchFamily="34" charset="0"/>
                <a:ea typeface="Cambria" pitchFamily="34" charset="-122"/>
                <a:cs typeface="Cambria" pitchFamily="34" charset="-120"/>
              </a:rPr>
              <a:t>2</a:t>
            </a:r>
            <a:endParaRPr lang="en-US" sz="3050" dirty="0"/>
          </a:p>
        </p:txBody>
      </p:sp>
      <p:sp>
        <p:nvSpPr>
          <p:cNvPr id="11" name="Text 9"/>
          <p:cNvSpPr/>
          <p:nvPr/>
        </p:nvSpPr>
        <p:spPr>
          <a:xfrm>
            <a:off x="2916936" y="2670048"/>
            <a:ext cx="1755648" cy="6858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AI Detection</a:t>
            </a:r>
            <a:endParaRPr lang="en-US" sz="1600" dirty="0"/>
          </a:p>
        </p:txBody>
      </p:sp>
      <p:sp>
        <p:nvSpPr>
          <p:cNvPr id="12" name="Text 10"/>
          <p:cNvSpPr/>
          <p:nvPr/>
        </p:nvSpPr>
        <p:spPr>
          <a:xfrm>
            <a:off x="2916936" y="3337560"/>
            <a:ext cx="1755648" cy="1554480"/>
          </a:xfrm>
          <a:prstGeom prst="rect">
            <a:avLst/>
          </a:prstGeom>
          <a:noFill/>
          <a:ln/>
        </p:spPr>
        <p:txBody>
          <a:bodyPr wrap="square" rtlCol="0" anchor="ctr"/>
          <a:lstStyle/>
          <a:p>
            <a:pPr marL="0" indent="0">
              <a:buNone/>
            </a:pPr>
            <a:r>
              <a:rPr lang="en-US" sz="1250" dirty="0">
                <a:solidFill>
                  <a:srgbClr val="CAD2C5"/>
                </a:solidFill>
                <a:latin typeface="Calibri" pitchFamily="34" charset="0"/>
                <a:ea typeface="Calibri" pitchFamily="34" charset="-122"/>
                <a:cs typeface="Calibri" pitchFamily="34" charset="-120"/>
              </a:rPr>
              <a:t>YOLOv8 species detection, bioacoustic call classification</a:t>
            </a:r>
            <a:endParaRPr lang="en-US" sz="1250" dirty="0"/>
          </a:p>
        </p:txBody>
      </p:sp>
      <p:sp>
        <p:nvSpPr>
          <p:cNvPr id="13" name="Text 11"/>
          <p:cNvSpPr/>
          <p:nvPr/>
        </p:nvSpPr>
        <p:spPr>
          <a:xfrm>
            <a:off x="4837176" y="3246120"/>
            <a:ext cx="118872" cy="457200"/>
          </a:xfrm>
          <a:prstGeom prst="rect">
            <a:avLst/>
          </a:prstGeom>
          <a:noFill/>
          <a:ln/>
        </p:spPr>
        <p:txBody>
          <a:bodyPr wrap="square" rtlCol="0" anchor="ctr"/>
          <a:lstStyle/>
          <a:p>
            <a:pPr marL="0" indent="0" algn="ctr">
              <a:buNone/>
            </a:pPr>
            <a:r>
              <a:rPr lang="en-US" sz="1900" b="1" dirty="0">
                <a:solidFill>
                  <a:srgbClr val="B5802E"/>
                </a:solidFill>
                <a:latin typeface="Calibri" pitchFamily="34" charset="0"/>
                <a:ea typeface="Calibri" pitchFamily="34" charset="-122"/>
                <a:cs typeface="Calibri" pitchFamily="34" charset="-120"/>
              </a:rPr>
              <a:t>→</a:t>
            </a:r>
            <a:endParaRPr lang="en-US" sz="1900" dirty="0"/>
          </a:p>
        </p:txBody>
      </p:sp>
      <p:sp>
        <p:nvSpPr>
          <p:cNvPr id="14" name="Shape 12"/>
          <p:cNvSpPr/>
          <p:nvPr/>
        </p:nvSpPr>
        <p:spPr>
          <a:xfrm>
            <a:off x="4956048" y="1920240"/>
            <a:ext cx="2084832" cy="3108960"/>
          </a:xfrm>
          <a:prstGeom prst="roundRect">
            <a:avLst>
              <a:gd name="adj" fmla="val 3509"/>
            </a:avLst>
          </a:prstGeom>
          <a:solidFill>
            <a:srgbClr val="1B4332"/>
          </a:solidFill>
          <a:ln w="12700">
            <a:solidFill>
              <a:srgbClr val="CAD2C5"/>
            </a:solidFill>
            <a:prstDash val="solid"/>
          </a:ln>
          <a:effectLst>
            <a:outerShdw blurRad="76200" dist="25400" dir="5400000" algn="bl" rotWithShape="0">
              <a:srgbClr val="1B4332">
                <a:alpha val="12000"/>
              </a:srgbClr>
            </a:outerShdw>
          </a:effectLst>
        </p:spPr>
      </p:sp>
      <p:sp>
        <p:nvSpPr>
          <p:cNvPr id="15" name="Text 13"/>
          <p:cNvSpPr/>
          <p:nvPr/>
        </p:nvSpPr>
        <p:spPr>
          <a:xfrm>
            <a:off x="5120640" y="2084832"/>
            <a:ext cx="914400" cy="548640"/>
          </a:xfrm>
          <a:prstGeom prst="rect">
            <a:avLst/>
          </a:prstGeom>
          <a:noFill/>
          <a:ln/>
        </p:spPr>
        <p:txBody>
          <a:bodyPr wrap="square" rtlCol="0" anchor="ctr"/>
          <a:lstStyle/>
          <a:p>
            <a:pPr marL="0" indent="0">
              <a:buNone/>
            </a:pPr>
            <a:r>
              <a:rPr lang="en-US" sz="3050" b="1" dirty="0">
                <a:solidFill>
                  <a:srgbClr val="D9A441"/>
                </a:solidFill>
                <a:latin typeface="Cambria" pitchFamily="34" charset="0"/>
                <a:ea typeface="Cambria" pitchFamily="34" charset="-122"/>
                <a:cs typeface="Cambria" pitchFamily="34" charset="-120"/>
              </a:rPr>
              <a:t>3</a:t>
            </a:r>
            <a:endParaRPr lang="en-US" sz="3050" dirty="0"/>
          </a:p>
        </p:txBody>
      </p:sp>
      <p:sp>
        <p:nvSpPr>
          <p:cNvPr id="16" name="Text 14"/>
          <p:cNvSpPr/>
          <p:nvPr/>
        </p:nvSpPr>
        <p:spPr>
          <a:xfrm>
            <a:off x="5120640" y="2670048"/>
            <a:ext cx="1755648" cy="6858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Population &amp; Habitat Analytics</a:t>
            </a:r>
            <a:endParaRPr lang="en-US" sz="1600" dirty="0"/>
          </a:p>
        </p:txBody>
      </p:sp>
      <p:sp>
        <p:nvSpPr>
          <p:cNvPr id="17" name="Text 15"/>
          <p:cNvSpPr/>
          <p:nvPr/>
        </p:nvSpPr>
        <p:spPr>
          <a:xfrm>
            <a:off x="5120640" y="3337560"/>
            <a:ext cx="1755648" cy="1554480"/>
          </a:xfrm>
          <a:prstGeom prst="rect">
            <a:avLst/>
          </a:prstGeom>
          <a:noFill/>
          <a:ln/>
        </p:spPr>
        <p:txBody>
          <a:bodyPr wrap="square" rtlCol="0" anchor="ctr"/>
          <a:lstStyle/>
          <a:p>
            <a:pPr marL="0" indent="0">
              <a:buNone/>
            </a:pPr>
            <a:r>
              <a:rPr lang="en-US" sz="1250" dirty="0">
                <a:solidFill>
                  <a:srgbClr val="CAD2C5"/>
                </a:solidFill>
                <a:latin typeface="Calibri" pitchFamily="34" charset="0"/>
                <a:ea typeface="Calibri" pitchFamily="34" charset="-122"/>
                <a:cs typeface="Calibri" pitchFamily="34" charset="-120"/>
              </a:rPr>
              <a:t>N = n/p abundance, migration corridors, NDVI habitat scoring</a:t>
            </a:r>
            <a:endParaRPr lang="en-US" sz="1250" dirty="0"/>
          </a:p>
        </p:txBody>
      </p:sp>
      <p:sp>
        <p:nvSpPr>
          <p:cNvPr id="18" name="Text 16"/>
          <p:cNvSpPr/>
          <p:nvPr/>
        </p:nvSpPr>
        <p:spPr>
          <a:xfrm>
            <a:off x="7040880" y="3246120"/>
            <a:ext cx="118872" cy="457200"/>
          </a:xfrm>
          <a:prstGeom prst="rect">
            <a:avLst/>
          </a:prstGeom>
          <a:noFill/>
          <a:ln/>
        </p:spPr>
        <p:txBody>
          <a:bodyPr wrap="square" rtlCol="0" anchor="ctr"/>
          <a:lstStyle/>
          <a:p>
            <a:pPr marL="0" indent="0" algn="ctr">
              <a:buNone/>
            </a:pPr>
            <a:r>
              <a:rPr lang="en-US" sz="1900" b="1" dirty="0">
                <a:solidFill>
                  <a:srgbClr val="B5802E"/>
                </a:solidFill>
                <a:latin typeface="Calibri" pitchFamily="34" charset="0"/>
                <a:ea typeface="Calibri" pitchFamily="34" charset="-122"/>
                <a:cs typeface="Calibri" pitchFamily="34" charset="-120"/>
              </a:rPr>
              <a:t>→</a:t>
            </a:r>
            <a:endParaRPr lang="en-US" sz="1900" dirty="0"/>
          </a:p>
        </p:txBody>
      </p:sp>
      <p:sp>
        <p:nvSpPr>
          <p:cNvPr id="19" name="Shape 17"/>
          <p:cNvSpPr/>
          <p:nvPr/>
        </p:nvSpPr>
        <p:spPr>
          <a:xfrm>
            <a:off x="7159752" y="1920240"/>
            <a:ext cx="2084832" cy="3108960"/>
          </a:xfrm>
          <a:prstGeom prst="roundRect">
            <a:avLst>
              <a:gd name="adj" fmla="val 3509"/>
            </a:avLst>
          </a:prstGeom>
          <a:solidFill>
            <a:srgbClr val="52796F"/>
          </a:solidFill>
          <a:ln w="12700">
            <a:solidFill>
              <a:srgbClr val="CAD2C5"/>
            </a:solidFill>
            <a:prstDash val="solid"/>
          </a:ln>
          <a:effectLst>
            <a:outerShdw blurRad="76200" dist="25400" dir="5400000" algn="bl" rotWithShape="0">
              <a:srgbClr val="1B4332">
                <a:alpha val="12000"/>
              </a:srgbClr>
            </a:outerShdw>
          </a:effectLst>
        </p:spPr>
      </p:sp>
      <p:sp>
        <p:nvSpPr>
          <p:cNvPr id="20" name="Text 18"/>
          <p:cNvSpPr/>
          <p:nvPr/>
        </p:nvSpPr>
        <p:spPr>
          <a:xfrm>
            <a:off x="7324344" y="2084832"/>
            <a:ext cx="914400" cy="548640"/>
          </a:xfrm>
          <a:prstGeom prst="rect">
            <a:avLst/>
          </a:prstGeom>
          <a:noFill/>
          <a:ln/>
        </p:spPr>
        <p:txBody>
          <a:bodyPr wrap="square" rtlCol="0" anchor="ctr"/>
          <a:lstStyle/>
          <a:p>
            <a:pPr marL="0" indent="0">
              <a:buNone/>
            </a:pPr>
            <a:r>
              <a:rPr lang="en-US" sz="3050" b="1" dirty="0">
                <a:solidFill>
                  <a:srgbClr val="D9A441"/>
                </a:solidFill>
                <a:latin typeface="Cambria" pitchFamily="34" charset="0"/>
                <a:ea typeface="Cambria" pitchFamily="34" charset="-122"/>
                <a:cs typeface="Cambria" pitchFamily="34" charset="-120"/>
              </a:rPr>
              <a:t>4</a:t>
            </a:r>
            <a:endParaRPr lang="en-US" sz="3050" dirty="0"/>
          </a:p>
        </p:txBody>
      </p:sp>
      <p:sp>
        <p:nvSpPr>
          <p:cNvPr id="21" name="Text 19"/>
          <p:cNvSpPr/>
          <p:nvPr/>
        </p:nvSpPr>
        <p:spPr>
          <a:xfrm>
            <a:off x="7324344" y="2670048"/>
            <a:ext cx="1755648" cy="6858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Conservation Decision Engine</a:t>
            </a:r>
            <a:endParaRPr lang="en-US" sz="1600" dirty="0"/>
          </a:p>
        </p:txBody>
      </p:sp>
      <p:sp>
        <p:nvSpPr>
          <p:cNvPr id="22" name="Text 20"/>
          <p:cNvSpPr/>
          <p:nvPr/>
        </p:nvSpPr>
        <p:spPr>
          <a:xfrm>
            <a:off x="7324344" y="3337560"/>
            <a:ext cx="1755648" cy="1554480"/>
          </a:xfrm>
          <a:prstGeom prst="rect">
            <a:avLst/>
          </a:prstGeom>
          <a:noFill/>
          <a:ln/>
        </p:spPr>
        <p:txBody>
          <a:bodyPr wrap="square" rtlCol="0" anchor="ctr"/>
          <a:lstStyle/>
          <a:p>
            <a:pPr marL="0" indent="0">
              <a:buNone/>
            </a:pPr>
            <a:r>
              <a:rPr lang="en-US" sz="1250" dirty="0">
                <a:solidFill>
                  <a:srgbClr val="CAD2C5"/>
                </a:solidFill>
                <a:latin typeface="Calibri" pitchFamily="34" charset="0"/>
                <a:ea typeface="Calibri" pitchFamily="34" charset="-122"/>
                <a:cs typeface="Calibri" pitchFamily="34" charset="-120"/>
              </a:rPr>
              <a:t>5-factor weighted ecosystem health &amp; priority actions</a:t>
            </a:r>
            <a:endParaRPr lang="en-US" sz="1250" dirty="0"/>
          </a:p>
        </p:txBody>
      </p:sp>
      <p:sp>
        <p:nvSpPr>
          <p:cNvPr id="23" name="Text 21"/>
          <p:cNvSpPr/>
          <p:nvPr/>
        </p:nvSpPr>
        <p:spPr>
          <a:xfrm>
            <a:off x="9244584" y="3246120"/>
            <a:ext cx="118872" cy="457200"/>
          </a:xfrm>
          <a:prstGeom prst="rect">
            <a:avLst/>
          </a:prstGeom>
          <a:noFill/>
          <a:ln/>
        </p:spPr>
        <p:txBody>
          <a:bodyPr wrap="square" rtlCol="0" anchor="ctr"/>
          <a:lstStyle/>
          <a:p>
            <a:pPr marL="0" indent="0" algn="ctr">
              <a:buNone/>
            </a:pPr>
            <a:r>
              <a:rPr lang="en-US" sz="1900" b="1" dirty="0">
                <a:solidFill>
                  <a:srgbClr val="B5802E"/>
                </a:solidFill>
                <a:latin typeface="Calibri" pitchFamily="34" charset="0"/>
                <a:ea typeface="Calibri" pitchFamily="34" charset="-122"/>
                <a:cs typeface="Calibri" pitchFamily="34" charset="-120"/>
              </a:rPr>
              <a:t>→</a:t>
            </a:r>
            <a:endParaRPr lang="en-US" sz="1900" dirty="0"/>
          </a:p>
        </p:txBody>
      </p:sp>
      <p:sp>
        <p:nvSpPr>
          <p:cNvPr id="24" name="Shape 22"/>
          <p:cNvSpPr/>
          <p:nvPr/>
        </p:nvSpPr>
        <p:spPr>
          <a:xfrm>
            <a:off x="9363456" y="1920240"/>
            <a:ext cx="2084832" cy="3108960"/>
          </a:xfrm>
          <a:prstGeom prst="roundRect">
            <a:avLst>
              <a:gd name="adj" fmla="val 3509"/>
            </a:avLst>
          </a:prstGeom>
          <a:solidFill>
            <a:srgbClr val="1B4332"/>
          </a:solidFill>
          <a:ln w="12700">
            <a:solidFill>
              <a:srgbClr val="CAD2C5"/>
            </a:solidFill>
            <a:prstDash val="solid"/>
          </a:ln>
          <a:effectLst>
            <a:outerShdw blurRad="76200" dist="25400" dir="5400000" algn="bl" rotWithShape="0">
              <a:srgbClr val="1B4332">
                <a:alpha val="12000"/>
              </a:srgbClr>
            </a:outerShdw>
          </a:effectLst>
        </p:spPr>
      </p:sp>
      <p:sp>
        <p:nvSpPr>
          <p:cNvPr id="25" name="Text 23"/>
          <p:cNvSpPr/>
          <p:nvPr/>
        </p:nvSpPr>
        <p:spPr>
          <a:xfrm>
            <a:off x="9528048" y="2084832"/>
            <a:ext cx="914400" cy="548640"/>
          </a:xfrm>
          <a:prstGeom prst="rect">
            <a:avLst/>
          </a:prstGeom>
          <a:noFill/>
          <a:ln/>
        </p:spPr>
        <p:txBody>
          <a:bodyPr wrap="square" rtlCol="0" anchor="ctr"/>
          <a:lstStyle/>
          <a:p>
            <a:pPr marL="0" indent="0">
              <a:buNone/>
            </a:pPr>
            <a:r>
              <a:rPr lang="en-US" sz="3050" b="1" dirty="0">
                <a:solidFill>
                  <a:srgbClr val="D9A441"/>
                </a:solidFill>
                <a:latin typeface="Cambria" pitchFamily="34" charset="0"/>
                <a:ea typeface="Cambria" pitchFamily="34" charset="-122"/>
                <a:cs typeface="Cambria" pitchFamily="34" charset="-120"/>
              </a:rPr>
              <a:t>5</a:t>
            </a:r>
            <a:endParaRPr lang="en-US" sz="3050" dirty="0"/>
          </a:p>
        </p:txBody>
      </p:sp>
      <p:sp>
        <p:nvSpPr>
          <p:cNvPr id="26" name="Text 24"/>
          <p:cNvSpPr/>
          <p:nvPr/>
        </p:nvSpPr>
        <p:spPr>
          <a:xfrm>
            <a:off x="9528048" y="2670048"/>
            <a:ext cx="1755648" cy="6858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Executive Visualization &amp; Export</a:t>
            </a:r>
            <a:endParaRPr lang="en-US" sz="1600" dirty="0"/>
          </a:p>
        </p:txBody>
      </p:sp>
      <p:sp>
        <p:nvSpPr>
          <p:cNvPr id="27" name="Text 25"/>
          <p:cNvSpPr/>
          <p:nvPr/>
        </p:nvSpPr>
        <p:spPr>
          <a:xfrm>
            <a:off x="9528048" y="3337560"/>
            <a:ext cx="1755648" cy="1554480"/>
          </a:xfrm>
          <a:prstGeom prst="rect">
            <a:avLst/>
          </a:prstGeom>
          <a:noFill/>
          <a:ln/>
        </p:spPr>
        <p:txBody>
          <a:bodyPr wrap="square" rtlCol="0" anchor="ctr"/>
          <a:lstStyle/>
          <a:p>
            <a:pPr marL="0" indent="0">
              <a:buNone/>
            </a:pPr>
            <a:r>
              <a:rPr lang="en-US" sz="1250" dirty="0">
                <a:solidFill>
                  <a:srgbClr val="CAD2C5"/>
                </a:solidFill>
                <a:latin typeface="Calibri" pitchFamily="34" charset="0"/>
                <a:ea typeface="Calibri" pitchFamily="34" charset="-122"/>
                <a:cs typeface="Calibri" pitchFamily="34" charset="-120"/>
              </a:rPr>
              <a:t>GIS maps, dashboards, downloadable PDF / CSV reports</a:t>
            </a:r>
            <a:endParaRPr lang="en-US" sz="1250" dirty="0"/>
          </a:p>
        </p:txBody>
      </p:sp>
      <p:sp>
        <p:nvSpPr>
          <p:cNvPr id="28" name="Text 26"/>
          <p:cNvSpPr/>
          <p:nvPr/>
        </p:nvSpPr>
        <p:spPr>
          <a:xfrm>
            <a:off x="548640" y="5257800"/>
            <a:ext cx="10789920" cy="457200"/>
          </a:xfrm>
          <a:prstGeom prst="rect">
            <a:avLst/>
          </a:prstGeom>
          <a:noFill/>
          <a:ln/>
        </p:spPr>
        <p:txBody>
          <a:bodyPr wrap="square" rtlCol="0" anchor="ctr"/>
          <a:lstStyle/>
          <a:p>
            <a:pPr marL="0" indent="0">
              <a:buNone/>
            </a:pPr>
            <a:r>
              <a:rPr lang="en-US" sz="1400" i="1" dirty="0">
                <a:solidFill>
                  <a:srgbClr val="556259"/>
                </a:solidFill>
                <a:latin typeface="Calibri" pitchFamily="34" charset="0"/>
                <a:ea typeface="Calibri" pitchFamily="34" charset="-122"/>
                <a:cs typeface="Calibri" pitchFamily="34" charset="-120"/>
              </a:rPr>
              <a:t>Verified end-to-end: raw camera trap ingestion → automated conservation reporting, with zero data loss across the full pipeline.</a:t>
            </a:r>
            <a:endParaRPr lang="en-US" sz="1400" dirty="0"/>
          </a:p>
        </p:txBody>
      </p:sp>
      <p:sp>
        <p:nvSpPr>
          <p:cNvPr id="29" name="Text 27"/>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30" name="Text 28"/>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MILESTONE 1 · WEEKS 1–2</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Foundation, Auth &amp; Data Pipeline</a:t>
            </a:r>
            <a:endParaRPr lang="en-US" sz="3000" dirty="0"/>
          </a:p>
        </p:txBody>
      </p:sp>
      <p:sp>
        <p:nvSpPr>
          <p:cNvPr id="4" name="Text 2"/>
          <p:cNvSpPr/>
          <p:nvPr/>
        </p:nvSpPr>
        <p:spPr>
          <a:xfrm>
            <a:off x="548640" y="1417320"/>
            <a:ext cx="10789920" cy="502920"/>
          </a:xfrm>
          <a:prstGeom prst="rect">
            <a:avLst/>
          </a:prstGeom>
          <a:noFill/>
          <a:ln/>
        </p:spPr>
        <p:txBody>
          <a:bodyPr wrap="square" rtlCol="0" anchor="ctr"/>
          <a:lstStyle/>
          <a:p>
            <a:pPr marL="0" indent="0">
              <a:buNone/>
            </a:pPr>
            <a:r>
              <a:rPr lang="en-US" sz="1550" dirty="0">
                <a:solidFill>
                  <a:srgbClr val="556259"/>
                </a:solidFill>
                <a:latin typeface="Calibri" pitchFamily="34" charset="0"/>
                <a:ea typeface="Calibri" pitchFamily="34" charset="-122"/>
                <a:cs typeface="Calibri" pitchFamily="34" charset="-120"/>
              </a:rPr>
              <a:t>Project initialization, system architecture, database design, and secure role-based access — the base every later milestone builds on.</a:t>
            </a:r>
            <a:endParaRPr lang="en-US" sz="1550" dirty="0"/>
          </a:p>
        </p:txBody>
      </p:sp>
      <p:sp>
        <p:nvSpPr>
          <p:cNvPr id="5" name="Shape 3"/>
          <p:cNvSpPr/>
          <p:nvPr/>
        </p:nvSpPr>
        <p:spPr>
          <a:xfrm>
            <a:off x="548640" y="214884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6" name="Shape 4"/>
          <p:cNvSpPr/>
          <p:nvPr/>
        </p:nvSpPr>
        <p:spPr>
          <a:xfrm>
            <a:off x="749808" y="2331720"/>
            <a:ext cx="457200" cy="457200"/>
          </a:xfrm>
          <a:prstGeom prst="roundRect">
            <a:avLst>
              <a:gd name="adj" fmla="val 100000"/>
            </a:avLst>
          </a:prstGeom>
          <a:solidFill>
            <a:srgbClr val="1B4332"/>
          </a:solidFill>
          <a:ln/>
        </p:spPr>
      </p:sp>
      <p:sp>
        <p:nvSpPr>
          <p:cNvPr id="7" name="Text 5"/>
          <p:cNvSpPr/>
          <p:nvPr/>
        </p:nvSpPr>
        <p:spPr>
          <a:xfrm>
            <a:off x="749808" y="233172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1</a:t>
            </a:r>
            <a:endParaRPr lang="en-US" sz="1650" dirty="0"/>
          </a:p>
        </p:txBody>
      </p:sp>
      <p:sp>
        <p:nvSpPr>
          <p:cNvPr id="8" name="Text 6"/>
          <p:cNvSpPr/>
          <p:nvPr/>
        </p:nvSpPr>
        <p:spPr>
          <a:xfrm>
            <a:off x="749808" y="289864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JWT Auth &amp; RBAC</a:t>
            </a:r>
            <a:endParaRPr lang="en-US" sz="1550" dirty="0"/>
          </a:p>
        </p:txBody>
      </p:sp>
      <p:sp>
        <p:nvSpPr>
          <p:cNvPr id="9" name="Text 7"/>
          <p:cNvSpPr/>
          <p:nvPr/>
        </p:nvSpPr>
        <p:spPr>
          <a:xfrm>
            <a:off x="749808" y="322783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Wildlife Researcher, Conservation Officer, Forest Officer, Admin roles</a:t>
            </a:r>
            <a:endParaRPr lang="en-US" sz="1200" dirty="0"/>
          </a:p>
        </p:txBody>
      </p:sp>
      <p:sp>
        <p:nvSpPr>
          <p:cNvPr id="10" name="Shape 8"/>
          <p:cNvSpPr/>
          <p:nvPr/>
        </p:nvSpPr>
        <p:spPr>
          <a:xfrm>
            <a:off x="4206240" y="214884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1" name="Shape 9"/>
          <p:cNvSpPr/>
          <p:nvPr/>
        </p:nvSpPr>
        <p:spPr>
          <a:xfrm>
            <a:off x="4407408" y="2331720"/>
            <a:ext cx="457200" cy="457200"/>
          </a:xfrm>
          <a:prstGeom prst="roundRect">
            <a:avLst>
              <a:gd name="adj" fmla="val 100000"/>
            </a:avLst>
          </a:prstGeom>
          <a:solidFill>
            <a:srgbClr val="1B4332"/>
          </a:solidFill>
          <a:ln/>
        </p:spPr>
      </p:sp>
      <p:sp>
        <p:nvSpPr>
          <p:cNvPr id="12" name="Text 10"/>
          <p:cNvSpPr/>
          <p:nvPr/>
        </p:nvSpPr>
        <p:spPr>
          <a:xfrm>
            <a:off x="4407408" y="233172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2</a:t>
            </a:r>
            <a:endParaRPr lang="en-US" sz="1650" dirty="0"/>
          </a:p>
        </p:txBody>
      </p:sp>
      <p:sp>
        <p:nvSpPr>
          <p:cNvPr id="13" name="Text 11"/>
          <p:cNvSpPr/>
          <p:nvPr/>
        </p:nvSpPr>
        <p:spPr>
          <a:xfrm>
            <a:off x="4407408" y="289864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System Architecture</a:t>
            </a:r>
            <a:endParaRPr lang="en-US" sz="1550" dirty="0"/>
          </a:p>
        </p:txBody>
      </p:sp>
      <p:sp>
        <p:nvSpPr>
          <p:cNvPr id="14" name="Text 12"/>
          <p:cNvSpPr/>
          <p:nvPr/>
        </p:nvSpPr>
        <p:spPr>
          <a:xfrm>
            <a:off x="4407408" y="322783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React + Vite frontend, FastAPI backend, PostgreSQL/PostGIS + MongoDB</a:t>
            </a:r>
            <a:endParaRPr lang="en-US" sz="1200" dirty="0"/>
          </a:p>
        </p:txBody>
      </p:sp>
      <p:sp>
        <p:nvSpPr>
          <p:cNvPr id="15" name="Shape 13"/>
          <p:cNvSpPr/>
          <p:nvPr/>
        </p:nvSpPr>
        <p:spPr>
          <a:xfrm>
            <a:off x="7863840" y="214884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6" name="Shape 14"/>
          <p:cNvSpPr/>
          <p:nvPr/>
        </p:nvSpPr>
        <p:spPr>
          <a:xfrm>
            <a:off x="8065008" y="2331720"/>
            <a:ext cx="457200" cy="457200"/>
          </a:xfrm>
          <a:prstGeom prst="roundRect">
            <a:avLst>
              <a:gd name="adj" fmla="val 100000"/>
            </a:avLst>
          </a:prstGeom>
          <a:solidFill>
            <a:srgbClr val="1B4332"/>
          </a:solidFill>
          <a:ln/>
        </p:spPr>
      </p:sp>
      <p:sp>
        <p:nvSpPr>
          <p:cNvPr id="17" name="Text 15"/>
          <p:cNvSpPr/>
          <p:nvPr/>
        </p:nvSpPr>
        <p:spPr>
          <a:xfrm>
            <a:off x="8065008" y="233172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3</a:t>
            </a:r>
            <a:endParaRPr lang="en-US" sz="1650" dirty="0"/>
          </a:p>
        </p:txBody>
      </p:sp>
      <p:sp>
        <p:nvSpPr>
          <p:cNvPr id="18" name="Text 16"/>
          <p:cNvSpPr/>
          <p:nvPr/>
        </p:nvSpPr>
        <p:spPr>
          <a:xfrm>
            <a:off x="8065008" y="289864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Survey &amp; Monitoring Setup</a:t>
            </a:r>
            <a:endParaRPr lang="en-US" sz="1550" dirty="0"/>
          </a:p>
        </p:txBody>
      </p:sp>
      <p:sp>
        <p:nvSpPr>
          <p:cNvPr id="19" name="Text 17"/>
          <p:cNvSpPr/>
          <p:nvPr/>
        </p:nvSpPr>
        <p:spPr>
          <a:xfrm>
            <a:off x="8065008" y="322783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Site registration, camera trap &amp; audio sensor management</a:t>
            </a:r>
            <a:endParaRPr lang="en-US" sz="1200" dirty="0"/>
          </a:p>
        </p:txBody>
      </p:sp>
      <p:sp>
        <p:nvSpPr>
          <p:cNvPr id="20" name="Shape 18"/>
          <p:cNvSpPr/>
          <p:nvPr/>
        </p:nvSpPr>
        <p:spPr>
          <a:xfrm>
            <a:off x="548640" y="393192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1" name="Shape 19"/>
          <p:cNvSpPr/>
          <p:nvPr/>
        </p:nvSpPr>
        <p:spPr>
          <a:xfrm>
            <a:off x="749808" y="4114800"/>
            <a:ext cx="457200" cy="457200"/>
          </a:xfrm>
          <a:prstGeom prst="roundRect">
            <a:avLst>
              <a:gd name="adj" fmla="val 100000"/>
            </a:avLst>
          </a:prstGeom>
          <a:solidFill>
            <a:srgbClr val="1B4332"/>
          </a:solidFill>
          <a:ln/>
        </p:spPr>
      </p:sp>
      <p:sp>
        <p:nvSpPr>
          <p:cNvPr id="22" name="Text 20"/>
          <p:cNvSpPr/>
          <p:nvPr/>
        </p:nvSpPr>
        <p:spPr>
          <a:xfrm>
            <a:off x="749808" y="411480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4</a:t>
            </a:r>
            <a:endParaRPr lang="en-US" sz="1650" dirty="0"/>
          </a:p>
        </p:txBody>
      </p:sp>
      <p:sp>
        <p:nvSpPr>
          <p:cNvPr id="23" name="Text 21"/>
          <p:cNvSpPr/>
          <p:nvPr/>
        </p:nvSpPr>
        <p:spPr>
          <a:xfrm>
            <a:off x="749808" y="468172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Dataset Ingestion Pipeline</a:t>
            </a:r>
            <a:endParaRPr lang="en-US" sz="1550" dirty="0"/>
          </a:p>
        </p:txBody>
      </p:sp>
      <p:sp>
        <p:nvSpPr>
          <p:cNvPr id="24" name="Text 22"/>
          <p:cNvSpPr/>
          <p:nvPr/>
        </p:nvSpPr>
        <p:spPr>
          <a:xfrm>
            <a:off x="749808" y="501091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Snapshot Serengeti, iNaturalist, BirdCLEF, GBIF integration scripts</a:t>
            </a:r>
            <a:endParaRPr lang="en-US" sz="1200" dirty="0"/>
          </a:p>
        </p:txBody>
      </p:sp>
      <p:sp>
        <p:nvSpPr>
          <p:cNvPr id="25" name="Shape 23"/>
          <p:cNvSpPr/>
          <p:nvPr/>
        </p:nvSpPr>
        <p:spPr>
          <a:xfrm>
            <a:off x="4206240" y="393192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6" name="Shape 24"/>
          <p:cNvSpPr/>
          <p:nvPr/>
        </p:nvSpPr>
        <p:spPr>
          <a:xfrm>
            <a:off x="4407408" y="4114800"/>
            <a:ext cx="457200" cy="457200"/>
          </a:xfrm>
          <a:prstGeom prst="roundRect">
            <a:avLst>
              <a:gd name="adj" fmla="val 100000"/>
            </a:avLst>
          </a:prstGeom>
          <a:solidFill>
            <a:srgbClr val="1B4332"/>
          </a:solidFill>
          <a:ln/>
        </p:spPr>
      </p:sp>
      <p:sp>
        <p:nvSpPr>
          <p:cNvPr id="27" name="Text 25"/>
          <p:cNvSpPr/>
          <p:nvPr/>
        </p:nvSpPr>
        <p:spPr>
          <a:xfrm>
            <a:off x="4407408" y="411480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5</a:t>
            </a:r>
            <a:endParaRPr lang="en-US" sz="1650" dirty="0"/>
          </a:p>
        </p:txBody>
      </p:sp>
      <p:sp>
        <p:nvSpPr>
          <p:cNvPr id="28" name="Text 26"/>
          <p:cNvSpPr/>
          <p:nvPr/>
        </p:nvSpPr>
        <p:spPr>
          <a:xfrm>
            <a:off x="4407408" y="468172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Database Schema</a:t>
            </a:r>
            <a:endParaRPr lang="en-US" sz="1550" dirty="0"/>
          </a:p>
        </p:txBody>
      </p:sp>
      <p:sp>
        <p:nvSpPr>
          <p:cNvPr id="29" name="Text 27"/>
          <p:cNvSpPr/>
          <p:nvPr/>
        </p:nvSpPr>
        <p:spPr>
          <a:xfrm>
            <a:off x="4407408" y="501091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Users, surveys, monitoring sites, RBAC policy tables</a:t>
            </a:r>
            <a:endParaRPr lang="en-US" sz="1200" dirty="0"/>
          </a:p>
        </p:txBody>
      </p:sp>
      <p:sp>
        <p:nvSpPr>
          <p:cNvPr id="30" name="Shape 28"/>
          <p:cNvSpPr/>
          <p:nvPr/>
        </p:nvSpPr>
        <p:spPr>
          <a:xfrm>
            <a:off x="7863840" y="393192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31" name="Shape 29"/>
          <p:cNvSpPr/>
          <p:nvPr/>
        </p:nvSpPr>
        <p:spPr>
          <a:xfrm>
            <a:off x="8065008" y="4114800"/>
            <a:ext cx="457200" cy="457200"/>
          </a:xfrm>
          <a:prstGeom prst="roundRect">
            <a:avLst>
              <a:gd name="adj" fmla="val 100000"/>
            </a:avLst>
          </a:prstGeom>
          <a:solidFill>
            <a:srgbClr val="1B4332"/>
          </a:solidFill>
          <a:ln/>
        </p:spPr>
      </p:sp>
      <p:sp>
        <p:nvSpPr>
          <p:cNvPr id="32" name="Text 30"/>
          <p:cNvSpPr/>
          <p:nvPr/>
        </p:nvSpPr>
        <p:spPr>
          <a:xfrm>
            <a:off x="8065008" y="411480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6</a:t>
            </a:r>
            <a:endParaRPr lang="en-US" sz="1650" dirty="0"/>
          </a:p>
        </p:txBody>
      </p:sp>
      <p:sp>
        <p:nvSpPr>
          <p:cNvPr id="33" name="Text 31"/>
          <p:cNvSpPr/>
          <p:nvPr/>
        </p:nvSpPr>
        <p:spPr>
          <a:xfrm>
            <a:off x="8065008" y="468172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Frontend Scaffolding</a:t>
            </a:r>
            <a:endParaRPr lang="en-US" sz="1550" dirty="0"/>
          </a:p>
        </p:txBody>
      </p:sp>
      <p:sp>
        <p:nvSpPr>
          <p:cNvPr id="34" name="Text 32"/>
          <p:cNvSpPr/>
          <p:nvPr/>
        </p:nvSpPr>
        <p:spPr>
          <a:xfrm>
            <a:off x="8065008" y="501091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Core dashboard shell and design system</a:t>
            </a:r>
            <a:endParaRPr lang="en-US" sz="1200" dirty="0"/>
          </a:p>
        </p:txBody>
      </p:sp>
      <p:sp>
        <p:nvSpPr>
          <p:cNvPr id="35" name="Shape 33"/>
          <p:cNvSpPr/>
          <p:nvPr/>
        </p:nvSpPr>
        <p:spPr>
          <a:xfrm>
            <a:off x="548640" y="5806440"/>
            <a:ext cx="10881360" cy="566928"/>
          </a:xfrm>
          <a:prstGeom prst="roundRect">
            <a:avLst>
              <a:gd name="adj" fmla="val 12903"/>
            </a:avLst>
          </a:prstGeom>
          <a:solidFill>
            <a:srgbClr val="1B4332"/>
          </a:solidFill>
          <a:ln w="12700">
            <a:solidFill>
              <a:srgbClr val="1B4332"/>
            </a:solidFill>
            <a:prstDash val="solid"/>
          </a:ln>
        </p:spPr>
      </p:sp>
      <p:sp>
        <p:nvSpPr>
          <p:cNvPr id="36" name="Text 34"/>
          <p:cNvSpPr/>
          <p:nvPr/>
        </p:nvSpPr>
        <p:spPr>
          <a:xfrm>
            <a:off x="822960" y="5806440"/>
            <a:ext cx="10332720" cy="56692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Result: fully working authentication and wildlife monitoring foundation, verified against the official project specification.</a:t>
            </a:r>
            <a:endParaRPr lang="en-US" sz="1400" dirty="0"/>
          </a:p>
        </p:txBody>
      </p:sp>
      <p:sp>
        <p:nvSpPr>
          <p:cNvPr id="37" name="Text 35"/>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38" name="Text 36"/>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MILESTONE 2 · WEEKS 3–4</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Species Recognition &amp; Bioacoustic Intelligence</a:t>
            </a:r>
            <a:endParaRPr lang="en-US" sz="3000" dirty="0"/>
          </a:p>
        </p:txBody>
      </p:sp>
      <p:sp>
        <p:nvSpPr>
          <p:cNvPr id="4" name="Text 2"/>
          <p:cNvSpPr/>
          <p:nvPr/>
        </p:nvSpPr>
        <p:spPr>
          <a:xfrm>
            <a:off x="548640" y="1417320"/>
            <a:ext cx="10789920" cy="502920"/>
          </a:xfrm>
          <a:prstGeom prst="rect">
            <a:avLst/>
          </a:prstGeom>
          <a:noFill/>
          <a:ln/>
        </p:spPr>
        <p:txBody>
          <a:bodyPr wrap="square" rtlCol="0" anchor="ctr"/>
          <a:lstStyle/>
          <a:p>
            <a:pPr marL="0" indent="0">
              <a:buNone/>
            </a:pPr>
            <a:r>
              <a:rPr lang="en-US" sz="1550" dirty="0">
                <a:solidFill>
                  <a:srgbClr val="556259"/>
                </a:solidFill>
                <a:latin typeface="Calibri" pitchFamily="34" charset="0"/>
                <a:ea typeface="Calibri" pitchFamily="34" charset="-122"/>
                <a:cs typeface="Calibri" pitchFamily="34" charset="-120"/>
              </a:rPr>
              <a:t>The core intelligence layer — image-based species recognition, bioacoustic classification, biodiversity analytics, and automated PDF reporting.</a:t>
            </a:r>
            <a:endParaRPr lang="en-US" sz="1550" dirty="0"/>
          </a:p>
        </p:txBody>
      </p:sp>
      <p:sp>
        <p:nvSpPr>
          <p:cNvPr id="5" name="Shape 3"/>
          <p:cNvSpPr/>
          <p:nvPr/>
        </p:nvSpPr>
        <p:spPr>
          <a:xfrm>
            <a:off x="548640" y="214884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6" name="Shape 4"/>
          <p:cNvSpPr/>
          <p:nvPr/>
        </p:nvSpPr>
        <p:spPr>
          <a:xfrm>
            <a:off x="749808" y="2331720"/>
            <a:ext cx="457200" cy="457200"/>
          </a:xfrm>
          <a:prstGeom prst="roundRect">
            <a:avLst>
              <a:gd name="adj" fmla="val 100000"/>
            </a:avLst>
          </a:prstGeom>
          <a:solidFill>
            <a:srgbClr val="1B4332"/>
          </a:solidFill>
          <a:ln/>
        </p:spPr>
      </p:sp>
      <p:sp>
        <p:nvSpPr>
          <p:cNvPr id="7" name="Text 5"/>
          <p:cNvSpPr/>
          <p:nvPr/>
        </p:nvSpPr>
        <p:spPr>
          <a:xfrm>
            <a:off x="749808" y="233172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1</a:t>
            </a:r>
            <a:endParaRPr lang="en-US" sz="1650" dirty="0"/>
          </a:p>
        </p:txBody>
      </p:sp>
      <p:sp>
        <p:nvSpPr>
          <p:cNvPr id="8" name="Text 6"/>
          <p:cNvSpPr/>
          <p:nvPr/>
        </p:nvSpPr>
        <p:spPr>
          <a:xfrm>
            <a:off x="749808" y="289864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Vision Engine</a:t>
            </a:r>
            <a:endParaRPr lang="en-US" sz="1550" dirty="0"/>
          </a:p>
        </p:txBody>
      </p:sp>
      <p:sp>
        <p:nvSpPr>
          <p:cNvPr id="9" name="Text 7"/>
          <p:cNvSpPr/>
          <p:nvPr/>
        </p:nvSpPr>
        <p:spPr>
          <a:xfrm>
            <a:off x="749808" y="322783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PyTorch/YOLOv8 pipeline — detection, counting, behavior tagging</a:t>
            </a:r>
            <a:endParaRPr lang="en-US" sz="1200" dirty="0"/>
          </a:p>
        </p:txBody>
      </p:sp>
      <p:sp>
        <p:nvSpPr>
          <p:cNvPr id="10" name="Shape 8"/>
          <p:cNvSpPr/>
          <p:nvPr/>
        </p:nvSpPr>
        <p:spPr>
          <a:xfrm>
            <a:off x="4206240" y="214884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1" name="Shape 9"/>
          <p:cNvSpPr/>
          <p:nvPr/>
        </p:nvSpPr>
        <p:spPr>
          <a:xfrm>
            <a:off x="4407408" y="2331720"/>
            <a:ext cx="457200" cy="457200"/>
          </a:xfrm>
          <a:prstGeom prst="roundRect">
            <a:avLst>
              <a:gd name="adj" fmla="val 100000"/>
            </a:avLst>
          </a:prstGeom>
          <a:solidFill>
            <a:srgbClr val="1B4332"/>
          </a:solidFill>
          <a:ln/>
        </p:spPr>
      </p:sp>
      <p:sp>
        <p:nvSpPr>
          <p:cNvPr id="12" name="Text 10"/>
          <p:cNvSpPr/>
          <p:nvPr/>
        </p:nvSpPr>
        <p:spPr>
          <a:xfrm>
            <a:off x="4407408" y="233172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2</a:t>
            </a:r>
            <a:endParaRPr lang="en-US" sz="1650" dirty="0"/>
          </a:p>
        </p:txBody>
      </p:sp>
      <p:sp>
        <p:nvSpPr>
          <p:cNvPr id="13" name="Text 11"/>
          <p:cNvSpPr/>
          <p:nvPr/>
        </p:nvSpPr>
        <p:spPr>
          <a:xfrm>
            <a:off x="4407408" y="289864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Bioacoustics Engine</a:t>
            </a:r>
            <a:endParaRPr lang="en-US" sz="1550" dirty="0"/>
          </a:p>
        </p:txBody>
      </p:sp>
      <p:sp>
        <p:nvSpPr>
          <p:cNvPr id="14" name="Text 12"/>
          <p:cNvSpPr/>
          <p:nvPr/>
        </p:nvSpPr>
        <p:spPr>
          <a:xfrm>
            <a:off x="4407408" y="322783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Librosa feature extraction — bird, mammal &amp; amphibian calls</a:t>
            </a:r>
            <a:endParaRPr lang="en-US" sz="1200" dirty="0"/>
          </a:p>
        </p:txBody>
      </p:sp>
      <p:sp>
        <p:nvSpPr>
          <p:cNvPr id="15" name="Shape 13"/>
          <p:cNvSpPr/>
          <p:nvPr/>
        </p:nvSpPr>
        <p:spPr>
          <a:xfrm>
            <a:off x="7863840" y="214884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6" name="Shape 14"/>
          <p:cNvSpPr/>
          <p:nvPr/>
        </p:nvSpPr>
        <p:spPr>
          <a:xfrm>
            <a:off x="8065008" y="2331720"/>
            <a:ext cx="457200" cy="457200"/>
          </a:xfrm>
          <a:prstGeom prst="roundRect">
            <a:avLst>
              <a:gd name="adj" fmla="val 100000"/>
            </a:avLst>
          </a:prstGeom>
          <a:solidFill>
            <a:srgbClr val="1B4332"/>
          </a:solidFill>
          <a:ln/>
        </p:spPr>
      </p:sp>
      <p:sp>
        <p:nvSpPr>
          <p:cNvPr id="17" name="Text 15"/>
          <p:cNvSpPr/>
          <p:nvPr/>
        </p:nvSpPr>
        <p:spPr>
          <a:xfrm>
            <a:off x="8065008" y="233172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3</a:t>
            </a:r>
            <a:endParaRPr lang="en-US" sz="1650" dirty="0"/>
          </a:p>
        </p:txBody>
      </p:sp>
      <p:sp>
        <p:nvSpPr>
          <p:cNvPr id="18" name="Text 16"/>
          <p:cNvSpPr/>
          <p:nvPr/>
        </p:nvSpPr>
        <p:spPr>
          <a:xfrm>
            <a:off x="8065008" y="289864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Species Identification</a:t>
            </a:r>
            <a:endParaRPr lang="en-US" sz="1550" dirty="0"/>
          </a:p>
        </p:txBody>
      </p:sp>
      <p:sp>
        <p:nvSpPr>
          <p:cNvPr id="19" name="Text 17"/>
          <p:cNvSpPr/>
          <p:nvPr/>
        </p:nvSpPr>
        <p:spPr>
          <a:xfrm>
            <a:off x="8065008" y="322783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Confidence scoring, endangered-species flagging, taxonomy</a:t>
            </a:r>
            <a:endParaRPr lang="en-US" sz="1200" dirty="0"/>
          </a:p>
        </p:txBody>
      </p:sp>
      <p:sp>
        <p:nvSpPr>
          <p:cNvPr id="20" name="Shape 18"/>
          <p:cNvSpPr/>
          <p:nvPr/>
        </p:nvSpPr>
        <p:spPr>
          <a:xfrm>
            <a:off x="548640" y="393192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1" name="Shape 19"/>
          <p:cNvSpPr/>
          <p:nvPr/>
        </p:nvSpPr>
        <p:spPr>
          <a:xfrm>
            <a:off x="749808" y="4114800"/>
            <a:ext cx="457200" cy="457200"/>
          </a:xfrm>
          <a:prstGeom prst="roundRect">
            <a:avLst>
              <a:gd name="adj" fmla="val 100000"/>
            </a:avLst>
          </a:prstGeom>
          <a:solidFill>
            <a:srgbClr val="1B4332"/>
          </a:solidFill>
          <a:ln/>
        </p:spPr>
      </p:sp>
      <p:sp>
        <p:nvSpPr>
          <p:cNvPr id="22" name="Text 20"/>
          <p:cNvSpPr/>
          <p:nvPr/>
        </p:nvSpPr>
        <p:spPr>
          <a:xfrm>
            <a:off x="749808" y="411480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4</a:t>
            </a:r>
            <a:endParaRPr lang="en-US" sz="1650" dirty="0"/>
          </a:p>
        </p:txBody>
      </p:sp>
      <p:sp>
        <p:nvSpPr>
          <p:cNvPr id="23" name="Text 21"/>
          <p:cNvSpPr/>
          <p:nvPr/>
        </p:nvSpPr>
        <p:spPr>
          <a:xfrm>
            <a:off x="749808" y="468172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Biodiversity Analytics</a:t>
            </a:r>
            <a:endParaRPr lang="en-US" sz="1550" dirty="0"/>
          </a:p>
        </p:txBody>
      </p:sp>
      <p:sp>
        <p:nvSpPr>
          <p:cNvPr id="24" name="Text 22"/>
          <p:cNvSpPr/>
          <p:nvPr/>
        </p:nvSpPr>
        <p:spPr>
          <a:xfrm>
            <a:off x="749808" y="501091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Shannon–Wiener &amp; Simpson diversity indices</a:t>
            </a:r>
            <a:endParaRPr lang="en-US" sz="1200" dirty="0"/>
          </a:p>
        </p:txBody>
      </p:sp>
      <p:sp>
        <p:nvSpPr>
          <p:cNvPr id="25" name="Shape 23"/>
          <p:cNvSpPr/>
          <p:nvPr/>
        </p:nvSpPr>
        <p:spPr>
          <a:xfrm>
            <a:off x="4206240" y="393192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6" name="Shape 24"/>
          <p:cNvSpPr/>
          <p:nvPr/>
        </p:nvSpPr>
        <p:spPr>
          <a:xfrm>
            <a:off x="4407408" y="4114800"/>
            <a:ext cx="457200" cy="457200"/>
          </a:xfrm>
          <a:prstGeom prst="roundRect">
            <a:avLst>
              <a:gd name="adj" fmla="val 100000"/>
            </a:avLst>
          </a:prstGeom>
          <a:solidFill>
            <a:srgbClr val="1B4332"/>
          </a:solidFill>
          <a:ln/>
        </p:spPr>
      </p:sp>
      <p:sp>
        <p:nvSpPr>
          <p:cNvPr id="27" name="Text 25"/>
          <p:cNvSpPr/>
          <p:nvPr/>
        </p:nvSpPr>
        <p:spPr>
          <a:xfrm>
            <a:off x="4407408" y="411480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5</a:t>
            </a:r>
            <a:endParaRPr lang="en-US" sz="1650" dirty="0"/>
          </a:p>
        </p:txBody>
      </p:sp>
      <p:sp>
        <p:nvSpPr>
          <p:cNvPr id="28" name="Text 26"/>
          <p:cNvSpPr/>
          <p:nvPr/>
        </p:nvSpPr>
        <p:spPr>
          <a:xfrm>
            <a:off x="4407408" y="468172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Automated PDF Reporting</a:t>
            </a:r>
            <a:endParaRPr lang="en-US" sz="1550" dirty="0"/>
          </a:p>
        </p:txBody>
      </p:sp>
      <p:sp>
        <p:nvSpPr>
          <p:cNvPr id="29" name="Text 27"/>
          <p:cNvSpPr/>
          <p:nvPr/>
        </p:nvSpPr>
        <p:spPr>
          <a:xfrm>
            <a:off x="4407408" y="501091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ReportLab-generated audit reports with species counts</a:t>
            </a:r>
            <a:endParaRPr lang="en-US" sz="1200" dirty="0"/>
          </a:p>
        </p:txBody>
      </p:sp>
      <p:sp>
        <p:nvSpPr>
          <p:cNvPr id="30" name="Shape 28"/>
          <p:cNvSpPr/>
          <p:nvPr/>
        </p:nvSpPr>
        <p:spPr>
          <a:xfrm>
            <a:off x="7863840" y="393192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31" name="Shape 29"/>
          <p:cNvSpPr/>
          <p:nvPr/>
        </p:nvSpPr>
        <p:spPr>
          <a:xfrm>
            <a:off x="8065008" y="4114800"/>
            <a:ext cx="457200" cy="457200"/>
          </a:xfrm>
          <a:prstGeom prst="roundRect">
            <a:avLst>
              <a:gd name="adj" fmla="val 100000"/>
            </a:avLst>
          </a:prstGeom>
          <a:solidFill>
            <a:srgbClr val="1B4332"/>
          </a:solidFill>
          <a:ln/>
        </p:spPr>
      </p:sp>
      <p:sp>
        <p:nvSpPr>
          <p:cNvPr id="32" name="Text 30"/>
          <p:cNvSpPr/>
          <p:nvPr/>
        </p:nvSpPr>
        <p:spPr>
          <a:xfrm>
            <a:off x="8065008" y="411480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6</a:t>
            </a:r>
            <a:endParaRPr lang="en-US" sz="1650" dirty="0"/>
          </a:p>
        </p:txBody>
      </p:sp>
      <p:sp>
        <p:nvSpPr>
          <p:cNvPr id="33" name="Text 31"/>
          <p:cNvSpPr/>
          <p:nvPr/>
        </p:nvSpPr>
        <p:spPr>
          <a:xfrm>
            <a:off x="8065008" y="468172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Frontend Integration</a:t>
            </a:r>
            <a:endParaRPr lang="en-US" sz="1550" dirty="0"/>
          </a:p>
        </p:txBody>
      </p:sp>
      <p:sp>
        <p:nvSpPr>
          <p:cNvPr id="34" name="Text 32"/>
          <p:cNvSpPr/>
          <p:nvPr/>
        </p:nvSpPr>
        <p:spPr>
          <a:xfrm>
            <a:off x="8065008" y="501091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Species Analysis, Audio Lab &amp; Biodiversity dashboard tabs</a:t>
            </a:r>
            <a:endParaRPr lang="en-US" sz="1200" dirty="0"/>
          </a:p>
        </p:txBody>
      </p:sp>
      <p:sp>
        <p:nvSpPr>
          <p:cNvPr id="35" name="Shape 33"/>
          <p:cNvSpPr/>
          <p:nvPr/>
        </p:nvSpPr>
        <p:spPr>
          <a:xfrm>
            <a:off x="548640" y="5806440"/>
            <a:ext cx="10881360" cy="566928"/>
          </a:xfrm>
          <a:prstGeom prst="roundRect">
            <a:avLst>
              <a:gd name="adj" fmla="val 12903"/>
            </a:avLst>
          </a:prstGeom>
          <a:solidFill>
            <a:srgbClr val="1B4332"/>
          </a:solidFill>
          <a:ln w="12700">
            <a:solidFill>
              <a:srgbClr val="1B4332"/>
            </a:solidFill>
            <a:prstDash val="solid"/>
          </a:ln>
        </p:spPr>
      </p:sp>
      <p:sp>
        <p:nvSpPr>
          <p:cNvPr id="36" name="Text 34"/>
          <p:cNvSpPr/>
          <p:nvPr/>
        </p:nvSpPr>
        <p:spPr>
          <a:xfrm>
            <a:off x="822960" y="5806440"/>
            <a:ext cx="10332720" cy="56692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Result: species &amp; bioacoustic recognition engines operational, biodiversity assessment system completed end-to-end.</a:t>
            </a:r>
            <a:endParaRPr lang="en-US" sz="1400" dirty="0"/>
          </a:p>
        </p:txBody>
      </p:sp>
      <p:sp>
        <p:nvSpPr>
          <p:cNvPr id="37" name="Text 35"/>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38" name="Text 36"/>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MILESTONE 3 · WEEKS 5–6</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Population, Habitat &amp; Conservation Intelligence</a:t>
            </a:r>
            <a:endParaRPr lang="en-US" sz="3000" dirty="0"/>
          </a:p>
        </p:txBody>
      </p:sp>
      <p:sp>
        <p:nvSpPr>
          <p:cNvPr id="4" name="Text 2"/>
          <p:cNvSpPr/>
          <p:nvPr/>
        </p:nvSpPr>
        <p:spPr>
          <a:xfrm>
            <a:off x="548640" y="1417320"/>
            <a:ext cx="10789920" cy="502920"/>
          </a:xfrm>
          <a:prstGeom prst="rect">
            <a:avLst/>
          </a:prstGeom>
          <a:noFill/>
          <a:ln/>
        </p:spPr>
        <p:txBody>
          <a:bodyPr wrap="square" rtlCol="0" anchor="ctr"/>
          <a:lstStyle/>
          <a:p>
            <a:pPr marL="0" indent="0">
              <a:buNone/>
            </a:pPr>
            <a:r>
              <a:rPr lang="en-US" sz="1550" dirty="0">
                <a:solidFill>
                  <a:srgbClr val="556259"/>
                </a:solidFill>
                <a:latin typeface="Calibri" pitchFamily="34" charset="0"/>
                <a:ea typeface="Calibri" pitchFamily="34" charset="-122"/>
                <a:cs typeface="Calibri" pitchFamily="34" charset="-120"/>
              </a:rPr>
              <a:t>Moves from per-detection intelligence into population- and landscape-level intelligence for defensible conservation decisions.</a:t>
            </a:r>
            <a:endParaRPr lang="en-US" sz="1550" dirty="0"/>
          </a:p>
        </p:txBody>
      </p:sp>
      <p:sp>
        <p:nvSpPr>
          <p:cNvPr id="5" name="Shape 3"/>
          <p:cNvSpPr/>
          <p:nvPr/>
        </p:nvSpPr>
        <p:spPr>
          <a:xfrm>
            <a:off x="548640" y="214884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6" name="Shape 4"/>
          <p:cNvSpPr/>
          <p:nvPr/>
        </p:nvSpPr>
        <p:spPr>
          <a:xfrm>
            <a:off x="749808" y="2331720"/>
            <a:ext cx="457200" cy="457200"/>
          </a:xfrm>
          <a:prstGeom prst="roundRect">
            <a:avLst>
              <a:gd name="adj" fmla="val 100000"/>
            </a:avLst>
          </a:prstGeom>
          <a:solidFill>
            <a:srgbClr val="1B4332"/>
          </a:solidFill>
          <a:ln/>
        </p:spPr>
      </p:sp>
      <p:sp>
        <p:nvSpPr>
          <p:cNvPr id="7" name="Text 5"/>
          <p:cNvSpPr/>
          <p:nvPr/>
        </p:nvSpPr>
        <p:spPr>
          <a:xfrm>
            <a:off x="749808" y="233172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1</a:t>
            </a:r>
            <a:endParaRPr lang="en-US" sz="1650" dirty="0"/>
          </a:p>
        </p:txBody>
      </p:sp>
      <p:sp>
        <p:nvSpPr>
          <p:cNvPr id="8" name="Text 6"/>
          <p:cNvSpPr/>
          <p:nvPr/>
        </p:nvSpPr>
        <p:spPr>
          <a:xfrm>
            <a:off x="749808" y="289864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Population Engine</a:t>
            </a:r>
            <a:endParaRPr lang="en-US" sz="1550" dirty="0"/>
          </a:p>
        </p:txBody>
      </p:sp>
      <p:sp>
        <p:nvSpPr>
          <p:cNvPr id="9" name="Text 7"/>
          <p:cNvSpPr/>
          <p:nvPr/>
        </p:nvSpPr>
        <p:spPr>
          <a:xfrm>
            <a:off x="749808" y="322783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N = n/p abundance estimation, density per km², 95% CI</a:t>
            </a:r>
            <a:endParaRPr lang="en-US" sz="1200" dirty="0"/>
          </a:p>
        </p:txBody>
      </p:sp>
      <p:sp>
        <p:nvSpPr>
          <p:cNvPr id="10" name="Shape 8"/>
          <p:cNvSpPr/>
          <p:nvPr/>
        </p:nvSpPr>
        <p:spPr>
          <a:xfrm>
            <a:off x="4206240" y="214884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1" name="Shape 9"/>
          <p:cNvSpPr/>
          <p:nvPr/>
        </p:nvSpPr>
        <p:spPr>
          <a:xfrm>
            <a:off x="4407408" y="2331720"/>
            <a:ext cx="457200" cy="457200"/>
          </a:xfrm>
          <a:prstGeom prst="roundRect">
            <a:avLst>
              <a:gd name="adj" fmla="val 100000"/>
            </a:avLst>
          </a:prstGeom>
          <a:solidFill>
            <a:srgbClr val="1B4332"/>
          </a:solidFill>
          <a:ln/>
        </p:spPr>
      </p:sp>
      <p:sp>
        <p:nvSpPr>
          <p:cNvPr id="12" name="Text 10"/>
          <p:cNvSpPr/>
          <p:nvPr/>
        </p:nvSpPr>
        <p:spPr>
          <a:xfrm>
            <a:off x="4407408" y="233172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2</a:t>
            </a:r>
            <a:endParaRPr lang="en-US" sz="1650" dirty="0"/>
          </a:p>
        </p:txBody>
      </p:sp>
      <p:sp>
        <p:nvSpPr>
          <p:cNvPr id="13" name="Text 11"/>
          <p:cNvSpPr/>
          <p:nvPr/>
        </p:nvSpPr>
        <p:spPr>
          <a:xfrm>
            <a:off x="4407408" y="289864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Migration Tracking</a:t>
            </a:r>
            <a:endParaRPr lang="en-US" sz="1550" dirty="0"/>
          </a:p>
        </p:txBody>
      </p:sp>
      <p:sp>
        <p:nvSpPr>
          <p:cNvPr id="14" name="Text 12"/>
          <p:cNvSpPr/>
          <p:nvPr/>
        </p:nvSpPr>
        <p:spPr>
          <a:xfrm>
            <a:off x="4407408" y="322783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Seasonal routes, velocity, bearing, threat intersections</a:t>
            </a:r>
            <a:endParaRPr lang="en-US" sz="1200" dirty="0"/>
          </a:p>
        </p:txBody>
      </p:sp>
      <p:sp>
        <p:nvSpPr>
          <p:cNvPr id="15" name="Shape 13"/>
          <p:cNvSpPr/>
          <p:nvPr/>
        </p:nvSpPr>
        <p:spPr>
          <a:xfrm>
            <a:off x="7863840" y="214884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6" name="Shape 14"/>
          <p:cNvSpPr/>
          <p:nvPr/>
        </p:nvSpPr>
        <p:spPr>
          <a:xfrm>
            <a:off x="8065008" y="2331720"/>
            <a:ext cx="457200" cy="457200"/>
          </a:xfrm>
          <a:prstGeom prst="roundRect">
            <a:avLst>
              <a:gd name="adj" fmla="val 100000"/>
            </a:avLst>
          </a:prstGeom>
          <a:solidFill>
            <a:srgbClr val="1B4332"/>
          </a:solidFill>
          <a:ln/>
        </p:spPr>
      </p:sp>
      <p:sp>
        <p:nvSpPr>
          <p:cNvPr id="17" name="Text 15"/>
          <p:cNvSpPr/>
          <p:nvPr/>
        </p:nvSpPr>
        <p:spPr>
          <a:xfrm>
            <a:off x="8065008" y="233172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3</a:t>
            </a:r>
            <a:endParaRPr lang="en-US" sz="1650" dirty="0"/>
          </a:p>
        </p:txBody>
      </p:sp>
      <p:sp>
        <p:nvSpPr>
          <p:cNvPr id="18" name="Text 16"/>
          <p:cNvSpPr/>
          <p:nvPr/>
        </p:nvSpPr>
        <p:spPr>
          <a:xfrm>
            <a:off x="8065008" y="289864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Habitat Intelligence</a:t>
            </a:r>
            <a:endParaRPr lang="en-US" sz="1550" dirty="0"/>
          </a:p>
        </p:txBody>
      </p:sp>
      <p:sp>
        <p:nvSpPr>
          <p:cNvPr id="19" name="Text 17"/>
          <p:cNvSpPr/>
          <p:nvPr/>
        </p:nvSpPr>
        <p:spPr>
          <a:xfrm>
            <a:off x="8065008" y="322783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Satellite NDVI, canopy cover, degradation index</a:t>
            </a:r>
            <a:endParaRPr lang="en-US" sz="1200" dirty="0"/>
          </a:p>
        </p:txBody>
      </p:sp>
      <p:sp>
        <p:nvSpPr>
          <p:cNvPr id="20" name="Shape 18"/>
          <p:cNvSpPr/>
          <p:nvPr/>
        </p:nvSpPr>
        <p:spPr>
          <a:xfrm>
            <a:off x="548640" y="393192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1" name="Shape 19"/>
          <p:cNvSpPr/>
          <p:nvPr/>
        </p:nvSpPr>
        <p:spPr>
          <a:xfrm>
            <a:off x="749808" y="4114800"/>
            <a:ext cx="457200" cy="457200"/>
          </a:xfrm>
          <a:prstGeom prst="roundRect">
            <a:avLst>
              <a:gd name="adj" fmla="val 100000"/>
            </a:avLst>
          </a:prstGeom>
          <a:solidFill>
            <a:srgbClr val="1B4332"/>
          </a:solidFill>
          <a:ln/>
        </p:spPr>
      </p:sp>
      <p:sp>
        <p:nvSpPr>
          <p:cNvPr id="22" name="Text 20"/>
          <p:cNvSpPr/>
          <p:nvPr/>
        </p:nvSpPr>
        <p:spPr>
          <a:xfrm>
            <a:off x="749808" y="411480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4</a:t>
            </a:r>
            <a:endParaRPr lang="en-US" sz="1650" dirty="0"/>
          </a:p>
        </p:txBody>
      </p:sp>
      <p:sp>
        <p:nvSpPr>
          <p:cNvPr id="23" name="Text 21"/>
          <p:cNvSpPr/>
          <p:nvPr/>
        </p:nvSpPr>
        <p:spPr>
          <a:xfrm>
            <a:off x="749808" y="468172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Conservation Scoring</a:t>
            </a:r>
            <a:endParaRPr lang="en-US" sz="1550" dirty="0"/>
          </a:p>
        </p:txBody>
      </p:sp>
      <p:sp>
        <p:nvSpPr>
          <p:cNvPr id="24" name="Text 22"/>
          <p:cNvSpPr/>
          <p:nvPr/>
        </p:nvSpPr>
        <p:spPr>
          <a:xfrm>
            <a:off x="749808" y="501091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5-factor weighted Ecosystem Health Score</a:t>
            </a:r>
            <a:endParaRPr lang="en-US" sz="1200" dirty="0"/>
          </a:p>
        </p:txBody>
      </p:sp>
      <p:sp>
        <p:nvSpPr>
          <p:cNvPr id="25" name="Shape 23"/>
          <p:cNvSpPr/>
          <p:nvPr/>
        </p:nvSpPr>
        <p:spPr>
          <a:xfrm>
            <a:off x="4206240" y="393192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6" name="Shape 24"/>
          <p:cNvSpPr/>
          <p:nvPr/>
        </p:nvSpPr>
        <p:spPr>
          <a:xfrm>
            <a:off x="4407408" y="4114800"/>
            <a:ext cx="457200" cy="457200"/>
          </a:xfrm>
          <a:prstGeom prst="roundRect">
            <a:avLst>
              <a:gd name="adj" fmla="val 100000"/>
            </a:avLst>
          </a:prstGeom>
          <a:solidFill>
            <a:srgbClr val="1B4332"/>
          </a:solidFill>
          <a:ln/>
        </p:spPr>
      </p:sp>
      <p:sp>
        <p:nvSpPr>
          <p:cNvPr id="27" name="Text 25"/>
          <p:cNvSpPr/>
          <p:nvPr/>
        </p:nvSpPr>
        <p:spPr>
          <a:xfrm>
            <a:off x="4407408" y="411480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5</a:t>
            </a:r>
            <a:endParaRPr lang="en-US" sz="1650" dirty="0"/>
          </a:p>
        </p:txBody>
      </p:sp>
      <p:sp>
        <p:nvSpPr>
          <p:cNvPr id="28" name="Text 26"/>
          <p:cNvSpPr/>
          <p:nvPr/>
        </p:nvSpPr>
        <p:spPr>
          <a:xfrm>
            <a:off x="4407408" y="468172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Priority Action Planning</a:t>
            </a:r>
            <a:endParaRPr lang="en-US" sz="1550" dirty="0"/>
          </a:p>
        </p:txBody>
      </p:sp>
      <p:sp>
        <p:nvSpPr>
          <p:cNvPr id="29" name="Text 27"/>
          <p:cNvSpPr/>
          <p:nvPr/>
        </p:nvSpPr>
        <p:spPr>
          <a:xfrm>
            <a:off x="4407408" y="501091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Patrol allocation, sensor placement, restoration corridors</a:t>
            </a:r>
            <a:endParaRPr lang="en-US" sz="1200" dirty="0"/>
          </a:p>
        </p:txBody>
      </p:sp>
      <p:sp>
        <p:nvSpPr>
          <p:cNvPr id="30" name="Shape 28"/>
          <p:cNvSpPr/>
          <p:nvPr/>
        </p:nvSpPr>
        <p:spPr>
          <a:xfrm>
            <a:off x="7863840" y="393192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31" name="Shape 29"/>
          <p:cNvSpPr/>
          <p:nvPr/>
        </p:nvSpPr>
        <p:spPr>
          <a:xfrm>
            <a:off x="8065008" y="4114800"/>
            <a:ext cx="457200" cy="457200"/>
          </a:xfrm>
          <a:prstGeom prst="roundRect">
            <a:avLst>
              <a:gd name="adj" fmla="val 100000"/>
            </a:avLst>
          </a:prstGeom>
          <a:solidFill>
            <a:srgbClr val="1B4332"/>
          </a:solidFill>
          <a:ln/>
        </p:spPr>
      </p:sp>
      <p:sp>
        <p:nvSpPr>
          <p:cNvPr id="32" name="Text 30"/>
          <p:cNvSpPr/>
          <p:nvPr/>
        </p:nvSpPr>
        <p:spPr>
          <a:xfrm>
            <a:off x="8065008" y="411480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6</a:t>
            </a:r>
            <a:endParaRPr lang="en-US" sz="1650" dirty="0"/>
          </a:p>
        </p:txBody>
      </p:sp>
      <p:sp>
        <p:nvSpPr>
          <p:cNvPr id="33" name="Text 31"/>
          <p:cNvSpPr/>
          <p:nvPr/>
        </p:nvSpPr>
        <p:spPr>
          <a:xfrm>
            <a:off x="8065008" y="468172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Intelligence Dashboards</a:t>
            </a:r>
            <a:endParaRPr lang="en-US" sz="1550" dirty="0"/>
          </a:p>
        </p:txBody>
      </p:sp>
      <p:sp>
        <p:nvSpPr>
          <p:cNvPr id="34" name="Text 32"/>
          <p:cNvSpPr/>
          <p:nvPr/>
        </p:nvSpPr>
        <p:spPr>
          <a:xfrm>
            <a:off x="8065008" y="501091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Population, Habitat &amp; Conservation Engine tabs</a:t>
            </a:r>
            <a:endParaRPr lang="en-US" sz="1200" dirty="0"/>
          </a:p>
        </p:txBody>
      </p:sp>
      <p:sp>
        <p:nvSpPr>
          <p:cNvPr id="35" name="Shape 33"/>
          <p:cNvSpPr/>
          <p:nvPr/>
        </p:nvSpPr>
        <p:spPr>
          <a:xfrm>
            <a:off x="548640" y="5806440"/>
            <a:ext cx="10881360" cy="566928"/>
          </a:xfrm>
          <a:prstGeom prst="roundRect">
            <a:avLst>
              <a:gd name="adj" fmla="val 12903"/>
            </a:avLst>
          </a:prstGeom>
          <a:solidFill>
            <a:srgbClr val="1B4332"/>
          </a:solidFill>
          <a:ln w="12700">
            <a:solidFill>
              <a:srgbClr val="1B4332"/>
            </a:solidFill>
            <a:prstDash val="solid"/>
          </a:ln>
        </p:spPr>
      </p:sp>
      <p:sp>
        <p:nvSpPr>
          <p:cNvPr id="36" name="Text 34"/>
          <p:cNvSpPr/>
          <p:nvPr/>
        </p:nvSpPr>
        <p:spPr>
          <a:xfrm>
            <a:off x="822960" y="5806440"/>
            <a:ext cx="10332720" cy="56692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Result: population intelligence, habitat intelligence &amp; conservation recommendation workflows all operational and verified.</a:t>
            </a:r>
            <a:endParaRPr lang="en-US" sz="1400" dirty="0"/>
          </a:p>
        </p:txBody>
      </p:sp>
      <p:sp>
        <p:nvSpPr>
          <p:cNvPr id="37" name="Text 35"/>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38" name="Text 36"/>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MILESTONE 4 · WEEKS 7–8</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Executive GIS, Dashboards &amp; Deployment</a:t>
            </a:r>
            <a:endParaRPr lang="en-US" sz="3000" dirty="0"/>
          </a:p>
        </p:txBody>
      </p:sp>
      <p:sp>
        <p:nvSpPr>
          <p:cNvPr id="4" name="Text 2"/>
          <p:cNvSpPr/>
          <p:nvPr/>
        </p:nvSpPr>
        <p:spPr>
          <a:xfrm>
            <a:off x="548640" y="1417320"/>
            <a:ext cx="10789920" cy="502920"/>
          </a:xfrm>
          <a:prstGeom prst="rect">
            <a:avLst/>
          </a:prstGeom>
          <a:noFill/>
          <a:ln/>
        </p:spPr>
        <p:txBody>
          <a:bodyPr wrap="square" rtlCol="0" anchor="ctr"/>
          <a:lstStyle/>
          <a:p>
            <a:pPr marL="0" indent="0">
              <a:buNone/>
            </a:pPr>
            <a:r>
              <a:rPr lang="en-US" sz="1550" dirty="0">
                <a:solidFill>
                  <a:srgbClr val="556259"/>
                </a:solidFill>
                <a:latin typeface="Calibri" pitchFamily="34" charset="0"/>
                <a:ea typeface="Calibri" pitchFamily="34" charset="-122"/>
                <a:cs typeface="Calibri" pitchFamily="34" charset="-120"/>
              </a:rPr>
              <a:t>The final synthesis phase — executive dashboards, interactive GIS spatial visualization, and full end-to-end system validation.</a:t>
            </a:r>
            <a:endParaRPr lang="en-US" sz="1550" dirty="0"/>
          </a:p>
        </p:txBody>
      </p:sp>
      <p:sp>
        <p:nvSpPr>
          <p:cNvPr id="5" name="Shape 3"/>
          <p:cNvSpPr/>
          <p:nvPr/>
        </p:nvSpPr>
        <p:spPr>
          <a:xfrm>
            <a:off x="548640" y="214884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6" name="Shape 4"/>
          <p:cNvSpPr/>
          <p:nvPr/>
        </p:nvSpPr>
        <p:spPr>
          <a:xfrm>
            <a:off x="749808" y="2331720"/>
            <a:ext cx="457200" cy="457200"/>
          </a:xfrm>
          <a:prstGeom prst="roundRect">
            <a:avLst>
              <a:gd name="adj" fmla="val 100000"/>
            </a:avLst>
          </a:prstGeom>
          <a:solidFill>
            <a:srgbClr val="1B4332"/>
          </a:solidFill>
          <a:ln/>
        </p:spPr>
      </p:sp>
      <p:sp>
        <p:nvSpPr>
          <p:cNvPr id="7" name="Text 5"/>
          <p:cNvSpPr/>
          <p:nvPr/>
        </p:nvSpPr>
        <p:spPr>
          <a:xfrm>
            <a:off x="749808" y="233172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1</a:t>
            </a:r>
            <a:endParaRPr lang="en-US" sz="1650" dirty="0"/>
          </a:p>
        </p:txBody>
      </p:sp>
      <p:sp>
        <p:nvSpPr>
          <p:cNvPr id="8" name="Text 6"/>
          <p:cNvSpPr/>
          <p:nvPr/>
        </p:nvSpPr>
        <p:spPr>
          <a:xfrm>
            <a:off x="749808" y="289864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Interactive GIS Map</a:t>
            </a:r>
            <a:endParaRPr lang="en-US" sz="1550" dirty="0"/>
          </a:p>
        </p:txBody>
      </p:sp>
      <p:sp>
        <p:nvSpPr>
          <p:cNvPr id="9" name="Text 7"/>
          <p:cNvSpPr/>
          <p:nvPr/>
        </p:nvSpPr>
        <p:spPr>
          <a:xfrm>
            <a:off x="749808" y="322783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Leaflet/GeoJSON — sightings, patrol zones, conflict hotspots</a:t>
            </a:r>
            <a:endParaRPr lang="en-US" sz="1200" dirty="0"/>
          </a:p>
        </p:txBody>
      </p:sp>
      <p:sp>
        <p:nvSpPr>
          <p:cNvPr id="10" name="Shape 8"/>
          <p:cNvSpPr/>
          <p:nvPr/>
        </p:nvSpPr>
        <p:spPr>
          <a:xfrm>
            <a:off x="4206240" y="214884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1" name="Shape 9"/>
          <p:cNvSpPr/>
          <p:nvPr/>
        </p:nvSpPr>
        <p:spPr>
          <a:xfrm>
            <a:off x="4407408" y="2331720"/>
            <a:ext cx="457200" cy="457200"/>
          </a:xfrm>
          <a:prstGeom prst="roundRect">
            <a:avLst>
              <a:gd name="adj" fmla="val 100000"/>
            </a:avLst>
          </a:prstGeom>
          <a:solidFill>
            <a:srgbClr val="1B4332"/>
          </a:solidFill>
          <a:ln/>
        </p:spPr>
      </p:sp>
      <p:sp>
        <p:nvSpPr>
          <p:cNvPr id="12" name="Text 10"/>
          <p:cNvSpPr/>
          <p:nvPr/>
        </p:nvSpPr>
        <p:spPr>
          <a:xfrm>
            <a:off x="4407408" y="233172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2</a:t>
            </a:r>
            <a:endParaRPr lang="en-US" sz="1650" dirty="0"/>
          </a:p>
        </p:txBody>
      </p:sp>
      <p:sp>
        <p:nvSpPr>
          <p:cNvPr id="13" name="Text 11"/>
          <p:cNvSpPr/>
          <p:nvPr/>
        </p:nvSpPr>
        <p:spPr>
          <a:xfrm>
            <a:off x="4407408" y="289864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Executive Dashboard</a:t>
            </a:r>
            <a:endParaRPr lang="en-US" sz="1550" dirty="0"/>
          </a:p>
        </p:txBody>
      </p:sp>
      <p:sp>
        <p:nvSpPr>
          <p:cNvPr id="14" name="Text 12"/>
          <p:cNvSpPr/>
          <p:nvPr/>
        </p:nvSpPr>
        <p:spPr>
          <a:xfrm>
            <a:off x="4407408" y="322783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KPI cards, ecosystem health, alerts, ranger deployments</a:t>
            </a:r>
            <a:endParaRPr lang="en-US" sz="1200" dirty="0"/>
          </a:p>
        </p:txBody>
      </p:sp>
      <p:sp>
        <p:nvSpPr>
          <p:cNvPr id="15" name="Shape 13"/>
          <p:cNvSpPr/>
          <p:nvPr/>
        </p:nvSpPr>
        <p:spPr>
          <a:xfrm>
            <a:off x="7863840" y="214884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6" name="Shape 14"/>
          <p:cNvSpPr/>
          <p:nvPr/>
        </p:nvSpPr>
        <p:spPr>
          <a:xfrm>
            <a:off x="8065008" y="2331720"/>
            <a:ext cx="457200" cy="457200"/>
          </a:xfrm>
          <a:prstGeom prst="roundRect">
            <a:avLst>
              <a:gd name="adj" fmla="val 100000"/>
            </a:avLst>
          </a:prstGeom>
          <a:solidFill>
            <a:srgbClr val="1B4332"/>
          </a:solidFill>
          <a:ln/>
        </p:spPr>
      </p:sp>
      <p:sp>
        <p:nvSpPr>
          <p:cNvPr id="17" name="Text 15"/>
          <p:cNvSpPr/>
          <p:nvPr/>
        </p:nvSpPr>
        <p:spPr>
          <a:xfrm>
            <a:off x="8065008" y="233172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3</a:t>
            </a:r>
            <a:endParaRPr lang="en-US" sz="1650" dirty="0"/>
          </a:p>
        </p:txBody>
      </p:sp>
      <p:sp>
        <p:nvSpPr>
          <p:cNvPr id="18" name="Text 16"/>
          <p:cNvSpPr/>
          <p:nvPr/>
        </p:nvSpPr>
        <p:spPr>
          <a:xfrm>
            <a:off x="8065008" y="289864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Automated Report Export</a:t>
            </a:r>
            <a:endParaRPr lang="en-US" sz="1550" dirty="0"/>
          </a:p>
        </p:txBody>
      </p:sp>
      <p:sp>
        <p:nvSpPr>
          <p:cNvPr id="19" name="Text 17"/>
          <p:cNvSpPr/>
          <p:nvPr/>
        </p:nvSpPr>
        <p:spPr>
          <a:xfrm>
            <a:off x="8065008" y="322783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PDF / CSV compiling species counts &amp; conservation priorities</a:t>
            </a:r>
            <a:endParaRPr lang="en-US" sz="1200" dirty="0"/>
          </a:p>
        </p:txBody>
      </p:sp>
      <p:sp>
        <p:nvSpPr>
          <p:cNvPr id="20" name="Shape 18"/>
          <p:cNvSpPr/>
          <p:nvPr/>
        </p:nvSpPr>
        <p:spPr>
          <a:xfrm>
            <a:off x="548640" y="393192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1" name="Shape 19"/>
          <p:cNvSpPr/>
          <p:nvPr/>
        </p:nvSpPr>
        <p:spPr>
          <a:xfrm>
            <a:off x="749808" y="4114800"/>
            <a:ext cx="457200" cy="457200"/>
          </a:xfrm>
          <a:prstGeom prst="roundRect">
            <a:avLst>
              <a:gd name="adj" fmla="val 100000"/>
            </a:avLst>
          </a:prstGeom>
          <a:solidFill>
            <a:srgbClr val="1B4332"/>
          </a:solidFill>
          <a:ln/>
        </p:spPr>
      </p:sp>
      <p:sp>
        <p:nvSpPr>
          <p:cNvPr id="22" name="Text 20"/>
          <p:cNvSpPr/>
          <p:nvPr/>
        </p:nvSpPr>
        <p:spPr>
          <a:xfrm>
            <a:off x="749808" y="411480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4</a:t>
            </a:r>
            <a:endParaRPr lang="en-US" sz="1650" dirty="0"/>
          </a:p>
        </p:txBody>
      </p:sp>
      <p:sp>
        <p:nvSpPr>
          <p:cNvPr id="23" name="Text 21"/>
          <p:cNvSpPr/>
          <p:nvPr/>
        </p:nvSpPr>
        <p:spPr>
          <a:xfrm>
            <a:off x="749808" y="468172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End-to-End Verification</a:t>
            </a:r>
            <a:endParaRPr lang="en-US" sz="1550" dirty="0"/>
          </a:p>
        </p:txBody>
      </p:sp>
      <p:sp>
        <p:nvSpPr>
          <p:cNvPr id="24" name="Text 22"/>
          <p:cNvSpPr/>
          <p:nvPr/>
        </p:nvSpPr>
        <p:spPr>
          <a:xfrm>
            <a:off x="749808" y="501091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Ingestion → detection → analytics → export, fully validated</a:t>
            </a:r>
            <a:endParaRPr lang="en-US" sz="1200" dirty="0"/>
          </a:p>
        </p:txBody>
      </p:sp>
      <p:sp>
        <p:nvSpPr>
          <p:cNvPr id="25" name="Shape 23"/>
          <p:cNvSpPr/>
          <p:nvPr/>
        </p:nvSpPr>
        <p:spPr>
          <a:xfrm>
            <a:off x="4206240" y="393192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6" name="Shape 24"/>
          <p:cNvSpPr/>
          <p:nvPr/>
        </p:nvSpPr>
        <p:spPr>
          <a:xfrm>
            <a:off x="4407408" y="4114800"/>
            <a:ext cx="457200" cy="457200"/>
          </a:xfrm>
          <a:prstGeom prst="roundRect">
            <a:avLst>
              <a:gd name="adj" fmla="val 100000"/>
            </a:avLst>
          </a:prstGeom>
          <a:solidFill>
            <a:srgbClr val="1B4332"/>
          </a:solidFill>
          <a:ln/>
        </p:spPr>
      </p:sp>
      <p:sp>
        <p:nvSpPr>
          <p:cNvPr id="27" name="Text 25"/>
          <p:cNvSpPr/>
          <p:nvPr/>
        </p:nvSpPr>
        <p:spPr>
          <a:xfrm>
            <a:off x="4407408" y="411480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5</a:t>
            </a:r>
            <a:endParaRPr lang="en-US" sz="1650" dirty="0"/>
          </a:p>
        </p:txBody>
      </p:sp>
      <p:sp>
        <p:nvSpPr>
          <p:cNvPr id="28" name="Text 26"/>
          <p:cNvSpPr/>
          <p:nvPr/>
        </p:nvSpPr>
        <p:spPr>
          <a:xfrm>
            <a:off x="4407408" y="468172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Production Build</a:t>
            </a:r>
            <a:endParaRPr lang="en-US" sz="1550" dirty="0"/>
          </a:p>
        </p:txBody>
      </p:sp>
      <p:sp>
        <p:nvSpPr>
          <p:cNvPr id="29" name="Text 27"/>
          <p:cNvSpPr/>
          <p:nvPr/>
        </p:nvSpPr>
        <p:spPr>
          <a:xfrm>
            <a:off x="4407408" y="501091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Vite 8 bundle, zero build errors, Docker-ready</a:t>
            </a:r>
            <a:endParaRPr lang="en-US" sz="1200" dirty="0"/>
          </a:p>
        </p:txBody>
      </p:sp>
      <p:sp>
        <p:nvSpPr>
          <p:cNvPr id="30" name="Shape 28"/>
          <p:cNvSpPr/>
          <p:nvPr/>
        </p:nvSpPr>
        <p:spPr>
          <a:xfrm>
            <a:off x="7863840" y="3931920"/>
            <a:ext cx="3429000" cy="1554480"/>
          </a:xfrm>
          <a:prstGeom prst="roundRect">
            <a:avLst>
              <a:gd name="adj" fmla="val 4706"/>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31" name="Shape 29"/>
          <p:cNvSpPr/>
          <p:nvPr/>
        </p:nvSpPr>
        <p:spPr>
          <a:xfrm>
            <a:off x="8065008" y="4114800"/>
            <a:ext cx="457200" cy="457200"/>
          </a:xfrm>
          <a:prstGeom prst="roundRect">
            <a:avLst>
              <a:gd name="adj" fmla="val 100000"/>
            </a:avLst>
          </a:prstGeom>
          <a:solidFill>
            <a:srgbClr val="1B4332"/>
          </a:solidFill>
          <a:ln/>
        </p:spPr>
      </p:sp>
      <p:sp>
        <p:nvSpPr>
          <p:cNvPr id="32" name="Text 30"/>
          <p:cNvSpPr/>
          <p:nvPr/>
        </p:nvSpPr>
        <p:spPr>
          <a:xfrm>
            <a:off x="8065008" y="4114800"/>
            <a:ext cx="457200" cy="457200"/>
          </a:xfrm>
          <a:prstGeom prst="rect">
            <a:avLst/>
          </a:prstGeom>
          <a:noFill/>
          <a:ln/>
        </p:spPr>
        <p:txBody>
          <a:bodyPr wrap="square" rtlCol="0" anchor="ctr"/>
          <a:lstStyle/>
          <a:p>
            <a:pPr marL="0" indent="0" algn="ctr">
              <a:buNone/>
            </a:pPr>
            <a:r>
              <a:rPr lang="en-US" sz="1650" b="1" dirty="0">
                <a:solidFill>
                  <a:srgbClr val="D9A441"/>
                </a:solidFill>
                <a:latin typeface="Cambria" pitchFamily="34" charset="0"/>
                <a:ea typeface="Cambria" pitchFamily="34" charset="-122"/>
                <a:cs typeface="Cambria" pitchFamily="34" charset="-120"/>
              </a:rPr>
              <a:t>6</a:t>
            </a:r>
            <a:endParaRPr lang="en-US" sz="1650" dirty="0"/>
          </a:p>
        </p:txBody>
      </p:sp>
      <p:sp>
        <p:nvSpPr>
          <p:cNvPr id="33" name="Text 31"/>
          <p:cNvSpPr/>
          <p:nvPr/>
        </p:nvSpPr>
        <p:spPr>
          <a:xfrm>
            <a:off x="8065008" y="4681728"/>
            <a:ext cx="3026664" cy="36576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Deployment Readiness</a:t>
            </a:r>
            <a:endParaRPr lang="en-US" sz="1550" dirty="0"/>
          </a:p>
        </p:txBody>
      </p:sp>
      <p:sp>
        <p:nvSpPr>
          <p:cNvPr id="34" name="Text 32"/>
          <p:cNvSpPr/>
          <p:nvPr/>
        </p:nvSpPr>
        <p:spPr>
          <a:xfrm>
            <a:off x="8065008" y="5010912"/>
            <a:ext cx="3026664" cy="438912"/>
          </a:xfrm>
          <a:prstGeom prst="rect">
            <a:avLst/>
          </a:prstGeom>
          <a:noFill/>
          <a:ln/>
        </p:spPr>
        <p:txBody>
          <a:bodyPr wrap="square" rtlCol="0" anchor="ctr"/>
          <a:lstStyle/>
          <a:p>
            <a:pPr marL="0" indent="0">
              <a:buNone/>
            </a:pPr>
            <a:r>
              <a:rPr lang="en-US" sz="1200" dirty="0">
                <a:solidFill>
                  <a:srgbClr val="556259"/>
                </a:solidFill>
                <a:latin typeface="Calibri" pitchFamily="34" charset="0"/>
                <a:ea typeface="Calibri" pitchFamily="34" charset="-122"/>
                <a:cs typeface="Calibri" pitchFamily="34" charset="-120"/>
              </a:rPr>
              <a:t>Cloud deployment via AWS / Azure with Docker containers</a:t>
            </a:r>
            <a:endParaRPr lang="en-US" sz="1200" dirty="0"/>
          </a:p>
        </p:txBody>
      </p:sp>
      <p:sp>
        <p:nvSpPr>
          <p:cNvPr id="35" name="Shape 33"/>
          <p:cNvSpPr/>
          <p:nvPr/>
        </p:nvSpPr>
        <p:spPr>
          <a:xfrm>
            <a:off x="548640" y="5806440"/>
            <a:ext cx="10881360" cy="566928"/>
          </a:xfrm>
          <a:prstGeom prst="roundRect">
            <a:avLst>
              <a:gd name="adj" fmla="val 12903"/>
            </a:avLst>
          </a:prstGeom>
          <a:solidFill>
            <a:srgbClr val="1B4332"/>
          </a:solidFill>
          <a:ln w="12700">
            <a:solidFill>
              <a:srgbClr val="1B4332"/>
            </a:solidFill>
            <a:prstDash val="solid"/>
          </a:ln>
        </p:spPr>
      </p:sp>
      <p:sp>
        <p:nvSpPr>
          <p:cNvPr id="36" name="Text 34"/>
          <p:cNvSpPr/>
          <p:nvPr/>
        </p:nvSpPr>
        <p:spPr>
          <a:xfrm>
            <a:off x="822960" y="5806440"/>
            <a:ext cx="10332720" cy="56692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Result: fully deployed, production-ready platform with a complete end-to-end biodiversity monitoring workflow demonstrated.</a:t>
            </a:r>
            <a:endParaRPr lang="en-US" sz="1400" dirty="0"/>
          </a:p>
        </p:txBody>
      </p:sp>
      <p:sp>
        <p:nvSpPr>
          <p:cNvPr id="37" name="Text 35"/>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38" name="Text 36"/>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SCOPE</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14 Functional Modules — Complete Platform</a:t>
            </a:r>
            <a:endParaRPr lang="en-US" sz="3000" dirty="0"/>
          </a:p>
        </p:txBody>
      </p:sp>
      <p:sp>
        <p:nvSpPr>
          <p:cNvPr id="4" name="Shape 2"/>
          <p:cNvSpPr/>
          <p:nvPr/>
        </p:nvSpPr>
        <p:spPr>
          <a:xfrm>
            <a:off x="548640" y="1600200"/>
            <a:ext cx="5212080" cy="566928"/>
          </a:xfrm>
          <a:prstGeom prst="roundRect">
            <a:avLst>
              <a:gd name="adj" fmla="val 9677"/>
            </a:avLst>
          </a:prstGeom>
          <a:solidFill>
            <a:srgbClr val="FFFFFF"/>
          </a:solidFill>
          <a:ln w="12700">
            <a:solidFill>
              <a:srgbClr val="CAD2C5"/>
            </a:solidFill>
            <a:prstDash val="solid"/>
          </a:ln>
        </p:spPr>
      </p:sp>
      <p:sp>
        <p:nvSpPr>
          <p:cNvPr id="5" name="Shape 3"/>
          <p:cNvSpPr/>
          <p:nvPr/>
        </p:nvSpPr>
        <p:spPr>
          <a:xfrm>
            <a:off x="658368" y="1700784"/>
            <a:ext cx="365760" cy="365760"/>
          </a:xfrm>
          <a:prstGeom prst="ellipse">
            <a:avLst/>
          </a:prstGeom>
          <a:solidFill>
            <a:srgbClr val="1B4332"/>
          </a:solidFill>
          <a:ln/>
        </p:spPr>
      </p:sp>
      <p:sp>
        <p:nvSpPr>
          <p:cNvPr id="6" name="Text 4"/>
          <p:cNvSpPr/>
          <p:nvPr/>
        </p:nvSpPr>
        <p:spPr>
          <a:xfrm>
            <a:off x="658368" y="1700784"/>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143000" y="1600200"/>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User Authentication &amp; RBAC</a:t>
            </a:r>
            <a:endParaRPr lang="en-US" sz="1500" dirty="0"/>
          </a:p>
        </p:txBody>
      </p:sp>
      <p:sp>
        <p:nvSpPr>
          <p:cNvPr id="8" name="Shape 6"/>
          <p:cNvSpPr/>
          <p:nvPr/>
        </p:nvSpPr>
        <p:spPr>
          <a:xfrm>
            <a:off x="6126480" y="1600200"/>
            <a:ext cx="5212080" cy="566928"/>
          </a:xfrm>
          <a:prstGeom prst="roundRect">
            <a:avLst>
              <a:gd name="adj" fmla="val 9677"/>
            </a:avLst>
          </a:prstGeom>
          <a:solidFill>
            <a:srgbClr val="FFFFFF"/>
          </a:solidFill>
          <a:ln w="12700">
            <a:solidFill>
              <a:srgbClr val="CAD2C5"/>
            </a:solidFill>
            <a:prstDash val="solid"/>
          </a:ln>
        </p:spPr>
      </p:sp>
      <p:sp>
        <p:nvSpPr>
          <p:cNvPr id="9" name="Shape 7"/>
          <p:cNvSpPr/>
          <p:nvPr/>
        </p:nvSpPr>
        <p:spPr>
          <a:xfrm>
            <a:off x="6236208" y="1700784"/>
            <a:ext cx="365760" cy="365760"/>
          </a:xfrm>
          <a:prstGeom prst="ellipse">
            <a:avLst/>
          </a:prstGeom>
          <a:solidFill>
            <a:srgbClr val="1B4332"/>
          </a:solidFill>
          <a:ln/>
        </p:spPr>
      </p:sp>
      <p:sp>
        <p:nvSpPr>
          <p:cNvPr id="10" name="Text 8"/>
          <p:cNvSpPr/>
          <p:nvPr/>
        </p:nvSpPr>
        <p:spPr>
          <a:xfrm>
            <a:off x="6236208" y="1700784"/>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6720840" y="1600200"/>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Wildlife Survey &amp; Monitoring</a:t>
            </a:r>
            <a:endParaRPr lang="en-US" sz="1500" dirty="0"/>
          </a:p>
        </p:txBody>
      </p:sp>
      <p:sp>
        <p:nvSpPr>
          <p:cNvPr id="12" name="Shape 10"/>
          <p:cNvSpPr/>
          <p:nvPr/>
        </p:nvSpPr>
        <p:spPr>
          <a:xfrm>
            <a:off x="548640" y="2295144"/>
            <a:ext cx="5212080" cy="566928"/>
          </a:xfrm>
          <a:prstGeom prst="roundRect">
            <a:avLst>
              <a:gd name="adj" fmla="val 9677"/>
            </a:avLst>
          </a:prstGeom>
          <a:solidFill>
            <a:srgbClr val="FFFFFF"/>
          </a:solidFill>
          <a:ln w="12700">
            <a:solidFill>
              <a:srgbClr val="CAD2C5"/>
            </a:solidFill>
            <a:prstDash val="solid"/>
          </a:ln>
        </p:spPr>
      </p:sp>
      <p:sp>
        <p:nvSpPr>
          <p:cNvPr id="13" name="Shape 11"/>
          <p:cNvSpPr/>
          <p:nvPr/>
        </p:nvSpPr>
        <p:spPr>
          <a:xfrm>
            <a:off x="658368" y="2395728"/>
            <a:ext cx="365760" cy="365760"/>
          </a:xfrm>
          <a:prstGeom prst="ellipse">
            <a:avLst/>
          </a:prstGeom>
          <a:solidFill>
            <a:srgbClr val="1B4332"/>
          </a:solidFill>
          <a:ln/>
        </p:spPr>
      </p:sp>
      <p:sp>
        <p:nvSpPr>
          <p:cNvPr id="14" name="Text 12"/>
          <p:cNvSpPr/>
          <p:nvPr/>
        </p:nvSpPr>
        <p:spPr>
          <a:xfrm>
            <a:off x="658368" y="2395728"/>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1143000" y="2295144"/>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Image Analysis Engine</a:t>
            </a:r>
            <a:endParaRPr lang="en-US" sz="1500" dirty="0"/>
          </a:p>
        </p:txBody>
      </p:sp>
      <p:sp>
        <p:nvSpPr>
          <p:cNvPr id="16" name="Shape 14"/>
          <p:cNvSpPr/>
          <p:nvPr/>
        </p:nvSpPr>
        <p:spPr>
          <a:xfrm>
            <a:off x="6126480" y="2295144"/>
            <a:ext cx="5212080" cy="566928"/>
          </a:xfrm>
          <a:prstGeom prst="roundRect">
            <a:avLst>
              <a:gd name="adj" fmla="val 9677"/>
            </a:avLst>
          </a:prstGeom>
          <a:solidFill>
            <a:srgbClr val="FFFFFF"/>
          </a:solidFill>
          <a:ln w="12700">
            <a:solidFill>
              <a:srgbClr val="CAD2C5"/>
            </a:solidFill>
            <a:prstDash val="solid"/>
          </a:ln>
        </p:spPr>
      </p:sp>
      <p:sp>
        <p:nvSpPr>
          <p:cNvPr id="17" name="Shape 15"/>
          <p:cNvSpPr/>
          <p:nvPr/>
        </p:nvSpPr>
        <p:spPr>
          <a:xfrm>
            <a:off x="6236208" y="2395728"/>
            <a:ext cx="365760" cy="365760"/>
          </a:xfrm>
          <a:prstGeom prst="ellipse">
            <a:avLst/>
          </a:prstGeom>
          <a:solidFill>
            <a:srgbClr val="1B4332"/>
          </a:solidFill>
          <a:ln/>
        </p:spPr>
      </p:sp>
      <p:sp>
        <p:nvSpPr>
          <p:cNvPr id="18" name="Text 16"/>
          <p:cNvSpPr/>
          <p:nvPr/>
        </p:nvSpPr>
        <p:spPr>
          <a:xfrm>
            <a:off x="6236208" y="2395728"/>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9" name="Text 17"/>
          <p:cNvSpPr/>
          <p:nvPr/>
        </p:nvSpPr>
        <p:spPr>
          <a:xfrm>
            <a:off x="6720840" y="2295144"/>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Bioacoustic Recognition Engine</a:t>
            </a:r>
            <a:endParaRPr lang="en-US" sz="1500" dirty="0"/>
          </a:p>
        </p:txBody>
      </p:sp>
      <p:sp>
        <p:nvSpPr>
          <p:cNvPr id="20" name="Shape 18"/>
          <p:cNvSpPr/>
          <p:nvPr/>
        </p:nvSpPr>
        <p:spPr>
          <a:xfrm>
            <a:off x="548640" y="2990088"/>
            <a:ext cx="5212080" cy="566928"/>
          </a:xfrm>
          <a:prstGeom prst="roundRect">
            <a:avLst>
              <a:gd name="adj" fmla="val 9677"/>
            </a:avLst>
          </a:prstGeom>
          <a:solidFill>
            <a:srgbClr val="FFFFFF"/>
          </a:solidFill>
          <a:ln w="12700">
            <a:solidFill>
              <a:srgbClr val="CAD2C5"/>
            </a:solidFill>
            <a:prstDash val="solid"/>
          </a:ln>
        </p:spPr>
      </p:sp>
      <p:sp>
        <p:nvSpPr>
          <p:cNvPr id="21" name="Shape 19"/>
          <p:cNvSpPr/>
          <p:nvPr/>
        </p:nvSpPr>
        <p:spPr>
          <a:xfrm>
            <a:off x="658368" y="3090672"/>
            <a:ext cx="365760" cy="365760"/>
          </a:xfrm>
          <a:prstGeom prst="ellipse">
            <a:avLst/>
          </a:prstGeom>
          <a:solidFill>
            <a:srgbClr val="1B4332"/>
          </a:solidFill>
          <a:ln/>
        </p:spPr>
      </p:sp>
      <p:sp>
        <p:nvSpPr>
          <p:cNvPr id="22" name="Text 20"/>
          <p:cNvSpPr/>
          <p:nvPr/>
        </p:nvSpPr>
        <p:spPr>
          <a:xfrm>
            <a:off x="658368" y="3090672"/>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3" name="Text 21"/>
          <p:cNvSpPr/>
          <p:nvPr/>
        </p:nvSpPr>
        <p:spPr>
          <a:xfrm>
            <a:off x="1143000" y="2990088"/>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Species Identification Engine</a:t>
            </a:r>
            <a:endParaRPr lang="en-US" sz="1500" dirty="0"/>
          </a:p>
        </p:txBody>
      </p:sp>
      <p:sp>
        <p:nvSpPr>
          <p:cNvPr id="24" name="Shape 22"/>
          <p:cNvSpPr/>
          <p:nvPr/>
        </p:nvSpPr>
        <p:spPr>
          <a:xfrm>
            <a:off x="6126480" y="2990088"/>
            <a:ext cx="5212080" cy="566928"/>
          </a:xfrm>
          <a:prstGeom prst="roundRect">
            <a:avLst>
              <a:gd name="adj" fmla="val 9677"/>
            </a:avLst>
          </a:prstGeom>
          <a:solidFill>
            <a:srgbClr val="FFFFFF"/>
          </a:solidFill>
          <a:ln w="12700">
            <a:solidFill>
              <a:srgbClr val="CAD2C5"/>
            </a:solidFill>
            <a:prstDash val="solid"/>
          </a:ln>
        </p:spPr>
      </p:sp>
      <p:sp>
        <p:nvSpPr>
          <p:cNvPr id="25" name="Shape 23"/>
          <p:cNvSpPr/>
          <p:nvPr/>
        </p:nvSpPr>
        <p:spPr>
          <a:xfrm>
            <a:off x="6236208" y="3090672"/>
            <a:ext cx="365760" cy="365760"/>
          </a:xfrm>
          <a:prstGeom prst="ellipse">
            <a:avLst/>
          </a:prstGeom>
          <a:solidFill>
            <a:srgbClr val="52796F"/>
          </a:solidFill>
          <a:ln/>
        </p:spPr>
      </p:sp>
      <p:sp>
        <p:nvSpPr>
          <p:cNvPr id="26" name="Text 24"/>
          <p:cNvSpPr/>
          <p:nvPr/>
        </p:nvSpPr>
        <p:spPr>
          <a:xfrm>
            <a:off x="6236208" y="3090672"/>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7" name="Text 25"/>
          <p:cNvSpPr/>
          <p:nvPr/>
        </p:nvSpPr>
        <p:spPr>
          <a:xfrm>
            <a:off x="6720840" y="2990088"/>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Population Estimation Engine</a:t>
            </a:r>
            <a:endParaRPr lang="en-US" sz="1500" dirty="0"/>
          </a:p>
        </p:txBody>
      </p:sp>
      <p:sp>
        <p:nvSpPr>
          <p:cNvPr id="28" name="Shape 26"/>
          <p:cNvSpPr/>
          <p:nvPr/>
        </p:nvSpPr>
        <p:spPr>
          <a:xfrm>
            <a:off x="548640" y="3685032"/>
            <a:ext cx="5212080" cy="566928"/>
          </a:xfrm>
          <a:prstGeom prst="roundRect">
            <a:avLst>
              <a:gd name="adj" fmla="val 9677"/>
            </a:avLst>
          </a:prstGeom>
          <a:solidFill>
            <a:srgbClr val="FFFFFF"/>
          </a:solidFill>
          <a:ln w="12700">
            <a:solidFill>
              <a:srgbClr val="CAD2C5"/>
            </a:solidFill>
            <a:prstDash val="solid"/>
          </a:ln>
        </p:spPr>
      </p:sp>
      <p:sp>
        <p:nvSpPr>
          <p:cNvPr id="29" name="Shape 27"/>
          <p:cNvSpPr/>
          <p:nvPr/>
        </p:nvSpPr>
        <p:spPr>
          <a:xfrm>
            <a:off x="658368" y="3785616"/>
            <a:ext cx="365760" cy="365760"/>
          </a:xfrm>
          <a:prstGeom prst="ellipse">
            <a:avLst/>
          </a:prstGeom>
          <a:solidFill>
            <a:srgbClr val="52796F"/>
          </a:solidFill>
          <a:ln/>
        </p:spPr>
      </p:sp>
      <p:sp>
        <p:nvSpPr>
          <p:cNvPr id="30" name="Text 28"/>
          <p:cNvSpPr/>
          <p:nvPr/>
        </p:nvSpPr>
        <p:spPr>
          <a:xfrm>
            <a:off x="658368" y="3785616"/>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31" name="Text 29"/>
          <p:cNvSpPr/>
          <p:nvPr/>
        </p:nvSpPr>
        <p:spPr>
          <a:xfrm>
            <a:off x="1143000" y="3685032"/>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Biodiversity Intelligence Engine</a:t>
            </a:r>
            <a:endParaRPr lang="en-US" sz="1500" dirty="0"/>
          </a:p>
        </p:txBody>
      </p:sp>
      <p:sp>
        <p:nvSpPr>
          <p:cNvPr id="32" name="Shape 30"/>
          <p:cNvSpPr/>
          <p:nvPr/>
        </p:nvSpPr>
        <p:spPr>
          <a:xfrm>
            <a:off x="6126480" y="3685032"/>
            <a:ext cx="5212080" cy="566928"/>
          </a:xfrm>
          <a:prstGeom prst="roundRect">
            <a:avLst>
              <a:gd name="adj" fmla="val 9677"/>
            </a:avLst>
          </a:prstGeom>
          <a:solidFill>
            <a:srgbClr val="FFFFFF"/>
          </a:solidFill>
          <a:ln w="12700">
            <a:solidFill>
              <a:srgbClr val="CAD2C5"/>
            </a:solidFill>
            <a:prstDash val="solid"/>
          </a:ln>
        </p:spPr>
      </p:sp>
      <p:sp>
        <p:nvSpPr>
          <p:cNvPr id="33" name="Shape 31"/>
          <p:cNvSpPr/>
          <p:nvPr/>
        </p:nvSpPr>
        <p:spPr>
          <a:xfrm>
            <a:off x="6236208" y="3785616"/>
            <a:ext cx="365760" cy="365760"/>
          </a:xfrm>
          <a:prstGeom prst="ellipse">
            <a:avLst/>
          </a:prstGeom>
          <a:solidFill>
            <a:srgbClr val="52796F"/>
          </a:solidFill>
          <a:ln/>
        </p:spPr>
      </p:sp>
      <p:sp>
        <p:nvSpPr>
          <p:cNvPr id="34" name="Text 32"/>
          <p:cNvSpPr/>
          <p:nvPr/>
        </p:nvSpPr>
        <p:spPr>
          <a:xfrm>
            <a:off x="6236208" y="3785616"/>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35" name="Text 33"/>
          <p:cNvSpPr/>
          <p:nvPr/>
        </p:nvSpPr>
        <p:spPr>
          <a:xfrm>
            <a:off x="6720840" y="3685032"/>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Habitat Intelligence Engine</a:t>
            </a:r>
            <a:endParaRPr lang="en-US" sz="1500" dirty="0"/>
          </a:p>
        </p:txBody>
      </p:sp>
      <p:sp>
        <p:nvSpPr>
          <p:cNvPr id="36" name="Shape 34"/>
          <p:cNvSpPr/>
          <p:nvPr/>
        </p:nvSpPr>
        <p:spPr>
          <a:xfrm>
            <a:off x="548640" y="4379976"/>
            <a:ext cx="5212080" cy="566928"/>
          </a:xfrm>
          <a:prstGeom prst="roundRect">
            <a:avLst>
              <a:gd name="adj" fmla="val 9677"/>
            </a:avLst>
          </a:prstGeom>
          <a:solidFill>
            <a:srgbClr val="FFFFFF"/>
          </a:solidFill>
          <a:ln w="12700">
            <a:solidFill>
              <a:srgbClr val="CAD2C5"/>
            </a:solidFill>
            <a:prstDash val="solid"/>
          </a:ln>
        </p:spPr>
      </p:sp>
      <p:sp>
        <p:nvSpPr>
          <p:cNvPr id="37" name="Shape 35"/>
          <p:cNvSpPr/>
          <p:nvPr/>
        </p:nvSpPr>
        <p:spPr>
          <a:xfrm>
            <a:off x="658368" y="4480560"/>
            <a:ext cx="365760" cy="365760"/>
          </a:xfrm>
          <a:prstGeom prst="ellipse">
            <a:avLst/>
          </a:prstGeom>
          <a:solidFill>
            <a:srgbClr val="52796F"/>
          </a:solidFill>
          <a:ln/>
        </p:spPr>
      </p:sp>
      <p:sp>
        <p:nvSpPr>
          <p:cNvPr id="38" name="Text 36"/>
          <p:cNvSpPr/>
          <p:nvPr/>
        </p:nvSpPr>
        <p:spPr>
          <a:xfrm>
            <a:off x="658368" y="4480560"/>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39" name="Text 37"/>
          <p:cNvSpPr/>
          <p:nvPr/>
        </p:nvSpPr>
        <p:spPr>
          <a:xfrm>
            <a:off x="1143000" y="4379976"/>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Conservation Recommendation Engine</a:t>
            </a:r>
            <a:endParaRPr lang="en-US" sz="1500" dirty="0"/>
          </a:p>
        </p:txBody>
      </p:sp>
      <p:sp>
        <p:nvSpPr>
          <p:cNvPr id="40" name="Shape 38"/>
          <p:cNvSpPr/>
          <p:nvPr/>
        </p:nvSpPr>
        <p:spPr>
          <a:xfrm>
            <a:off x="6126480" y="4379976"/>
            <a:ext cx="5212080" cy="566928"/>
          </a:xfrm>
          <a:prstGeom prst="roundRect">
            <a:avLst>
              <a:gd name="adj" fmla="val 9677"/>
            </a:avLst>
          </a:prstGeom>
          <a:solidFill>
            <a:srgbClr val="FFFFFF"/>
          </a:solidFill>
          <a:ln w="12700">
            <a:solidFill>
              <a:srgbClr val="CAD2C5"/>
            </a:solidFill>
            <a:prstDash val="solid"/>
          </a:ln>
        </p:spPr>
      </p:sp>
      <p:sp>
        <p:nvSpPr>
          <p:cNvPr id="41" name="Shape 39"/>
          <p:cNvSpPr/>
          <p:nvPr/>
        </p:nvSpPr>
        <p:spPr>
          <a:xfrm>
            <a:off x="6236208" y="4480560"/>
            <a:ext cx="365760" cy="365760"/>
          </a:xfrm>
          <a:prstGeom prst="ellipse">
            <a:avLst/>
          </a:prstGeom>
          <a:solidFill>
            <a:srgbClr val="52796F"/>
          </a:solidFill>
          <a:ln/>
        </p:spPr>
      </p:sp>
      <p:sp>
        <p:nvSpPr>
          <p:cNvPr id="42" name="Text 40"/>
          <p:cNvSpPr/>
          <p:nvPr/>
        </p:nvSpPr>
        <p:spPr>
          <a:xfrm>
            <a:off x="6236208" y="4480560"/>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10</a:t>
            </a:r>
            <a:endParaRPr lang="en-US" sz="1400" dirty="0"/>
          </a:p>
        </p:txBody>
      </p:sp>
      <p:sp>
        <p:nvSpPr>
          <p:cNvPr id="43" name="Text 41"/>
          <p:cNvSpPr/>
          <p:nvPr/>
        </p:nvSpPr>
        <p:spPr>
          <a:xfrm>
            <a:off x="6720840" y="4379976"/>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Wildlife Health Scoring Engine</a:t>
            </a:r>
            <a:endParaRPr lang="en-US" sz="1500" dirty="0"/>
          </a:p>
        </p:txBody>
      </p:sp>
      <p:sp>
        <p:nvSpPr>
          <p:cNvPr id="44" name="Shape 42"/>
          <p:cNvSpPr/>
          <p:nvPr/>
        </p:nvSpPr>
        <p:spPr>
          <a:xfrm>
            <a:off x="548640" y="5074920"/>
            <a:ext cx="5212080" cy="566928"/>
          </a:xfrm>
          <a:prstGeom prst="roundRect">
            <a:avLst>
              <a:gd name="adj" fmla="val 9677"/>
            </a:avLst>
          </a:prstGeom>
          <a:solidFill>
            <a:srgbClr val="FFFFFF"/>
          </a:solidFill>
          <a:ln w="12700">
            <a:solidFill>
              <a:srgbClr val="CAD2C5"/>
            </a:solidFill>
            <a:prstDash val="solid"/>
          </a:ln>
        </p:spPr>
      </p:sp>
      <p:sp>
        <p:nvSpPr>
          <p:cNvPr id="45" name="Shape 43"/>
          <p:cNvSpPr/>
          <p:nvPr/>
        </p:nvSpPr>
        <p:spPr>
          <a:xfrm>
            <a:off x="658368" y="5175504"/>
            <a:ext cx="365760" cy="365760"/>
          </a:xfrm>
          <a:prstGeom prst="ellipse">
            <a:avLst/>
          </a:prstGeom>
          <a:solidFill>
            <a:srgbClr val="B5802E"/>
          </a:solidFill>
          <a:ln/>
        </p:spPr>
      </p:sp>
      <p:sp>
        <p:nvSpPr>
          <p:cNvPr id="46" name="Text 44"/>
          <p:cNvSpPr/>
          <p:nvPr/>
        </p:nvSpPr>
        <p:spPr>
          <a:xfrm>
            <a:off x="658368" y="5175504"/>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11</a:t>
            </a:r>
            <a:endParaRPr lang="en-US" sz="1400" dirty="0"/>
          </a:p>
        </p:txBody>
      </p:sp>
      <p:sp>
        <p:nvSpPr>
          <p:cNvPr id="47" name="Text 45"/>
          <p:cNvSpPr/>
          <p:nvPr/>
        </p:nvSpPr>
        <p:spPr>
          <a:xfrm>
            <a:off x="1143000" y="5074920"/>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Dashboard &amp; Analytics</a:t>
            </a:r>
            <a:endParaRPr lang="en-US" sz="1500" dirty="0"/>
          </a:p>
        </p:txBody>
      </p:sp>
      <p:sp>
        <p:nvSpPr>
          <p:cNvPr id="48" name="Shape 46"/>
          <p:cNvSpPr/>
          <p:nvPr/>
        </p:nvSpPr>
        <p:spPr>
          <a:xfrm>
            <a:off x="6126480" y="5074920"/>
            <a:ext cx="5212080" cy="566928"/>
          </a:xfrm>
          <a:prstGeom prst="roundRect">
            <a:avLst>
              <a:gd name="adj" fmla="val 9677"/>
            </a:avLst>
          </a:prstGeom>
          <a:solidFill>
            <a:srgbClr val="FFFFFF"/>
          </a:solidFill>
          <a:ln w="12700">
            <a:solidFill>
              <a:srgbClr val="CAD2C5"/>
            </a:solidFill>
            <a:prstDash val="solid"/>
          </a:ln>
        </p:spPr>
      </p:sp>
      <p:sp>
        <p:nvSpPr>
          <p:cNvPr id="49" name="Shape 47"/>
          <p:cNvSpPr/>
          <p:nvPr/>
        </p:nvSpPr>
        <p:spPr>
          <a:xfrm>
            <a:off x="6236208" y="5175504"/>
            <a:ext cx="365760" cy="365760"/>
          </a:xfrm>
          <a:prstGeom prst="ellipse">
            <a:avLst/>
          </a:prstGeom>
          <a:solidFill>
            <a:srgbClr val="B5802E"/>
          </a:solidFill>
          <a:ln/>
        </p:spPr>
      </p:sp>
      <p:sp>
        <p:nvSpPr>
          <p:cNvPr id="50" name="Text 48"/>
          <p:cNvSpPr/>
          <p:nvPr/>
        </p:nvSpPr>
        <p:spPr>
          <a:xfrm>
            <a:off x="6236208" y="5175504"/>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12</a:t>
            </a:r>
            <a:endParaRPr lang="en-US" sz="1400" dirty="0"/>
          </a:p>
        </p:txBody>
      </p:sp>
      <p:sp>
        <p:nvSpPr>
          <p:cNvPr id="51" name="Text 49"/>
          <p:cNvSpPr/>
          <p:nvPr/>
        </p:nvSpPr>
        <p:spPr>
          <a:xfrm>
            <a:off x="6720840" y="5074920"/>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Notification &amp; Alert System</a:t>
            </a:r>
            <a:endParaRPr lang="en-US" sz="1500" dirty="0"/>
          </a:p>
        </p:txBody>
      </p:sp>
      <p:sp>
        <p:nvSpPr>
          <p:cNvPr id="52" name="Shape 50"/>
          <p:cNvSpPr/>
          <p:nvPr/>
        </p:nvSpPr>
        <p:spPr>
          <a:xfrm>
            <a:off x="548640" y="5769864"/>
            <a:ext cx="5212080" cy="566928"/>
          </a:xfrm>
          <a:prstGeom prst="roundRect">
            <a:avLst>
              <a:gd name="adj" fmla="val 9677"/>
            </a:avLst>
          </a:prstGeom>
          <a:solidFill>
            <a:srgbClr val="FFFFFF"/>
          </a:solidFill>
          <a:ln w="12700">
            <a:solidFill>
              <a:srgbClr val="CAD2C5"/>
            </a:solidFill>
            <a:prstDash val="solid"/>
          </a:ln>
        </p:spPr>
      </p:sp>
      <p:sp>
        <p:nvSpPr>
          <p:cNvPr id="53" name="Shape 51"/>
          <p:cNvSpPr/>
          <p:nvPr/>
        </p:nvSpPr>
        <p:spPr>
          <a:xfrm>
            <a:off x="658368" y="5870448"/>
            <a:ext cx="365760" cy="365760"/>
          </a:xfrm>
          <a:prstGeom prst="ellipse">
            <a:avLst/>
          </a:prstGeom>
          <a:solidFill>
            <a:srgbClr val="B5802E"/>
          </a:solidFill>
          <a:ln/>
        </p:spPr>
      </p:sp>
      <p:sp>
        <p:nvSpPr>
          <p:cNvPr id="54" name="Text 52"/>
          <p:cNvSpPr/>
          <p:nvPr/>
        </p:nvSpPr>
        <p:spPr>
          <a:xfrm>
            <a:off x="658368" y="5870448"/>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13</a:t>
            </a:r>
            <a:endParaRPr lang="en-US" sz="1400" dirty="0"/>
          </a:p>
        </p:txBody>
      </p:sp>
      <p:sp>
        <p:nvSpPr>
          <p:cNvPr id="55" name="Text 53"/>
          <p:cNvSpPr/>
          <p:nvPr/>
        </p:nvSpPr>
        <p:spPr>
          <a:xfrm>
            <a:off x="1143000" y="5769864"/>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Reports &amp; Export System</a:t>
            </a:r>
            <a:endParaRPr lang="en-US" sz="1500" dirty="0"/>
          </a:p>
        </p:txBody>
      </p:sp>
      <p:sp>
        <p:nvSpPr>
          <p:cNvPr id="56" name="Shape 54"/>
          <p:cNvSpPr/>
          <p:nvPr/>
        </p:nvSpPr>
        <p:spPr>
          <a:xfrm>
            <a:off x="6126480" y="5769864"/>
            <a:ext cx="5212080" cy="566928"/>
          </a:xfrm>
          <a:prstGeom prst="roundRect">
            <a:avLst>
              <a:gd name="adj" fmla="val 9677"/>
            </a:avLst>
          </a:prstGeom>
          <a:solidFill>
            <a:srgbClr val="FFFFFF"/>
          </a:solidFill>
          <a:ln w="12700">
            <a:solidFill>
              <a:srgbClr val="CAD2C5"/>
            </a:solidFill>
            <a:prstDash val="solid"/>
          </a:ln>
        </p:spPr>
      </p:sp>
      <p:sp>
        <p:nvSpPr>
          <p:cNvPr id="57" name="Shape 55"/>
          <p:cNvSpPr/>
          <p:nvPr/>
        </p:nvSpPr>
        <p:spPr>
          <a:xfrm>
            <a:off x="6236208" y="5870448"/>
            <a:ext cx="365760" cy="365760"/>
          </a:xfrm>
          <a:prstGeom prst="ellipse">
            <a:avLst/>
          </a:prstGeom>
          <a:solidFill>
            <a:srgbClr val="B5802E"/>
          </a:solidFill>
          <a:ln/>
        </p:spPr>
      </p:sp>
      <p:sp>
        <p:nvSpPr>
          <p:cNvPr id="58" name="Text 56"/>
          <p:cNvSpPr/>
          <p:nvPr/>
        </p:nvSpPr>
        <p:spPr>
          <a:xfrm>
            <a:off x="6236208" y="5870448"/>
            <a:ext cx="365760" cy="36576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14</a:t>
            </a:r>
            <a:endParaRPr lang="en-US" sz="1400" dirty="0"/>
          </a:p>
        </p:txBody>
      </p:sp>
      <p:sp>
        <p:nvSpPr>
          <p:cNvPr id="59" name="Text 57"/>
          <p:cNvSpPr/>
          <p:nvPr/>
        </p:nvSpPr>
        <p:spPr>
          <a:xfrm>
            <a:off x="6720840" y="5769864"/>
            <a:ext cx="4480560" cy="566928"/>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GIS &amp; Executive Intelligence</a:t>
            </a:r>
            <a:endParaRPr lang="en-US" sz="1500" dirty="0"/>
          </a:p>
        </p:txBody>
      </p:sp>
      <p:sp>
        <p:nvSpPr>
          <p:cNvPr id="60" name="Text 58"/>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61" name="Text 59"/>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ACCESS &amp; EXPERIENCE</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User Roles &amp; Role-Based Dashboards</a:t>
            </a:r>
            <a:endParaRPr lang="en-US" sz="3000" dirty="0"/>
          </a:p>
        </p:txBody>
      </p:sp>
      <p:sp>
        <p:nvSpPr>
          <p:cNvPr id="4" name="Shape 2"/>
          <p:cNvSpPr/>
          <p:nvPr/>
        </p:nvSpPr>
        <p:spPr>
          <a:xfrm>
            <a:off x="548640" y="1737360"/>
            <a:ext cx="2606040" cy="4206240"/>
          </a:xfrm>
          <a:prstGeom prst="roundRect">
            <a:avLst>
              <a:gd name="adj" fmla="val 2807"/>
            </a:avLst>
          </a:prstGeom>
          <a:solidFill>
            <a:srgbClr val="1B4332"/>
          </a:solidFill>
          <a:ln w="12700">
            <a:solidFill>
              <a:srgbClr val="CAD2C5"/>
            </a:solidFill>
            <a:prstDash val="solid"/>
          </a:ln>
          <a:effectLst>
            <a:outerShdw blurRad="76200" dist="25400" dir="5400000" algn="bl" rotWithShape="0">
              <a:srgbClr val="1B4332">
                <a:alpha val="12000"/>
              </a:srgbClr>
            </a:outerShdw>
          </a:effectLst>
        </p:spPr>
      </p:sp>
      <p:sp>
        <p:nvSpPr>
          <p:cNvPr id="5" name="Text 3"/>
          <p:cNvSpPr/>
          <p:nvPr/>
        </p:nvSpPr>
        <p:spPr>
          <a:xfrm>
            <a:off x="749808" y="2011680"/>
            <a:ext cx="2203704" cy="82296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Wildlife Researcher</a:t>
            </a:r>
            <a:endParaRPr lang="en-US" sz="1900" dirty="0"/>
          </a:p>
        </p:txBody>
      </p:sp>
      <p:sp>
        <p:nvSpPr>
          <p:cNvPr id="6" name="Shape 4"/>
          <p:cNvSpPr/>
          <p:nvPr/>
        </p:nvSpPr>
        <p:spPr>
          <a:xfrm>
            <a:off x="749808" y="2788920"/>
            <a:ext cx="548640" cy="0"/>
          </a:xfrm>
          <a:prstGeom prst="line">
            <a:avLst/>
          </a:prstGeom>
          <a:noFill/>
          <a:ln w="25400">
            <a:solidFill>
              <a:srgbClr val="D9A441"/>
            </a:solidFill>
            <a:prstDash val="solid"/>
          </a:ln>
        </p:spPr>
      </p:sp>
      <p:sp>
        <p:nvSpPr>
          <p:cNvPr id="7" name="Text 5"/>
          <p:cNvSpPr/>
          <p:nvPr/>
        </p:nvSpPr>
        <p:spPr>
          <a:xfrm>
            <a:off x="749808" y="2971800"/>
            <a:ext cx="2203704" cy="2834640"/>
          </a:xfrm>
          <a:prstGeom prst="rect">
            <a:avLst/>
          </a:prstGeom>
          <a:noFill/>
          <a:ln/>
        </p:spPr>
        <p:txBody>
          <a:bodyPr wrap="square" rtlCol="0" anchor="ctr"/>
          <a:lstStyle/>
          <a:p>
            <a:pPr marL="0" indent="0">
              <a:lnSpc>
                <a:spcPct val="130000"/>
              </a:lnSpc>
              <a:buNone/>
            </a:pPr>
            <a:r>
              <a:rPr lang="en-US" sz="1350" dirty="0">
                <a:solidFill>
                  <a:srgbClr val="CAD2C5"/>
                </a:solidFill>
                <a:latin typeface="Calibri" pitchFamily="34" charset="0"/>
                <a:ea typeface="Calibri" pitchFamily="34" charset="-122"/>
                <a:cs typeface="Calibri" pitchFamily="34" charset="-120"/>
              </a:rPr>
              <a:t>Species observations, population analytics, biodiversity reports, habitat insights</a:t>
            </a:r>
            <a:endParaRPr lang="en-US" sz="1350" dirty="0"/>
          </a:p>
        </p:txBody>
      </p:sp>
      <p:sp>
        <p:nvSpPr>
          <p:cNvPr id="8" name="Shape 6"/>
          <p:cNvSpPr/>
          <p:nvPr/>
        </p:nvSpPr>
        <p:spPr>
          <a:xfrm>
            <a:off x="3355848" y="1737360"/>
            <a:ext cx="2606040" cy="4206240"/>
          </a:xfrm>
          <a:prstGeom prst="roundRect">
            <a:avLst>
              <a:gd name="adj" fmla="val 2807"/>
            </a:avLst>
          </a:prstGeom>
          <a:solidFill>
            <a:srgbClr val="52796F"/>
          </a:solidFill>
          <a:ln w="12700">
            <a:solidFill>
              <a:srgbClr val="CAD2C5"/>
            </a:solidFill>
            <a:prstDash val="solid"/>
          </a:ln>
          <a:effectLst>
            <a:outerShdw blurRad="76200" dist="25400" dir="5400000" algn="bl" rotWithShape="0">
              <a:srgbClr val="1B4332">
                <a:alpha val="12000"/>
              </a:srgbClr>
            </a:outerShdw>
          </a:effectLst>
        </p:spPr>
      </p:sp>
      <p:sp>
        <p:nvSpPr>
          <p:cNvPr id="9" name="Text 7"/>
          <p:cNvSpPr/>
          <p:nvPr/>
        </p:nvSpPr>
        <p:spPr>
          <a:xfrm>
            <a:off x="3557016" y="2011680"/>
            <a:ext cx="2203704" cy="82296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Conservation Officer</a:t>
            </a:r>
            <a:endParaRPr lang="en-US" sz="1900" dirty="0"/>
          </a:p>
        </p:txBody>
      </p:sp>
      <p:sp>
        <p:nvSpPr>
          <p:cNvPr id="10" name="Shape 8"/>
          <p:cNvSpPr/>
          <p:nvPr/>
        </p:nvSpPr>
        <p:spPr>
          <a:xfrm>
            <a:off x="3557016" y="2788920"/>
            <a:ext cx="548640" cy="0"/>
          </a:xfrm>
          <a:prstGeom prst="line">
            <a:avLst/>
          </a:prstGeom>
          <a:noFill/>
          <a:ln w="25400">
            <a:solidFill>
              <a:srgbClr val="D9A441"/>
            </a:solidFill>
            <a:prstDash val="solid"/>
          </a:ln>
        </p:spPr>
      </p:sp>
      <p:sp>
        <p:nvSpPr>
          <p:cNvPr id="11" name="Text 9"/>
          <p:cNvSpPr/>
          <p:nvPr/>
        </p:nvSpPr>
        <p:spPr>
          <a:xfrm>
            <a:off x="3557016" y="2971800"/>
            <a:ext cx="2203704" cy="2834640"/>
          </a:xfrm>
          <a:prstGeom prst="rect">
            <a:avLst/>
          </a:prstGeom>
          <a:noFill/>
          <a:ln/>
        </p:spPr>
        <p:txBody>
          <a:bodyPr wrap="square" rtlCol="0" anchor="ctr"/>
          <a:lstStyle/>
          <a:p>
            <a:pPr marL="0" indent="0">
              <a:lnSpc>
                <a:spcPct val="130000"/>
              </a:lnSpc>
              <a:buNone/>
            </a:pPr>
            <a:r>
              <a:rPr lang="en-US" sz="1350" dirty="0">
                <a:solidFill>
                  <a:srgbClr val="CAD2C5"/>
                </a:solidFill>
                <a:latin typeface="Calibri" pitchFamily="34" charset="0"/>
                <a:ea typeface="Calibri" pitchFamily="34" charset="-122"/>
                <a:cs typeface="Calibri" pitchFamily="34" charset="-120"/>
              </a:rPr>
              <a:t>Threat monitoring, conservation priorities, species trend analysis, restoration recs</a:t>
            </a:r>
            <a:endParaRPr lang="en-US" sz="1350" dirty="0"/>
          </a:p>
        </p:txBody>
      </p:sp>
      <p:sp>
        <p:nvSpPr>
          <p:cNvPr id="12" name="Shape 10"/>
          <p:cNvSpPr/>
          <p:nvPr/>
        </p:nvSpPr>
        <p:spPr>
          <a:xfrm>
            <a:off x="6163056" y="1737360"/>
            <a:ext cx="2606040" cy="4206240"/>
          </a:xfrm>
          <a:prstGeom prst="roundRect">
            <a:avLst>
              <a:gd name="adj" fmla="val 2807"/>
            </a:avLst>
          </a:prstGeom>
          <a:solidFill>
            <a:srgbClr val="84A98C"/>
          </a:solidFill>
          <a:ln w="12700">
            <a:solidFill>
              <a:srgbClr val="CAD2C5"/>
            </a:solidFill>
            <a:prstDash val="solid"/>
          </a:ln>
          <a:effectLst>
            <a:outerShdw blurRad="76200" dist="25400" dir="5400000" algn="bl" rotWithShape="0">
              <a:srgbClr val="1B4332">
                <a:alpha val="12000"/>
              </a:srgbClr>
            </a:outerShdw>
          </a:effectLst>
        </p:spPr>
      </p:sp>
      <p:sp>
        <p:nvSpPr>
          <p:cNvPr id="13" name="Text 11"/>
          <p:cNvSpPr/>
          <p:nvPr/>
        </p:nvSpPr>
        <p:spPr>
          <a:xfrm>
            <a:off x="6364224" y="2011680"/>
            <a:ext cx="2203704" cy="82296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Forest Department</a:t>
            </a:r>
            <a:endParaRPr lang="en-US" sz="1900" dirty="0"/>
          </a:p>
        </p:txBody>
      </p:sp>
      <p:sp>
        <p:nvSpPr>
          <p:cNvPr id="14" name="Shape 12"/>
          <p:cNvSpPr/>
          <p:nvPr/>
        </p:nvSpPr>
        <p:spPr>
          <a:xfrm>
            <a:off x="6364224" y="2788920"/>
            <a:ext cx="548640" cy="0"/>
          </a:xfrm>
          <a:prstGeom prst="line">
            <a:avLst/>
          </a:prstGeom>
          <a:noFill/>
          <a:ln w="25400">
            <a:solidFill>
              <a:srgbClr val="D9A441"/>
            </a:solidFill>
            <a:prstDash val="solid"/>
          </a:ln>
        </p:spPr>
      </p:sp>
      <p:sp>
        <p:nvSpPr>
          <p:cNvPr id="15" name="Text 13"/>
          <p:cNvSpPr/>
          <p:nvPr/>
        </p:nvSpPr>
        <p:spPr>
          <a:xfrm>
            <a:off x="6364224" y="2971800"/>
            <a:ext cx="2203704" cy="2834640"/>
          </a:xfrm>
          <a:prstGeom prst="rect">
            <a:avLst/>
          </a:prstGeom>
          <a:noFill/>
          <a:ln/>
        </p:spPr>
        <p:txBody>
          <a:bodyPr wrap="square" rtlCol="0" anchor="ctr"/>
          <a:lstStyle/>
          <a:p>
            <a:pPr marL="0" indent="0">
              <a:lnSpc>
                <a:spcPct val="130000"/>
              </a:lnSpc>
              <a:buNone/>
            </a:pPr>
            <a:r>
              <a:rPr lang="en-US" sz="1350" dirty="0">
                <a:solidFill>
                  <a:srgbClr val="CAD2C5"/>
                </a:solidFill>
                <a:latin typeface="Calibri" pitchFamily="34" charset="0"/>
                <a:ea typeface="Calibri" pitchFamily="34" charset="-122"/>
                <a:cs typeface="Calibri" pitchFamily="34" charset="-120"/>
              </a:rPr>
              <a:t>Protected area monitoring, wildlife movement, patrol planning, incident reports</a:t>
            </a:r>
            <a:endParaRPr lang="en-US" sz="1350" dirty="0"/>
          </a:p>
        </p:txBody>
      </p:sp>
      <p:sp>
        <p:nvSpPr>
          <p:cNvPr id="16" name="Shape 14"/>
          <p:cNvSpPr/>
          <p:nvPr/>
        </p:nvSpPr>
        <p:spPr>
          <a:xfrm>
            <a:off x="8970264" y="1737360"/>
            <a:ext cx="2606040" cy="4206240"/>
          </a:xfrm>
          <a:prstGeom prst="roundRect">
            <a:avLst>
              <a:gd name="adj" fmla="val 2807"/>
            </a:avLst>
          </a:prstGeom>
          <a:solidFill>
            <a:srgbClr val="B5802E"/>
          </a:solidFill>
          <a:ln w="12700">
            <a:solidFill>
              <a:srgbClr val="CAD2C5"/>
            </a:solidFill>
            <a:prstDash val="solid"/>
          </a:ln>
          <a:effectLst>
            <a:outerShdw blurRad="76200" dist="25400" dir="5400000" algn="bl" rotWithShape="0">
              <a:srgbClr val="1B4332">
                <a:alpha val="12000"/>
              </a:srgbClr>
            </a:outerShdw>
          </a:effectLst>
        </p:spPr>
      </p:sp>
      <p:sp>
        <p:nvSpPr>
          <p:cNvPr id="17" name="Text 15"/>
          <p:cNvSpPr/>
          <p:nvPr/>
        </p:nvSpPr>
        <p:spPr>
          <a:xfrm>
            <a:off x="9171432" y="2011680"/>
            <a:ext cx="2203704" cy="822960"/>
          </a:xfrm>
          <a:prstGeom prst="rect">
            <a:avLst/>
          </a:prstGeom>
          <a:noFill/>
          <a:ln/>
        </p:spPr>
        <p:txBody>
          <a:bodyPr wrap="square"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Administrator</a:t>
            </a:r>
            <a:endParaRPr lang="en-US" sz="1900" dirty="0"/>
          </a:p>
        </p:txBody>
      </p:sp>
      <p:sp>
        <p:nvSpPr>
          <p:cNvPr id="18" name="Shape 16"/>
          <p:cNvSpPr/>
          <p:nvPr/>
        </p:nvSpPr>
        <p:spPr>
          <a:xfrm>
            <a:off x="9171432" y="2788920"/>
            <a:ext cx="548640" cy="0"/>
          </a:xfrm>
          <a:prstGeom prst="line">
            <a:avLst/>
          </a:prstGeom>
          <a:noFill/>
          <a:ln w="25400">
            <a:solidFill>
              <a:srgbClr val="D9A441"/>
            </a:solidFill>
            <a:prstDash val="solid"/>
          </a:ln>
        </p:spPr>
      </p:sp>
      <p:sp>
        <p:nvSpPr>
          <p:cNvPr id="19" name="Text 17"/>
          <p:cNvSpPr/>
          <p:nvPr/>
        </p:nvSpPr>
        <p:spPr>
          <a:xfrm>
            <a:off x="9171432" y="2971800"/>
            <a:ext cx="2203704" cy="2834640"/>
          </a:xfrm>
          <a:prstGeom prst="rect">
            <a:avLst/>
          </a:prstGeom>
          <a:noFill/>
          <a:ln/>
        </p:spPr>
        <p:txBody>
          <a:bodyPr wrap="square" rtlCol="0" anchor="ctr"/>
          <a:lstStyle/>
          <a:p>
            <a:pPr marL="0" indent="0">
              <a:lnSpc>
                <a:spcPct val="130000"/>
              </a:lnSpc>
              <a:buNone/>
            </a:pPr>
            <a:r>
              <a:rPr lang="en-US" sz="1350" dirty="0">
                <a:solidFill>
                  <a:srgbClr val="CAD2C5"/>
                </a:solidFill>
                <a:latin typeface="Calibri" pitchFamily="34" charset="0"/>
                <a:ea typeface="Calibri" pitchFamily="34" charset="-122"/>
                <a:cs typeface="Calibri" pitchFamily="34" charset="-120"/>
              </a:rPr>
              <a:t>User management, platform analytics, monitoring system config, report generation</a:t>
            </a:r>
            <a:endParaRPr lang="en-US" sz="1350" dirty="0"/>
          </a:p>
        </p:txBody>
      </p:sp>
      <p:sp>
        <p:nvSpPr>
          <p:cNvPr id="20" name="Text 18"/>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21" name="Text 19"/>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CONSERVATION INTELLIGENCE</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5-Factor Weighted Ecosystem Health Score</a:t>
            </a:r>
            <a:endParaRPr lang="en-US" sz="3000" dirty="0"/>
          </a:p>
        </p:txBody>
      </p:sp>
      <p:sp>
        <p:nvSpPr>
          <p:cNvPr id="4" name="Text 2"/>
          <p:cNvSpPr/>
          <p:nvPr/>
        </p:nvSpPr>
        <p:spPr>
          <a:xfrm>
            <a:off x="548640" y="1508760"/>
            <a:ext cx="10789920" cy="548640"/>
          </a:xfrm>
          <a:prstGeom prst="rect">
            <a:avLst/>
          </a:prstGeom>
          <a:noFill/>
          <a:ln/>
        </p:spPr>
        <p:txBody>
          <a:bodyPr wrap="square" rtlCol="0" anchor="ctr"/>
          <a:lstStyle/>
          <a:p>
            <a:pPr marL="0" indent="0">
              <a:buNone/>
            </a:pPr>
            <a:r>
              <a:rPr lang="en-US" sz="1500" i="1" dirty="0">
                <a:solidFill>
                  <a:srgbClr val="556259"/>
                </a:solidFill>
                <a:latin typeface="Calibri" pitchFamily="34" charset="0"/>
                <a:ea typeface="Calibri" pitchFamily="34" charset="-122"/>
                <a:cs typeface="Calibri" pitchFamily="34" charset="-120"/>
              </a:rPr>
              <a:t>Overall Ecosystem Health = (30% × Species Diversity) + (25% × Population Stability) + (20% × Habitat Quality) + (15% × Endangered Status) + (10% × Environmental Conditions)</a:t>
            </a:r>
            <a:endParaRPr lang="en-US" sz="1500" dirty="0"/>
          </a:p>
        </p:txBody>
      </p:sp>
      <p:sp>
        <p:nvSpPr>
          <p:cNvPr id="5" name="Text 3"/>
          <p:cNvSpPr/>
          <p:nvPr/>
        </p:nvSpPr>
        <p:spPr>
          <a:xfrm>
            <a:off x="548640" y="2331720"/>
            <a:ext cx="2286000" cy="411480"/>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Species Diversity</a:t>
            </a:r>
            <a:endParaRPr lang="en-US" sz="1500" dirty="0"/>
          </a:p>
        </p:txBody>
      </p:sp>
      <p:sp>
        <p:nvSpPr>
          <p:cNvPr id="6" name="Shape 4"/>
          <p:cNvSpPr/>
          <p:nvPr/>
        </p:nvSpPr>
        <p:spPr>
          <a:xfrm>
            <a:off x="2926080" y="2386584"/>
            <a:ext cx="7863840" cy="292608"/>
          </a:xfrm>
          <a:prstGeom prst="roundRect">
            <a:avLst>
              <a:gd name="adj" fmla="val 9375"/>
            </a:avLst>
          </a:prstGeom>
          <a:solidFill>
            <a:srgbClr val="CAD2C5"/>
          </a:solidFill>
          <a:ln/>
        </p:spPr>
      </p:sp>
      <p:sp>
        <p:nvSpPr>
          <p:cNvPr id="7" name="Shape 5"/>
          <p:cNvSpPr/>
          <p:nvPr/>
        </p:nvSpPr>
        <p:spPr>
          <a:xfrm>
            <a:off x="2926080" y="2386584"/>
            <a:ext cx="7863840" cy="292608"/>
          </a:xfrm>
          <a:prstGeom prst="roundRect">
            <a:avLst>
              <a:gd name="adj" fmla="val 9375"/>
            </a:avLst>
          </a:prstGeom>
          <a:solidFill>
            <a:srgbClr val="1B4332"/>
          </a:solidFill>
          <a:ln/>
        </p:spPr>
      </p:sp>
      <p:sp>
        <p:nvSpPr>
          <p:cNvPr id="8" name="Text 6"/>
          <p:cNvSpPr/>
          <p:nvPr/>
        </p:nvSpPr>
        <p:spPr>
          <a:xfrm>
            <a:off x="10899648" y="2331720"/>
            <a:ext cx="685800" cy="411480"/>
          </a:xfrm>
          <a:prstGeom prst="rect">
            <a:avLst/>
          </a:prstGeom>
          <a:noFill/>
          <a:ln/>
        </p:spPr>
        <p:txBody>
          <a:bodyPr wrap="square" rtlCol="0" anchor="ctr"/>
          <a:lstStyle/>
          <a:p>
            <a:pPr marL="0" indent="0">
              <a:buNone/>
            </a:pPr>
            <a:r>
              <a:rPr lang="en-US" sz="1550" b="1" dirty="0">
                <a:solidFill>
                  <a:srgbClr val="B5802E"/>
                </a:solidFill>
                <a:latin typeface="Cambria" pitchFamily="34" charset="0"/>
                <a:ea typeface="Cambria" pitchFamily="34" charset="-122"/>
                <a:cs typeface="Cambria" pitchFamily="34" charset="-120"/>
              </a:rPr>
              <a:t>30%</a:t>
            </a:r>
            <a:endParaRPr lang="en-US" sz="1550" dirty="0"/>
          </a:p>
        </p:txBody>
      </p:sp>
      <p:sp>
        <p:nvSpPr>
          <p:cNvPr id="9" name="Text 7"/>
          <p:cNvSpPr/>
          <p:nvPr/>
        </p:nvSpPr>
        <p:spPr>
          <a:xfrm>
            <a:off x="548640" y="2898648"/>
            <a:ext cx="2286000" cy="411480"/>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Population Stability</a:t>
            </a:r>
            <a:endParaRPr lang="en-US" sz="1500" dirty="0"/>
          </a:p>
        </p:txBody>
      </p:sp>
      <p:sp>
        <p:nvSpPr>
          <p:cNvPr id="10" name="Shape 8"/>
          <p:cNvSpPr/>
          <p:nvPr/>
        </p:nvSpPr>
        <p:spPr>
          <a:xfrm>
            <a:off x="2926080" y="2953512"/>
            <a:ext cx="7863840" cy="292608"/>
          </a:xfrm>
          <a:prstGeom prst="roundRect">
            <a:avLst>
              <a:gd name="adj" fmla="val 9375"/>
            </a:avLst>
          </a:prstGeom>
          <a:solidFill>
            <a:srgbClr val="CAD2C5"/>
          </a:solidFill>
          <a:ln/>
        </p:spPr>
      </p:sp>
      <p:sp>
        <p:nvSpPr>
          <p:cNvPr id="11" name="Shape 9"/>
          <p:cNvSpPr/>
          <p:nvPr/>
        </p:nvSpPr>
        <p:spPr>
          <a:xfrm>
            <a:off x="2926080" y="2953512"/>
            <a:ext cx="6553200" cy="292608"/>
          </a:xfrm>
          <a:prstGeom prst="roundRect">
            <a:avLst>
              <a:gd name="adj" fmla="val 9375"/>
            </a:avLst>
          </a:prstGeom>
          <a:solidFill>
            <a:srgbClr val="1B4332"/>
          </a:solidFill>
          <a:ln/>
        </p:spPr>
      </p:sp>
      <p:sp>
        <p:nvSpPr>
          <p:cNvPr id="12" name="Text 10"/>
          <p:cNvSpPr/>
          <p:nvPr/>
        </p:nvSpPr>
        <p:spPr>
          <a:xfrm>
            <a:off x="10899648" y="2898648"/>
            <a:ext cx="685800" cy="411480"/>
          </a:xfrm>
          <a:prstGeom prst="rect">
            <a:avLst/>
          </a:prstGeom>
          <a:noFill/>
          <a:ln/>
        </p:spPr>
        <p:txBody>
          <a:bodyPr wrap="square" rtlCol="0" anchor="ctr"/>
          <a:lstStyle/>
          <a:p>
            <a:pPr marL="0" indent="0">
              <a:buNone/>
            </a:pPr>
            <a:r>
              <a:rPr lang="en-US" sz="1550" b="1" dirty="0">
                <a:solidFill>
                  <a:srgbClr val="B5802E"/>
                </a:solidFill>
                <a:latin typeface="Cambria" pitchFamily="34" charset="0"/>
                <a:ea typeface="Cambria" pitchFamily="34" charset="-122"/>
                <a:cs typeface="Cambria" pitchFamily="34" charset="-120"/>
              </a:rPr>
              <a:t>25%</a:t>
            </a:r>
            <a:endParaRPr lang="en-US" sz="1550" dirty="0"/>
          </a:p>
        </p:txBody>
      </p:sp>
      <p:sp>
        <p:nvSpPr>
          <p:cNvPr id="13" name="Text 11"/>
          <p:cNvSpPr/>
          <p:nvPr/>
        </p:nvSpPr>
        <p:spPr>
          <a:xfrm>
            <a:off x="548640" y="3465576"/>
            <a:ext cx="2286000" cy="411480"/>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Habitat Quality</a:t>
            </a:r>
            <a:endParaRPr lang="en-US" sz="1500" dirty="0"/>
          </a:p>
        </p:txBody>
      </p:sp>
      <p:sp>
        <p:nvSpPr>
          <p:cNvPr id="14" name="Shape 12"/>
          <p:cNvSpPr/>
          <p:nvPr/>
        </p:nvSpPr>
        <p:spPr>
          <a:xfrm>
            <a:off x="2926080" y="3520440"/>
            <a:ext cx="7863840" cy="292608"/>
          </a:xfrm>
          <a:prstGeom prst="roundRect">
            <a:avLst>
              <a:gd name="adj" fmla="val 9375"/>
            </a:avLst>
          </a:prstGeom>
          <a:solidFill>
            <a:srgbClr val="CAD2C5"/>
          </a:solidFill>
          <a:ln/>
        </p:spPr>
      </p:sp>
      <p:sp>
        <p:nvSpPr>
          <p:cNvPr id="15" name="Shape 13"/>
          <p:cNvSpPr/>
          <p:nvPr/>
        </p:nvSpPr>
        <p:spPr>
          <a:xfrm>
            <a:off x="2926080" y="3520440"/>
            <a:ext cx="5242560" cy="292608"/>
          </a:xfrm>
          <a:prstGeom prst="roundRect">
            <a:avLst>
              <a:gd name="adj" fmla="val 9375"/>
            </a:avLst>
          </a:prstGeom>
          <a:solidFill>
            <a:srgbClr val="1B4332"/>
          </a:solidFill>
          <a:ln/>
        </p:spPr>
      </p:sp>
      <p:sp>
        <p:nvSpPr>
          <p:cNvPr id="16" name="Text 14"/>
          <p:cNvSpPr/>
          <p:nvPr/>
        </p:nvSpPr>
        <p:spPr>
          <a:xfrm>
            <a:off x="10899648" y="3465576"/>
            <a:ext cx="685800" cy="411480"/>
          </a:xfrm>
          <a:prstGeom prst="rect">
            <a:avLst/>
          </a:prstGeom>
          <a:noFill/>
          <a:ln/>
        </p:spPr>
        <p:txBody>
          <a:bodyPr wrap="square" rtlCol="0" anchor="ctr"/>
          <a:lstStyle/>
          <a:p>
            <a:pPr marL="0" indent="0">
              <a:buNone/>
            </a:pPr>
            <a:r>
              <a:rPr lang="en-US" sz="1550" b="1" dirty="0">
                <a:solidFill>
                  <a:srgbClr val="B5802E"/>
                </a:solidFill>
                <a:latin typeface="Cambria" pitchFamily="34" charset="0"/>
                <a:ea typeface="Cambria" pitchFamily="34" charset="-122"/>
                <a:cs typeface="Cambria" pitchFamily="34" charset="-120"/>
              </a:rPr>
              <a:t>20%</a:t>
            </a:r>
            <a:endParaRPr lang="en-US" sz="1550" dirty="0"/>
          </a:p>
        </p:txBody>
      </p:sp>
      <p:sp>
        <p:nvSpPr>
          <p:cNvPr id="17" name="Text 15"/>
          <p:cNvSpPr/>
          <p:nvPr/>
        </p:nvSpPr>
        <p:spPr>
          <a:xfrm>
            <a:off x="548640" y="4032504"/>
            <a:ext cx="2286000" cy="411480"/>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Endangered Status</a:t>
            </a:r>
            <a:endParaRPr lang="en-US" sz="1500" dirty="0"/>
          </a:p>
        </p:txBody>
      </p:sp>
      <p:sp>
        <p:nvSpPr>
          <p:cNvPr id="18" name="Shape 16"/>
          <p:cNvSpPr/>
          <p:nvPr/>
        </p:nvSpPr>
        <p:spPr>
          <a:xfrm>
            <a:off x="2926080" y="4087368"/>
            <a:ext cx="7863840" cy="292608"/>
          </a:xfrm>
          <a:prstGeom prst="roundRect">
            <a:avLst>
              <a:gd name="adj" fmla="val 9375"/>
            </a:avLst>
          </a:prstGeom>
          <a:solidFill>
            <a:srgbClr val="CAD2C5"/>
          </a:solidFill>
          <a:ln/>
        </p:spPr>
      </p:sp>
      <p:sp>
        <p:nvSpPr>
          <p:cNvPr id="19" name="Shape 17"/>
          <p:cNvSpPr/>
          <p:nvPr/>
        </p:nvSpPr>
        <p:spPr>
          <a:xfrm>
            <a:off x="2926080" y="4087368"/>
            <a:ext cx="3931920" cy="292608"/>
          </a:xfrm>
          <a:prstGeom prst="roundRect">
            <a:avLst>
              <a:gd name="adj" fmla="val 9375"/>
            </a:avLst>
          </a:prstGeom>
          <a:solidFill>
            <a:srgbClr val="1B4332"/>
          </a:solidFill>
          <a:ln/>
        </p:spPr>
      </p:sp>
      <p:sp>
        <p:nvSpPr>
          <p:cNvPr id="20" name="Text 18"/>
          <p:cNvSpPr/>
          <p:nvPr/>
        </p:nvSpPr>
        <p:spPr>
          <a:xfrm>
            <a:off x="10899648" y="4032504"/>
            <a:ext cx="685800" cy="411480"/>
          </a:xfrm>
          <a:prstGeom prst="rect">
            <a:avLst/>
          </a:prstGeom>
          <a:noFill/>
          <a:ln/>
        </p:spPr>
        <p:txBody>
          <a:bodyPr wrap="square" rtlCol="0" anchor="ctr"/>
          <a:lstStyle/>
          <a:p>
            <a:pPr marL="0" indent="0">
              <a:buNone/>
            </a:pPr>
            <a:r>
              <a:rPr lang="en-US" sz="1550" b="1" dirty="0">
                <a:solidFill>
                  <a:srgbClr val="B5802E"/>
                </a:solidFill>
                <a:latin typeface="Cambria" pitchFamily="34" charset="0"/>
                <a:ea typeface="Cambria" pitchFamily="34" charset="-122"/>
                <a:cs typeface="Cambria" pitchFamily="34" charset="-120"/>
              </a:rPr>
              <a:t>15%</a:t>
            </a:r>
            <a:endParaRPr lang="en-US" sz="1550" dirty="0"/>
          </a:p>
        </p:txBody>
      </p:sp>
      <p:sp>
        <p:nvSpPr>
          <p:cNvPr id="21" name="Text 19"/>
          <p:cNvSpPr/>
          <p:nvPr/>
        </p:nvSpPr>
        <p:spPr>
          <a:xfrm>
            <a:off x="548640" y="4599432"/>
            <a:ext cx="2286000" cy="411480"/>
          </a:xfrm>
          <a:prstGeom prst="rect">
            <a:avLst/>
          </a:prstGeom>
          <a:noFill/>
          <a:ln/>
        </p:spPr>
        <p:txBody>
          <a:bodyPr wrap="square" rtlCol="0" anchor="ctr"/>
          <a:lstStyle/>
          <a:p>
            <a:pPr marL="0" indent="0">
              <a:buNone/>
            </a:pPr>
            <a:r>
              <a:rPr lang="en-US" sz="1500" b="1" dirty="0">
                <a:solidFill>
                  <a:srgbClr val="1B2B22"/>
                </a:solidFill>
                <a:latin typeface="Calibri" pitchFamily="34" charset="0"/>
                <a:ea typeface="Calibri" pitchFamily="34" charset="-122"/>
                <a:cs typeface="Calibri" pitchFamily="34" charset="-120"/>
              </a:rPr>
              <a:t>Environmental Conditions</a:t>
            </a:r>
            <a:endParaRPr lang="en-US" sz="1500" dirty="0"/>
          </a:p>
        </p:txBody>
      </p:sp>
      <p:sp>
        <p:nvSpPr>
          <p:cNvPr id="22" name="Shape 20"/>
          <p:cNvSpPr/>
          <p:nvPr/>
        </p:nvSpPr>
        <p:spPr>
          <a:xfrm>
            <a:off x="2926080" y="4654296"/>
            <a:ext cx="7863840" cy="292608"/>
          </a:xfrm>
          <a:prstGeom prst="roundRect">
            <a:avLst>
              <a:gd name="adj" fmla="val 9375"/>
            </a:avLst>
          </a:prstGeom>
          <a:solidFill>
            <a:srgbClr val="CAD2C5"/>
          </a:solidFill>
          <a:ln/>
        </p:spPr>
      </p:sp>
      <p:sp>
        <p:nvSpPr>
          <p:cNvPr id="23" name="Shape 21"/>
          <p:cNvSpPr/>
          <p:nvPr/>
        </p:nvSpPr>
        <p:spPr>
          <a:xfrm>
            <a:off x="2926080" y="4654296"/>
            <a:ext cx="2621280" cy="292608"/>
          </a:xfrm>
          <a:prstGeom prst="roundRect">
            <a:avLst>
              <a:gd name="adj" fmla="val 9375"/>
            </a:avLst>
          </a:prstGeom>
          <a:solidFill>
            <a:srgbClr val="1B4332"/>
          </a:solidFill>
          <a:ln/>
        </p:spPr>
      </p:sp>
      <p:sp>
        <p:nvSpPr>
          <p:cNvPr id="24" name="Text 22"/>
          <p:cNvSpPr/>
          <p:nvPr/>
        </p:nvSpPr>
        <p:spPr>
          <a:xfrm>
            <a:off x="10899648" y="4599432"/>
            <a:ext cx="685800" cy="411480"/>
          </a:xfrm>
          <a:prstGeom prst="rect">
            <a:avLst/>
          </a:prstGeom>
          <a:noFill/>
          <a:ln/>
        </p:spPr>
        <p:txBody>
          <a:bodyPr wrap="square" rtlCol="0" anchor="ctr"/>
          <a:lstStyle/>
          <a:p>
            <a:pPr marL="0" indent="0">
              <a:buNone/>
            </a:pPr>
            <a:r>
              <a:rPr lang="en-US" sz="1550" b="1" dirty="0">
                <a:solidFill>
                  <a:srgbClr val="B5802E"/>
                </a:solidFill>
                <a:latin typeface="Cambria" pitchFamily="34" charset="0"/>
                <a:ea typeface="Cambria" pitchFamily="34" charset="-122"/>
                <a:cs typeface="Cambria" pitchFamily="34" charset="-120"/>
              </a:rPr>
              <a:t>10%</a:t>
            </a:r>
            <a:endParaRPr lang="en-US" sz="1550" dirty="0"/>
          </a:p>
        </p:txBody>
      </p:sp>
      <p:sp>
        <p:nvSpPr>
          <p:cNvPr id="25" name="Shape 23"/>
          <p:cNvSpPr/>
          <p:nvPr/>
        </p:nvSpPr>
        <p:spPr>
          <a:xfrm>
            <a:off x="548640" y="5623560"/>
            <a:ext cx="2048256" cy="457200"/>
          </a:xfrm>
          <a:prstGeom prst="roundRect">
            <a:avLst>
              <a:gd name="adj" fmla="val 12000"/>
            </a:avLst>
          </a:prstGeom>
          <a:solidFill>
            <a:srgbClr val="84A98C"/>
          </a:solidFill>
          <a:ln/>
        </p:spPr>
      </p:sp>
      <p:sp>
        <p:nvSpPr>
          <p:cNvPr id="26" name="Text 24"/>
          <p:cNvSpPr/>
          <p:nvPr/>
        </p:nvSpPr>
        <p:spPr>
          <a:xfrm>
            <a:off x="548640" y="5623560"/>
            <a:ext cx="2048256"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Excellent</a:t>
            </a:r>
            <a:endParaRPr lang="en-US" sz="1250" dirty="0"/>
          </a:p>
        </p:txBody>
      </p:sp>
      <p:sp>
        <p:nvSpPr>
          <p:cNvPr id="27" name="Shape 25"/>
          <p:cNvSpPr/>
          <p:nvPr/>
        </p:nvSpPr>
        <p:spPr>
          <a:xfrm>
            <a:off x="2651760" y="5623560"/>
            <a:ext cx="2048256" cy="457200"/>
          </a:xfrm>
          <a:prstGeom prst="roundRect">
            <a:avLst>
              <a:gd name="adj" fmla="val 12000"/>
            </a:avLst>
          </a:prstGeom>
          <a:solidFill>
            <a:srgbClr val="52796F"/>
          </a:solidFill>
          <a:ln/>
        </p:spPr>
      </p:sp>
      <p:sp>
        <p:nvSpPr>
          <p:cNvPr id="28" name="Text 26"/>
          <p:cNvSpPr/>
          <p:nvPr/>
        </p:nvSpPr>
        <p:spPr>
          <a:xfrm>
            <a:off x="2651760" y="5623560"/>
            <a:ext cx="2048256"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Healthy</a:t>
            </a:r>
            <a:endParaRPr lang="en-US" sz="1250" dirty="0"/>
          </a:p>
        </p:txBody>
      </p:sp>
      <p:sp>
        <p:nvSpPr>
          <p:cNvPr id="29" name="Shape 27"/>
          <p:cNvSpPr/>
          <p:nvPr/>
        </p:nvSpPr>
        <p:spPr>
          <a:xfrm>
            <a:off x="4754880" y="5623560"/>
            <a:ext cx="2048256" cy="457200"/>
          </a:xfrm>
          <a:prstGeom prst="roundRect">
            <a:avLst>
              <a:gd name="adj" fmla="val 12000"/>
            </a:avLst>
          </a:prstGeom>
          <a:solidFill>
            <a:srgbClr val="D9A441"/>
          </a:solidFill>
          <a:ln/>
        </p:spPr>
      </p:sp>
      <p:sp>
        <p:nvSpPr>
          <p:cNvPr id="30" name="Text 28"/>
          <p:cNvSpPr/>
          <p:nvPr/>
        </p:nvSpPr>
        <p:spPr>
          <a:xfrm>
            <a:off x="4754880" y="5623560"/>
            <a:ext cx="2048256"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Moderate Concern</a:t>
            </a:r>
            <a:endParaRPr lang="en-US" sz="1250" dirty="0"/>
          </a:p>
        </p:txBody>
      </p:sp>
      <p:sp>
        <p:nvSpPr>
          <p:cNvPr id="31" name="Shape 29"/>
          <p:cNvSpPr/>
          <p:nvPr/>
        </p:nvSpPr>
        <p:spPr>
          <a:xfrm>
            <a:off x="6858000" y="5623560"/>
            <a:ext cx="2048256" cy="457200"/>
          </a:xfrm>
          <a:prstGeom prst="roundRect">
            <a:avLst>
              <a:gd name="adj" fmla="val 12000"/>
            </a:avLst>
          </a:prstGeom>
          <a:solidFill>
            <a:srgbClr val="B5802E"/>
          </a:solidFill>
          <a:ln/>
        </p:spPr>
      </p:sp>
      <p:sp>
        <p:nvSpPr>
          <p:cNvPr id="32" name="Text 30"/>
          <p:cNvSpPr/>
          <p:nvPr/>
        </p:nvSpPr>
        <p:spPr>
          <a:xfrm>
            <a:off x="6858000" y="5623560"/>
            <a:ext cx="2048256"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Vulnerable</a:t>
            </a:r>
            <a:endParaRPr lang="en-US" sz="1250" dirty="0"/>
          </a:p>
        </p:txBody>
      </p:sp>
      <p:sp>
        <p:nvSpPr>
          <p:cNvPr id="33" name="Shape 31"/>
          <p:cNvSpPr/>
          <p:nvPr/>
        </p:nvSpPr>
        <p:spPr>
          <a:xfrm>
            <a:off x="8961120" y="5623560"/>
            <a:ext cx="2048256" cy="457200"/>
          </a:xfrm>
          <a:prstGeom prst="roundRect">
            <a:avLst>
              <a:gd name="adj" fmla="val 12000"/>
            </a:avLst>
          </a:prstGeom>
          <a:solidFill>
            <a:srgbClr val="8C3B2E"/>
          </a:solidFill>
          <a:ln/>
        </p:spPr>
      </p:sp>
      <p:sp>
        <p:nvSpPr>
          <p:cNvPr id="34" name="Text 32"/>
          <p:cNvSpPr/>
          <p:nvPr/>
        </p:nvSpPr>
        <p:spPr>
          <a:xfrm>
            <a:off x="8961120" y="5623560"/>
            <a:ext cx="2048256"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Critical</a:t>
            </a:r>
            <a:endParaRPr lang="en-US" sz="1250" dirty="0"/>
          </a:p>
        </p:txBody>
      </p:sp>
      <p:sp>
        <p:nvSpPr>
          <p:cNvPr id="35" name="Text 33"/>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36" name="Text 34"/>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MILESTONE 4 HIGHLIGHT</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GIS &amp; Executive Intelligence Layer</a:t>
            </a:r>
            <a:endParaRPr lang="en-US" sz="3000" dirty="0"/>
          </a:p>
        </p:txBody>
      </p:sp>
      <p:sp>
        <p:nvSpPr>
          <p:cNvPr id="4" name="Text 2"/>
          <p:cNvSpPr/>
          <p:nvPr/>
        </p:nvSpPr>
        <p:spPr>
          <a:xfrm>
            <a:off x="548640" y="1463040"/>
            <a:ext cx="10789920" cy="502920"/>
          </a:xfrm>
          <a:prstGeom prst="rect">
            <a:avLst/>
          </a:prstGeom>
          <a:noFill/>
          <a:ln/>
        </p:spPr>
        <p:txBody>
          <a:bodyPr wrap="square" rtlCol="0" anchor="ctr"/>
          <a:lstStyle/>
          <a:p>
            <a:pPr marL="0" indent="0">
              <a:buNone/>
            </a:pPr>
            <a:r>
              <a:rPr lang="en-US" sz="1550" dirty="0">
                <a:solidFill>
                  <a:srgbClr val="556259"/>
                </a:solidFill>
                <a:latin typeface="Calibri" pitchFamily="34" charset="0"/>
                <a:ea typeface="Calibri" pitchFamily="34" charset="-122"/>
                <a:cs typeface="Calibri" pitchFamily="34" charset="-120"/>
              </a:rPr>
              <a:t>Interactive Leaflet/GeoJSON mapping fused with a real-time executive KPI dashboard — the decision-support layer that ties every earlier milestone together.</a:t>
            </a:r>
            <a:endParaRPr lang="en-US" sz="1550" dirty="0"/>
          </a:p>
        </p:txBody>
      </p:sp>
      <p:sp>
        <p:nvSpPr>
          <p:cNvPr id="5" name="Shape 3"/>
          <p:cNvSpPr/>
          <p:nvPr/>
        </p:nvSpPr>
        <p:spPr>
          <a:xfrm>
            <a:off x="548640" y="2103120"/>
            <a:ext cx="5212080" cy="4160520"/>
          </a:xfrm>
          <a:prstGeom prst="roundRect">
            <a:avLst>
              <a:gd name="adj" fmla="val 1758"/>
            </a:avLst>
          </a:prstGeom>
          <a:solidFill>
            <a:srgbClr val="1B4332"/>
          </a:solidFill>
          <a:ln w="12700">
            <a:solidFill>
              <a:srgbClr val="1B4332"/>
            </a:solidFill>
            <a:prstDash val="solid"/>
          </a:ln>
          <a:effectLst>
            <a:outerShdw blurRad="76200" dist="25400" dir="5400000" algn="bl" rotWithShape="0">
              <a:srgbClr val="1B4332">
                <a:alpha val="12000"/>
              </a:srgbClr>
            </a:outerShdw>
          </a:effectLst>
        </p:spPr>
      </p:sp>
      <p:sp>
        <p:nvSpPr>
          <p:cNvPr id="6" name="Text 4"/>
          <p:cNvSpPr/>
          <p:nvPr/>
        </p:nvSpPr>
        <p:spPr>
          <a:xfrm>
            <a:off x="822960" y="2331720"/>
            <a:ext cx="4572000" cy="274320"/>
          </a:xfrm>
          <a:prstGeom prst="rect">
            <a:avLst/>
          </a:prstGeom>
          <a:noFill/>
          <a:ln/>
        </p:spPr>
        <p:txBody>
          <a:bodyPr wrap="square" rtlCol="0" anchor="ctr"/>
          <a:lstStyle/>
          <a:p>
            <a:pPr marL="0" indent="0">
              <a:buNone/>
            </a:pPr>
            <a:r>
              <a:rPr lang="en-US" sz="1300" b="1" kern="0" spc="150" dirty="0">
                <a:solidFill>
                  <a:srgbClr val="D9A441"/>
                </a:solidFill>
                <a:latin typeface="Calibri" pitchFamily="34" charset="0"/>
                <a:ea typeface="Calibri" pitchFamily="34" charset="-122"/>
                <a:cs typeface="Calibri" pitchFamily="34" charset="-120"/>
              </a:rPr>
              <a:t>GIS SPATIAL LAYERS</a:t>
            </a:r>
            <a:endParaRPr lang="en-US" sz="1300" dirty="0"/>
          </a:p>
        </p:txBody>
      </p:sp>
      <p:sp>
        <p:nvSpPr>
          <p:cNvPr id="7" name="Shape 5"/>
          <p:cNvSpPr/>
          <p:nvPr/>
        </p:nvSpPr>
        <p:spPr>
          <a:xfrm>
            <a:off x="822960" y="2798064"/>
            <a:ext cx="128016" cy="128016"/>
          </a:xfrm>
          <a:prstGeom prst="ellipse">
            <a:avLst/>
          </a:prstGeom>
          <a:solidFill>
            <a:srgbClr val="D9A441"/>
          </a:solidFill>
          <a:ln/>
        </p:spPr>
      </p:sp>
      <p:sp>
        <p:nvSpPr>
          <p:cNvPr id="8" name="Text 6"/>
          <p:cNvSpPr/>
          <p:nvPr/>
        </p:nvSpPr>
        <p:spPr>
          <a:xfrm>
            <a:off x="1051560" y="2670048"/>
            <a:ext cx="4480560" cy="320040"/>
          </a:xfrm>
          <a:prstGeom prst="rect">
            <a:avLst/>
          </a:prstGeom>
          <a:noFill/>
          <a:ln/>
        </p:spPr>
        <p:txBody>
          <a:bodyPr wrap="square"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Species Sighting Hotspots</a:t>
            </a:r>
            <a:endParaRPr lang="en-US" sz="1550" dirty="0"/>
          </a:p>
        </p:txBody>
      </p:sp>
      <p:sp>
        <p:nvSpPr>
          <p:cNvPr id="9" name="Text 7"/>
          <p:cNvSpPr/>
          <p:nvPr/>
        </p:nvSpPr>
        <p:spPr>
          <a:xfrm>
            <a:off x="1051560" y="2962656"/>
            <a:ext cx="4480560" cy="365760"/>
          </a:xfrm>
          <a:prstGeom prst="rect">
            <a:avLst/>
          </a:prstGeom>
          <a:noFill/>
          <a:ln/>
        </p:spPr>
        <p:txBody>
          <a:bodyPr wrap="square" rtlCol="0" anchor="ctr"/>
          <a:lstStyle/>
          <a:p>
            <a:pPr marL="0" indent="0">
              <a:buNone/>
            </a:pPr>
            <a:r>
              <a:rPr lang="en-US" sz="1250" dirty="0">
                <a:solidFill>
                  <a:srgbClr val="CAD2C5"/>
                </a:solidFill>
                <a:latin typeface="Calibri" pitchFamily="34" charset="0"/>
                <a:ea typeface="Calibri" pitchFamily="34" charset="-122"/>
                <a:cs typeface="Calibri" pitchFamily="34" charset="-120"/>
              </a:rPr>
              <a:t>Marker clusters &amp; heat circles with confidence + timestamp</a:t>
            </a:r>
            <a:endParaRPr lang="en-US" sz="1250" dirty="0"/>
          </a:p>
        </p:txBody>
      </p:sp>
      <p:sp>
        <p:nvSpPr>
          <p:cNvPr id="10" name="Shape 8"/>
          <p:cNvSpPr/>
          <p:nvPr/>
        </p:nvSpPr>
        <p:spPr>
          <a:xfrm>
            <a:off x="822960" y="3639312"/>
            <a:ext cx="128016" cy="128016"/>
          </a:xfrm>
          <a:prstGeom prst="ellipse">
            <a:avLst/>
          </a:prstGeom>
          <a:solidFill>
            <a:srgbClr val="D9A441"/>
          </a:solidFill>
          <a:ln/>
        </p:spPr>
      </p:sp>
      <p:sp>
        <p:nvSpPr>
          <p:cNvPr id="11" name="Text 9"/>
          <p:cNvSpPr/>
          <p:nvPr/>
        </p:nvSpPr>
        <p:spPr>
          <a:xfrm>
            <a:off x="1051560" y="3511296"/>
            <a:ext cx="4480560" cy="320040"/>
          </a:xfrm>
          <a:prstGeom prst="rect">
            <a:avLst/>
          </a:prstGeom>
          <a:noFill/>
          <a:ln/>
        </p:spPr>
        <p:txBody>
          <a:bodyPr wrap="square"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Ranger Patrol Zones</a:t>
            </a:r>
            <a:endParaRPr lang="en-US" sz="1550" dirty="0"/>
          </a:p>
        </p:txBody>
      </p:sp>
      <p:sp>
        <p:nvSpPr>
          <p:cNvPr id="12" name="Text 10"/>
          <p:cNvSpPr/>
          <p:nvPr/>
        </p:nvSpPr>
        <p:spPr>
          <a:xfrm>
            <a:off x="1051560" y="3803904"/>
            <a:ext cx="4480560" cy="365760"/>
          </a:xfrm>
          <a:prstGeom prst="rect">
            <a:avLst/>
          </a:prstGeom>
          <a:noFill/>
          <a:ln/>
        </p:spPr>
        <p:txBody>
          <a:bodyPr wrap="square" rtlCol="0" anchor="ctr"/>
          <a:lstStyle/>
          <a:p>
            <a:pPr marL="0" indent="0">
              <a:buNone/>
            </a:pPr>
            <a:r>
              <a:rPr lang="en-US" sz="1250" dirty="0">
                <a:solidFill>
                  <a:srgbClr val="CAD2C5"/>
                </a:solidFill>
                <a:latin typeface="Calibri" pitchFamily="34" charset="0"/>
                <a:ea typeface="Calibri" pitchFamily="34" charset="-122"/>
                <a:cs typeface="Calibri" pitchFamily="34" charset="-120"/>
              </a:rPr>
              <a:t>Geofenced polygons with protection status</a:t>
            </a:r>
            <a:endParaRPr lang="en-US" sz="1250" dirty="0"/>
          </a:p>
        </p:txBody>
      </p:sp>
      <p:sp>
        <p:nvSpPr>
          <p:cNvPr id="13" name="Shape 11"/>
          <p:cNvSpPr/>
          <p:nvPr/>
        </p:nvSpPr>
        <p:spPr>
          <a:xfrm>
            <a:off x="822960" y="4480560"/>
            <a:ext cx="128016" cy="128016"/>
          </a:xfrm>
          <a:prstGeom prst="ellipse">
            <a:avLst/>
          </a:prstGeom>
          <a:solidFill>
            <a:srgbClr val="D9A441"/>
          </a:solidFill>
          <a:ln/>
        </p:spPr>
      </p:sp>
      <p:sp>
        <p:nvSpPr>
          <p:cNvPr id="14" name="Text 12"/>
          <p:cNvSpPr/>
          <p:nvPr/>
        </p:nvSpPr>
        <p:spPr>
          <a:xfrm>
            <a:off x="1051560" y="4352544"/>
            <a:ext cx="4480560" cy="320040"/>
          </a:xfrm>
          <a:prstGeom prst="rect">
            <a:avLst/>
          </a:prstGeom>
          <a:noFill/>
          <a:ln/>
        </p:spPr>
        <p:txBody>
          <a:bodyPr wrap="square"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Conflict Hotspots</a:t>
            </a:r>
            <a:endParaRPr lang="en-US" sz="1550" dirty="0"/>
          </a:p>
        </p:txBody>
      </p:sp>
      <p:sp>
        <p:nvSpPr>
          <p:cNvPr id="15" name="Text 13"/>
          <p:cNvSpPr/>
          <p:nvPr/>
        </p:nvSpPr>
        <p:spPr>
          <a:xfrm>
            <a:off x="1051560" y="4645152"/>
            <a:ext cx="4480560" cy="365760"/>
          </a:xfrm>
          <a:prstGeom prst="rect">
            <a:avLst/>
          </a:prstGeom>
          <a:noFill/>
          <a:ln/>
        </p:spPr>
        <p:txBody>
          <a:bodyPr wrap="square" rtlCol="0" anchor="ctr"/>
          <a:lstStyle/>
          <a:p>
            <a:pPr marL="0" indent="0">
              <a:buNone/>
            </a:pPr>
            <a:r>
              <a:rPr lang="en-US" sz="1250" dirty="0">
                <a:solidFill>
                  <a:srgbClr val="CAD2C5"/>
                </a:solidFill>
                <a:latin typeface="Calibri" pitchFamily="34" charset="0"/>
                <a:ea typeface="Calibri" pitchFamily="34" charset="-122"/>
                <a:cs typeface="Calibri" pitchFamily="34" charset="-120"/>
              </a:rPr>
              <a:t>Crop raiding, livestock predation, fence breaches</a:t>
            </a:r>
            <a:endParaRPr lang="en-US" sz="1250" dirty="0"/>
          </a:p>
        </p:txBody>
      </p:sp>
      <p:sp>
        <p:nvSpPr>
          <p:cNvPr id="16" name="Shape 14"/>
          <p:cNvSpPr/>
          <p:nvPr/>
        </p:nvSpPr>
        <p:spPr>
          <a:xfrm>
            <a:off x="822960" y="5321808"/>
            <a:ext cx="128016" cy="128016"/>
          </a:xfrm>
          <a:prstGeom prst="ellipse">
            <a:avLst/>
          </a:prstGeom>
          <a:solidFill>
            <a:srgbClr val="D9A441"/>
          </a:solidFill>
          <a:ln/>
        </p:spPr>
      </p:sp>
      <p:sp>
        <p:nvSpPr>
          <p:cNvPr id="17" name="Text 15"/>
          <p:cNvSpPr/>
          <p:nvPr/>
        </p:nvSpPr>
        <p:spPr>
          <a:xfrm>
            <a:off x="1051560" y="5193792"/>
            <a:ext cx="4480560" cy="320040"/>
          </a:xfrm>
          <a:prstGeom prst="rect">
            <a:avLst/>
          </a:prstGeom>
          <a:noFill/>
          <a:ln/>
        </p:spPr>
        <p:txBody>
          <a:bodyPr wrap="square"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Habitat Degradation Overlays</a:t>
            </a:r>
            <a:endParaRPr lang="en-US" sz="1550" dirty="0"/>
          </a:p>
        </p:txBody>
      </p:sp>
      <p:sp>
        <p:nvSpPr>
          <p:cNvPr id="18" name="Text 16"/>
          <p:cNvSpPr/>
          <p:nvPr/>
        </p:nvSpPr>
        <p:spPr>
          <a:xfrm>
            <a:off x="1051560" y="5486400"/>
            <a:ext cx="4480560" cy="365760"/>
          </a:xfrm>
          <a:prstGeom prst="rect">
            <a:avLst/>
          </a:prstGeom>
          <a:noFill/>
          <a:ln/>
        </p:spPr>
        <p:txBody>
          <a:bodyPr wrap="square" rtlCol="0" anchor="ctr"/>
          <a:lstStyle/>
          <a:p>
            <a:pPr marL="0" indent="0">
              <a:buNone/>
            </a:pPr>
            <a:r>
              <a:rPr lang="en-US" sz="1250" dirty="0">
                <a:solidFill>
                  <a:srgbClr val="CAD2C5"/>
                </a:solidFill>
                <a:latin typeface="Calibri" pitchFamily="34" charset="0"/>
                <a:ea typeface="Calibri" pitchFamily="34" charset="-122"/>
                <a:cs typeface="Calibri" pitchFamily="34" charset="-120"/>
              </a:rPr>
              <a:t>Satellite deforestation &amp; fragmentation fringes</a:t>
            </a:r>
            <a:endParaRPr lang="en-US" sz="1250" dirty="0"/>
          </a:p>
        </p:txBody>
      </p:sp>
      <p:sp>
        <p:nvSpPr>
          <p:cNvPr id="19" name="Shape 17"/>
          <p:cNvSpPr/>
          <p:nvPr/>
        </p:nvSpPr>
        <p:spPr>
          <a:xfrm>
            <a:off x="5989320" y="2103120"/>
            <a:ext cx="5440680" cy="4160520"/>
          </a:xfrm>
          <a:prstGeom prst="roundRect">
            <a:avLst>
              <a:gd name="adj" fmla="val 1758"/>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0" name="Text 18"/>
          <p:cNvSpPr/>
          <p:nvPr/>
        </p:nvSpPr>
        <p:spPr>
          <a:xfrm>
            <a:off x="6263640" y="2331720"/>
            <a:ext cx="4846320" cy="274320"/>
          </a:xfrm>
          <a:prstGeom prst="rect">
            <a:avLst/>
          </a:prstGeom>
          <a:noFill/>
          <a:ln/>
        </p:spPr>
        <p:txBody>
          <a:bodyPr wrap="square" rtlCol="0" anchor="ctr"/>
          <a:lstStyle/>
          <a:p>
            <a:pPr marL="0" indent="0">
              <a:buNone/>
            </a:pPr>
            <a:r>
              <a:rPr lang="en-US" sz="1300" b="1" kern="0" spc="150" dirty="0">
                <a:solidFill>
                  <a:srgbClr val="B5802E"/>
                </a:solidFill>
                <a:latin typeface="Calibri" pitchFamily="34" charset="0"/>
                <a:ea typeface="Calibri" pitchFamily="34" charset="-122"/>
                <a:cs typeface="Calibri" pitchFamily="34" charset="-120"/>
              </a:rPr>
              <a:t>EXECUTIVE SUMMARY API</a:t>
            </a:r>
            <a:endParaRPr lang="en-US" sz="1300" dirty="0"/>
          </a:p>
        </p:txBody>
      </p:sp>
      <p:sp>
        <p:nvSpPr>
          <p:cNvPr id="21" name="Text 19"/>
          <p:cNvSpPr/>
          <p:nvPr/>
        </p:nvSpPr>
        <p:spPr>
          <a:xfrm>
            <a:off x="6263640" y="2606040"/>
            <a:ext cx="4937760" cy="274320"/>
          </a:xfrm>
          <a:prstGeom prst="rect">
            <a:avLst/>
          </a:prstGeom>
          <a:noFill/>
          <a:ln/>
        </p:spPr>
        <p:txBody>
          <a:bodyPr wrap="square" rtlCol="0" anchor="ctr"/>
          <a:lstStyle/>
          <a:p>
            <a:pPr marL="0" indent="0">
              <a:buNone/>
            </a:pPr>
            <a:r>
              <a:rPr lang="en-US" sz="1250" dirty="0">
                <a:solidFill>
                  <a:srgbClr val="52796F"/>
                </a:solidFill>
                <a:latin typeface="Courier New" pitchFamily="34" charset="0"/>
                <a:ea typeface="Courier New" pitchFamily="34" charset="-122"/>
                <a:cs typeface="Courier New" pitchFamily="34" charset="-120"/>
              </a:rPr>
              <a:t>GET /api/v1/analytics/executive-summary</a:t>
            </a:r>
            <a:endParaRPr lang="en-US" sz="1250" dirty="0"/>
          </a:p>
        </p:txBody>
      </p:sp>
      <p:sp>
        <p:nvSpPr>
          <p:cNvPr id="22" name="Shape 20"/>
          <p:cNvSpPr/>
          <p:nvPr/>
        </p:nvSpPr>
        <p:spPr>
          <a:xfrm>
            <a:off x="6263640" y="3063240"/>
            <a:ext cx="384048" cy="384048"/>
          </a:xfrm>
          <a:prstGeom prst="ellipse">
            <a:avLst/>
          </a:prstGeom>
          <a:solidFill>
            <a:srgbClr val="52796F"/>
          </a:solidFill>
          <a:ln/>
        </p:spPr>
      </p:sp>
      <p:sp>
        <p:nvSpPr>
          <p:cNvPr id="23" name="Text 21"/>
          <p:cNvSpPr/>
          <p:nvPr/>
        </p:nvSpPr>
        <p:spPr>
          <a:xfrm>
            <a:off x="6263640" y="3063240"/>
            <a:ext cx="384048" cy="384048"/>
          </a:xfrm>
          <a:prstGeom prst="rect">
            <a:avLst/>
          </a:prstGeom>
          <a:noFill/>
          <a:ln/>
        </p:spPr>
        <p:txBody>
          <a:bodyPr wrap="square"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a:t>
            </a:r>
            <a:endParaRPr lang="en-US" sz="1650" dirty="0"/>
          </a:p>
        </p:txBody>
      </p:sp>
      <p:sp>
        <p:nvSpPr>
          <p:cNvPr id="24" name="Text 22"/>
          <p:cNvSpPr/>
          <p:nvPr/>
        </p:nvSpPr>
        <p:spPr>
          <a:xfrm>
            <a:off x="6784848" y="2990088"/>
            <a:ext cx="4297680" cy="32004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Total Sightings</a:t>
            </a:r>
            <a:endParaRPr lang="en-US" sz="1550" dirty="0"/>
          </a:p>
        </p:txBody>
      </p:sp>
      <p:sp>
        <p:nvSpPr>
          <p:cNvPr id="25" name="Text 23"/>
          <p:cNvSpPr/>
          <p:nvPr/>
        </p:nvSpPr>
        <p:spPr>
          <a:xfrm>
            <a:off x="6784848" y="3282696"/>
            <a:ext cx="4297680" cy="365760"/>
          </a:xfrm>
          <a:prstGeom prst="rect">
            <a:avLst/>
          </a:prstGeom>
          <a:noFill/>
          <a:ln/>
        </p:spPr>
        <p:txBody>
          <a:bodyPr wrap="square" rtlCol="0" anchor="ctr"/>
          <a:lstStyle/>
          <a:p>
            <a:pPr marL="0" indent="0">
              <a:buNone/>
            </a:pPr>
            <a:r>
              <a:rPr lang="en-US" sz="1250" dirty="0">
                <a:solidFill>
                  <a:srgbClr val="556259"/>
                </a:solidFill>
                <a:latin typeface="Calibri" pitchFamily="34" charset="0"/>
                <a:ea typeface="Calibri" pitchFamily="34" charset="-122"/>
                <a:cs typeface="Calibri" pitchFamily="34" charset="-120"/>
              </a:rPr>
              <a:t>Σ Unique taxa classified across all sites</a:t>
            </a:r>
            <a:endParaRPr lang="en-US" sz="1250" dirty="0"/>
          </a:p>
        </p:txBody>
      </p:sp>
      <p:sp>
        <p:nvSpPr>
          <p:cNvPr id="26" name="Shape 24"/>
          <p:cNvSpPr/>
          <p:nvPr/>
        </p:nvSpPr>
        <p:spPr>
          <a:xfrm>
            <a:off x="6263640" y="3886200"/>
            <a:ext cx="384048" cy="384048"/>
          </a:xfrm>
          <a:prstGeom prst="ellipse">
            <a:avLst/>
          </a:prstGeom>
          <a:solidFill>
            <a:srgbClr val="52796F"/>
          </a:solidFill>
          <a:ln/>
        </p:spPr>
      </p:sp>
      <p:sp>
        <p:nvSpPr>
          <p:cNvPr id="27" name="Text 25"/>
          <p:cNvSpPr/>
          <p:nvPr/>
        </p:nvSpPr>
        <p:spPr>
          <a:xfrm>
            <a:off x="6263640" y="3886200"/>
            <a:ext cx="384048" cy="384048"/>
          </a:xfrm>
          <a:prstGeom prst="rect">
            <a:avLst/>
          </a:prstGeom>
          <a:noFill/>
          <a:ln/>
        </p:spPr>
        <p:txBody>
          <a:bodyPr wrap="square"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a:t>
            </a:r>
            <a:endParaRPr lang="en-US" sz="1650" dirty="0"/>
          </a:p>
        </p:txBody>
      </p:sp>
      <p:sp>
        <p:nvSpPr>
          <p:cNvPr id="28" name="Text 26"/>
          <p:cNvSpPr/>
          <p:nvPr/>
        </p:nvSpPr>
        <p:spPr>
          <a:xfrm>
            <a:off x="6784848" y="3813048"/>
            <a:ext cx="4297680" cy="32004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Overall Ecosystem Health</a:t>
            </a:r>
            <a:endParaRPr lang="en-US" sz="1550" dirty="0"/>
          </a:p>
        </p:txBody>
      </p:sp>
      <p:sp>
        <p:nvSpPr>
          <p:cNvPr id="29" name="Text 27"/>
          <p:cNvSpPr/>
          <p:nvPr/>
        </p:nvSpPr>
        <p:spPr>
          <a:xfrm>
            <a:off x="6784848" y="4105656"/>
            <a:ext cx="4297680" cy="365760"/>
          </a:xfrm>
          <a:prstGeom prst="rect">
            <a:avLst/>
          </a:prstGeom>
          <a:noFill/>
          <a:ln/>
        </p:spPr>
        <p:txBody>
          <a:bodyPr wrap="square" rtlCol="0" anchor="ctr"/>
          <a:lstStyle/>
          <a:p>
            <a:pPr marL="0" indent="0">
              <a:buNone/>
            </a:pPr>
            <a:r>
              <a:rPr lang="en-US" sz="1250" dirty="0">
                <a:solidFill>
                  <a:srgbClr val="556259"/>
                </a:solidFill>
                <a:latin typeface="Calibri" pitchFamily="34" charset="0"/>
                <a:ea typeface="Calibri" pitchFamily="34" charset="-122"/>
                <a:cs typeface="Calibri" pitchFamily="34" charset="-120"/>
              </a:rPr>
              <a:t>Weighted 5-factor rollup, 0–100 scale</a:t>
            </a:r>
            <a:endParaRPr lang="en-US" sz="1250" dirty="0"/>
          </a:p>
        </p:txBody>
      </p:sp>
      <p:sp>
        <p:nvSpPr>
          <p:cNvPr id="30" name="Shape 28"/>
          <p:cNvSpPr/>
          <p:nvPr/>
        </p:nvSpPr>
        <p:spPr>
          <a:xfrm>
            <a:off x="6263640" y="4709160"/>
            <a:ext cx="384048" cy="384048"/>
          </a:xfrm>
          <a:prstGeom prst="ellipse">
            <a:avLst/>
          </a:prstGeom>
          <a:solidFill>
            <a:srgbClr val="52796F"/>
          </a:solidFill>
          <a:ln/>
        </p:spPr>
      </p:sp>
      <p:sp>
        <p:nvSpPr>
          <p:cNvPr id="31" name="Text 29"/>
          <p:cNvSpPr/>
          <p:nvPr/>
        </p:nvSpPr>
        <p:spPr>
          <a:xfrm>
            <a:off x="6263640" y="4709160"/>
            <a:ext cx="384048" cy="384048"/>
          </a:xfrm>
          <a:prstGeom prst="rect">
            <a:avLst/>
          </a:prstGeom>
          <a:noFill/>
          <a:ln/>
        </p:spPr>
        <p:txBody>
          <a:bodyPr wrap="square"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a:t>
            </a:r>
            <a:endParaRPr lang="en-US" sz="1650" dirty="0"/>
          </a:p>
        </p:txBody>
      </p:sp>
      <p:sp>
        <p:nvSpPr>
          <p:cNvPr id="32" name="Text 30"/>
          <p:cNvSpPr/>
          <p:nvPr/>
        </p:nvSpPr>
        <p:spPr>
          <a:xfrm>
            <a:off x="6784848" y="4636008"/>
            <a:ext cx="4297680" cy="32004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Critical Alerts</a:t>
            </a:r>
            <a:endParaRPr lang="en-US" sz="1550" dirty="0"/>
          </a:p>
        </p:txBody>
      </p:sp>
      <p:sp>
        <p:nvSpPr>
          <p:cNvPr id="33" name="Text 31"/>
          <p:cNvSpPr/>
          <p:nvPr/>
        </p:nvSpPr>
        <p:spPr>
          <a:xfrm>
            <a:off x="6784848" y="4928616"/>
            <a:ext cx="4297680" cy="365760"/>
          </a:xfrm>
          <a:prstGeom prst="rect">
            <a:avLst/>
          </a:prstGeom>
          <a:noFill/>
          <a:ln/>
        </p:spPr>
        <p:txBody>
          <a:bodyPr wrap="square" rtlCol="0" anchor="ctr"/>
          <a:lstStyle/>
          <a:p>
            <a:pPr marL="0" indent="0">
              <a:buNone/>
            </a:pPr>
            <a:r>
              <a:rPr lang="en-US" sz="1250" dirty="0">
                <a:solidFill>
                  <a:srgbClr val="556259"/>
                </a:solidFill>
                <a:latin typeface="Calibri" pitchFamily="34" charset="0"/>
                <a:ea typeface="Calibri" pitchFamily="34" charset="-122"/>
                <a:cs typeface="Calibri" pitchFamily="34" charset="-120"/>
              </a:rPr>
              <a:t>Real-time threat &amp; endangered-species flags</a:t>
            </a:r>
            <a:endParaRPr lang="en-US" sz="1250" dirty="0"/>
          </a:p>
        </p:txBody>
      </p:sp>
      <p:sp>
        <p:nvSpPr>
          <p:cNvPr id="34" name="Shape 32"/>
          <p:cNvSpPr/>
          <p:nvPr/>
        </p:nvSpPr>
        <p:spPr>
          <a:xfrm>
            <a:off x="6263640" y="5532120"/>
            <a:ext cx="384048" cy="384048"/>
          </a:xfrm>
          <a:prstGeom prst="ellipse">
            <a:avLst/>
          </a:prstGeom>
          <a:solidFill>
            <a:srgbClr val="52796F"/>
          </a:solidFill>
          <a:ln/>
        </p:spPr>
      </p:sp>
      <p:sp>
        <p:nvSpPr>
          <p:cNvPr id="35" name="Text 33"/>
          <p:cNvSpPr/>
          <p:nvPr/>
        </p:nvSpPr>
        <p:spPr>
          <a:xfrm>
            <a:off x="6263640" y="5532120"/>
            <a:ext cx="384048" cy="384048"/>
          </a:xfrm>
          <a:prstGeom prst="rect">
            <a:avLst/>
          </a:prstGeom>
          <a:noFill/>
          <a:ln/>
        </p:spPr>
        <p:txBody>
          <a:bodyPr wrap="square"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a:t>
            </a:r>
            <a:endParaRPr lang="en-US" sz="1650" dirty="0"/>
          </a:p>
        </p:txBody>
      </p:sp>
      <p:sp>
        <p:nvSpPr>
          <p:cNvPr id="36" name="Text 34"/>
          <p:cNvSpPr/>
          <p:nvPr/>
        </p:nvSpPr>
        <p:spPr>
          <a:xfrm>
            <a:off x="6784848" y="5458968"/>
            <a:ext cx="4297680" cy="320040"/>
          </a:xfrm>
          <a:prstGeom prst="rect">
            <a:avLst/>
          </a:prstGeom>
          <a:noFill/>
          <a:ln/>
        </p:spPr>
        <p:txBody>
          <a:bodyPr wrap="square" rtlCol="0" anchor="ctr"/>
          <a:lstStyle/>
          <a:p>
            <a:pPr marL="0" indent="0">
              <a:buNone/>
            </a:pPr>
            <a:r>
              <a:rPr lang="en-US" sz="1550" b="1" dirty="0">
                <a:solidFill>
                  <a:srgbClr val="1B2B22"/>
                </a:solidFill>
                <a:latin typeface="Calibri" pitchFamily="34" charset="0"/>
                <a:ea typeface="Calibri" pitchFamily="34" charset="-122"/>
                <a:cs typeface="Calibri" pitchFamily="34" charset="-120"/>
              </a:rPr>
              <a:t>Active Ranger Deployments</a:t>
            </a:r>
            <a:endParaRPr lang="en-US" sz="1550" dirty="0"/>
          </a:p>
        </p:txBody>
      </p:sp>
      <p:sp>
        <p:nvSpPr>
          <p:cNvPr id="37" name="Text 35"/>
          <p:cNvSpPr/>
          <p:nvPr/>
        </p:nvSpPr>
        <p:spPr>
          <a:xfrm>
            <a:off x="6784848" y="5751576"/>
            <a:ext cx="4297680" cy="365760"/>
          </a:xfrm>
          <a:prstGeom prst="rect">
            <a:avLst/>
          </a:prstGeom>
          <a:noFill/>
          <a:ln/>
        </p:spPr>
        <p:txBody>
          <a:bodyPr wrap="square" rtlCol="0" anchor="ctr"/>
          <a:lstStyle/>
          <a:p>
            <a:pPr marL="0" indent="0">
              <a:buNone/>
            </a:pPr>
            <a:r>
              <a:rPr lang="en-US" sz="1250" dirty="0">
                <a:solidFill>
                  <a:srgbClr val="556259"/>
                </a:solidFill>
                <a:latin typeface="Calibri" pitchFamily="34" charset="0"/>
                <a:ea typeface="Calibri" pitchFamily="34" charset="-122"/>
                <a:cs typeface="Calibri" pitchFamily="34" charset="-120"/>
              </a:rPr>
              <a:t>Live patrol coverage %</a:t>
            </a:r>
            <a:endParaRPr lang="en-US" sz="1250" dirty="0"/>
          </a:p>
        </p:txBody>
      </p:sp>
      <p:sp>
        <p:nvSpPr>
          <p:cNvPr id="38" name="Text 36"/>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39" name="Text 37"/>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DATA MODEL</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Complete Database Schema — Milestones 1–4</a:t>
            </a:r>
            <a:endParaRPr lang="en-US" sz="3000" dirty="0"/>
          </a:p>
        </p:txBody>
      </p:sp>
      <p:sp>
        <p:nvSpPr>
          <p:cNvPr id="4" name="Shape 2"/>
          <p:cNvSpPr/>
          <p:nvPr/>
        </p:nvSpPr>
        <p:spPr>
          <a:xfrm>
            <a:off x="548640" y="1691640"/>
            <a:ext cx="2606040" cy="4297680"/>
          </a:xfrm>
          <a:prstGeom prst="roundRect">
            <a:avLst>
              <a:gd name="adj" fmla="val 2807"/>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5" name="Shape 3"/>
          <p:cNvSpPr/>
          <p:nvPr/>
        </p:nvSpPr>
        <p:spPr>
          <a:xfrm>
            <a:off x="548640" y="1691640"/>
            <a:ext cx="2606040" cy="502920"/>
          </a:xfrm>
          <a:prstGeom prst="roundRect">
            <a:avLst>
              <a:gd name="adj" fmla="val 10909"/>
            </a:avLst>
          </a:prstGeom>
          <a:solidFill>
            <a:srgbClr val="1B4332"/>
          </a:solidFill>
          <a:ln/>
        </p:spPr>
      </p:sp>
      <p:sp>
        <p:nvSpPr>
          <p:cNvPr id="6" name="Text 4"/>
          <p:cNvSpPr/>
          <p:nvPr/>
        </p:nvSpPr>
        <p:spPr>
          <a:xfrm>
            <a:off x="685800" y="1691640"/>
            <a:ext cx="2331720" cy="502920"/>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M1 · Foundation</a:t>
            </a:r>
            <a:endParaRPr lang="en-US" sz="1550" dirty="0"/>
          </a:p>
        </p:txBody>
      </p:sp>
      <p:sp>
        <p:nvSpPr>
          <p:cNvPr id="7" name="Shape 5"/>
          <p:cNvSpPr/>
          <p:nvPr/>
        </p:nvSpPr>
        <p:spPr>
          <a:xfrm>
            <a:off x="713232" y="2423160"/>
            <a:ext cx="109728" cy="109728"/>
          </a:xfrm>
          <a:prstGeom prst="rect">
            <a:avLst/>
          </a:prstGeom>
          <a:solidFill>
            <a:srgbClr val="1B4332"/>
          </a:solidFill>
          <a:ln/>
        </p:spPr>
      </p:sp>
      <p:sp>
        <p:nvSpPr>
          <p:cNvPr id="8" name="Text 6"/>
          <p:cNvSpPr/>
          <p:nvPr/>
        </p:nvSpPr>
        <p:spPr>
          <a:xfrm>
            <a:off x="914400" y="2304288"/>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users</a:t>
            </a:r>
            <a:endParaRPr lang="en-US" sz="1250" dirty="0"/>
          </a:p>
        </p:txBody>
      </p:sp>
      <p:sp>
        <p:nvSpPr>
          <p:cNvPr id="9" name="Shape 7"/>
          <p:cNvSpPr/>
          <p:nvPr/>
        </p:nvSpPr>
        <p:spPr>
          <a:xfrm>
            <a:off x="713232" y="3081528"/>
            <a:ext cx="109728" cy="109728"/>
          </a:xfrm>
          <a:prstGeom prst="rect">
            <a:avLst/>
          </a:prstGeom>
          <a:solidFill>
            <a:srgbClr val="1B4332"/>
          </a:solidFill>
          <a:ln/>
        </p:spPr>
      </p:sp>
      <p:sp>
        <p:nvSpPr>
          <p:cNvPr id="10" name="Text 8"/>
          <p:cNvSpPr/>
          <p:nvPr/>
        </p:nvSpPr>
        <p:spPr>
          <a:xfrm>
            <a:off x="914400" y="2962656"/>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surveys</a:t>
            </a:r>
            <a:endParaRPr lang="en-US" sz="1250" dirty="0"/>
          </a:p>
        </p:txBody>
      </p:sp>
      <p:sp>
        <p:nvSpPr>
          <p:cNvPr id="11" name="Shape 9"/>
          <p:cNvSpPr/>
          <p:nvPr/>
        </p:nvSpPr>
        <p:spPr>
          <a:xfrm>
            <a:off x="713232" y="3739896"/>
            <a:ext cx="109728" cy="109728"/>
          </a:xfrm>
          <a:prstGeom prst="rect">
            <a:avLst/>
          </a:prstGeom>
          <a:solidFill>
            <a:srgbClr val="1B4332"/>
          </a:solidFill>
          <a:ln/>
        </p:spPr>
      </p:sp>
      <p:sp>
        <p:nvSpPr>
          <p:cNvPr id="12" name="Text 10"/>
          <p:cNvSpPr/>
          <p:nvPr/>
        </p:nvSpPr>
        <p:spPr>
          <a:xfrm>
            <a:off x="914400" y="3621024"/>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monitoring_sites</a:t>
            </a:r>
            <a:endParaRPr lang="en-US" sz="1250" dirty="0"/>
          </a:p>
        </p:txBody>
      </p:sp>
      <p:sp>
        <p:nvSpPr>
          <p:cNvPr id="13" name="Shape 11"/>
          <p:cNvSpPr/>
          <p:nvPr/>
        </p:nvSpPr>
        <p:spPr>
          <a:xfrm>
            <a:off x="3355848" y="1691640"/>
            <a:ext cx="2606040" cy="4297680"/>
          </a:xfrm>
          <a:prstGeom prst="roundRect">
            <a:avLst>
              <a:gd name="adj" fmla="val 2807"/>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4" name="Shape 12"/>
          <p:cNvSpPr/>
          <p:nvPr/>
        </p:nvSpPr>
        <p:spPr>
          <a:xfrm>
            <a:off x="3355848" y="1691640"/>
            <a:ext cx="2606040" cy="502920"/>
          </a:xfrm>
          <a:prstGeom prst="roundRect">
            <a:avLst>
              <a:gd name="adj" fmla="val 10909"/>
            </a:avLst>
          </a:prstGeom>
          <a:solidFill>
            <a:srgbClr val="52796F"/>
          </a:solidFill>
          <a:ln/>
        </p:spPr>
      </p:sp>
      <p:sp>
        <p:nvSpPr>
          <p:cNvPr id="15" name="Text 13"/>
          <p:cNvSpPr/>
          <p:nvPr/>
        </p:nvSpPr>
        <p:spPr>
          <a:xfrm>
            <a:off x="3493008" y="1691640"/>
            <a:ext cx="2331720" cy="502920"/>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M2 · Recognition</a:t>
            </a:r>
            <a:endParaRPr lang="en-US" sz="1550" dirty="0"/>
          </a:p>
        </p:txBody>
      </p:sp>
      <p:sp>
        <p:nvSpPr>
          <p:cNvPr id="16" name="Shape 14"/>
          <p:cNvSpPr/>
          <p:nvPr/>
        </p:nvSpPr>
        <p:spPr>
          <a:xfrm>
            <a:off x="3520440" y="2423160"/>
            <a:ext cx="109728" cy="109728"/>
          </a:xfrm>
          <a:prstGeom prst="rect">
            <a:avLst/>
          </a:prstGeom>
          <a:solidFill>
            <a:srgbClr val="52796F"/>
          </a:solidFill>
          <a:ln/>
        </p:spPr>
      </p:sp>
      <p:sp>
        <p:nvSpPr>
          <p:cNvPr id="17" name="Text 15"/>
          <p:cNvSpPr/>
          <p:nvPr/>
        </p:nvSpPr>
        <p:spPr>
          <a:xfrm>
            <a:off x="3721608" y="2304288"/>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image_detections</a:t>
            </a:r>
            <a:endParaRPr lang="en-US" sz="1250" dirty="0"/>
          </a:p>
        </p:txBody>
      </p:sp>
      <p:sp>
        <p:nvSpPr>
          <p:cNvPr id="18" name="Shape 16"/>
          <p:cNvSpPr/>
          <p:nvPr/>
        </p:nvSpPr>
        <p:spPr>
          <a:xfrm>
            <a:off x="3520440" y="3081528"/>
            <a:ext cx="109728" cy="109728"/>
          </a:xfrm>
          <a:prstGeom prst="rect">
            <a:avLst/>
          </a:prstGeom>
          <a:solidFill>
            <a:srgbClr val="52796F"/>
          </a:solidFill>
          <a:ln/>
        </p:spPr>
      </p:sp>
      <p:sp>
        <p:nvSpPr>
          <p:cNvPr id="19" name="Text 17"/>
          <p:cNvSpPr/>
          <p:nvPr/>
        </p:nvSpPr>
        <p:spPr>
          <a:xfrm>
            <a:off x="3721608" y="2962656"/>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audio_detections</a:t>
            </a:r>
            <a:endParaRPr lang="en-US" sz="1250" dirty="0"/>
          </a:p>
        </p:txBody>
      </p:sp>
      <p:sp>
        <p:nvSpPr>
          <p:cNvPr id="20" name="Shape 18"/>
          <p:cNvSpPr/>
          <p:nvPr/>
        </p:nvSpPr>
        <p:spPr>
          <a:xfrm>
            <a:off x="3520440" y="3739896"/>
            <a:ext cx="109728" cy="109728"/>
          </a:xfrm>
          <a:prstGeom prst="rect">
            <a:avLst/>
          </a:prstGeom>
          <a:solidFill>
            <a:srgbClr val="52796F"/>
          </a:solidFill>
          <a:ln/>
        </p:spPr>
      </p:sp>
      <p:sp>
        <p:nvSpPr>
          <p:cNvPr id="21" name="Text 19"/>
          <p:cNvSpPr/>
          <p:nvPr/>
        </p:nvSpPr>
        <p:spPr>
          <a:xfrm>
            <a:off x="3721608" y="3621024"/>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biodiversity_metrics</a:t>
            </a:r>
            <a:endParaRPr lang="en-US" sz="1250" dirty="0"/>
          </a:p>
        </p:txBody>
      </p:sp>
      <p:sp>
        <p:nvSpPr>
          <p:cNvPr id="22" name="Shape 20"/>
          <p:cNvSpPr/>
          <p:nvPr/>
        </p:nvSpPr>
        <p:spPr>
          <a:xfrm>
            <a:off x="3520440" y="4398264"/>
            <a:ext cx="109728" cy="109728"/>
          </a:xfrm>
          <a:prstGeom prst="rect">
            <a:avLst/>
          </a:prstGeom>
          <a:solidFill>
            <a:srgbClr val="52796F"/>
          </a:solidFill>
          <a:ln/>
        </p:spPr>
      </p:sp>
      <p:sp>
        <p:nvSpPr>
          <p:cNvPr id="23" name="Text 21"/>
          <p:cNvSpPr/>
          <p:nvPr/>
        </p:nvSpPr>
        <p:spPr>
          <a:xfrm>
            <a:off x="3721608" y="4279392"/>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wildlife_reports</a:t>
            </a:r>
            <a:endParaRPr lang="en-US" sz="1250" dirty="0"/>
          </a:p>
        </p:txBody>
      </p:sp>
      <p:sp>
        <p:nvSpPr>
          <p:cNvPr id="24" name="Shape 22"/>
          <p:cNvSpPr/>
          <p:nvPr/>
        </p:nvSpPr>
        <p:spPr>
          <a:xfrm>
            <a:off x="6163056" y="1691640"/>
            <a:ext cx="2606040" cy="4297680"/>
          </a:xfrm>
          <a:prstGeom prst="roundRect">
            <a:avLst>
              <a:gd name="adj" fmla="val 2807"/>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5" name="Shape 23"/>
          <p:cNvSpPr/>
          <p:nvPr/>
        </p:nvSpPr>
        <p:spPr>
          <a:xfrm>
            <a:off x="6163056" y="1691640"/>
            <a:ext cx="2606040" cy="502920"/>
          </a:xfrm>
          <a:prstGeom prst="roundRect">
            <a:avLst>
              <a:gd name="adj" fmla="val 10909"/>
            </a:avLst>
          </a:prstGeom>
          <a:solidFill>
            <a:srgbClr val="84A98C"/>
          </a:solidFill>
          <a:ln/>
        </p:spPr>
      </p:sp>
      <p:sp>
        <p:nvSpPr>
          <p:cNvPr id="26" name="Text 24"/>
          <p:cNvSpPr/>
          <p:nvPr/>
        </p:nvSpPr>
        <p:spPr>
          <a:xfrm>
            <a:off x="6300216" y="1691640"/>
            <a:ext cx="2331720" cy="502920"/>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M3 · Conservation</a:t>
            </a:r>
            <a:endParaRPr lang="en-US" sz="1550" dirty="0"/>
          </a:p>
        </p:txBody>
      </p:sp>
      <p:sp>
        <p:nvSpPr>
          <p:cNvPr id="27" name="Shape 25"/>
          <p:cNvSpPr/>
          <p:nvPr/>
        </p:nvSpPr>
        <p:spPr>
          <a:xfrm>
            <a:off x="6327648" y="2423160"/>
            <a:ext cx="109728" cy="109728"/>
          </a:xfrm>
          <a:prstGeom prst="rect">
            <a:avLst/>
          </a:prstGeom>
          <a:solidFill>
            <a:srgbClr val="84A98C"/>
          </a:solidFill>
          <a:ln/>
        </p:spPr>
      </p:sp>
      <p:sp>
        <p:nvSpPr>
          <p:cNvPr id="28" name="Text 26"/>
          <p:cNvSpPr/>
          <p:nvPr/>
        </p:nvSpPr>
        <p:spPr>
          <a:xfrm>
            <a:off x="6528816" y="2304288"/>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population_estimates</a:t>
            </a:r>
            <a:endParaRPr lang="en-US" sz="1250" dirty="0"/>
          </a:p>
        </p:txBody>
      </p:sp>
      <p:sp>
        <p:nvSpPr>
          <p:cNvPr id="29" name="Shape 27"/>
          <p:cNvSpPr/>
          <p:nvPr/>
        </p:nvSpPr>
        <p:spPr>
          <a:xfrm>
            <a:off x="6327648" y="3081528"/>
            <a:ext cx="109728" cy="109728"/>
          </a:xfrm>
          <a:prstGeom prst="rect">
            <a:avLst/>
          </a:prstGeom>
          <a:solidFill>
            <a:srgbClr val="84A98C"/>
          </a:solidFill>
          <a:ln/>
        </p:spPr>
      </p:sp>
      <p:sp>
        <p:nvSpPr>
          <p:cNvPr id="30" name="Text 28"/>
          <p:cNvSpPr/>
          <p:nvPr/>
        </p:nvSpPr>
        <p:spPr>
          <a:xfrm>
            <a:off x="6528816" y="2962656"/>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habitat_assessments</a:t>
            </a:r>
            <a:endParaRPr lang="en-US" sz="1250" dirty="0"/>
          </a:p>
        </p:txBody>
      </p:sp>
      <p:sp>
        <p:nvSpPr>
          <p:cNvPr id="31" name="Shape 29"/>
          <p:cNvSpPr/>
          <p:nvPr/>
        </p:nvSpPr>
        <p:spPr>
          <a:xfrm>
            <a:off x="6327648" y="3739896"/>
            <a:ext cx="109728" cy="109728"/>
          </a:xfrm>
          <a:prstGeom prst="rect">
            <a:avLst/>
          </a:prstGeom>
          <a:solidFill>
            <a:srgbClr val="84A98C"/>
          </a:solidFill>
          <a:ln/>
        </p:spPr>
      </p:sp>
      <p:sp>
        <p:nvSpPr>
          <p:cNvPr id="32" name="Text 30"/>
          <p:cNvSpPr/>
          <p:nvPr/>
        </p:nvSpPr>
        <p:spPr>
          <a:xfrm>
            <a:off x="6528816" y="3621024"/>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conservation_recommendations</a:t>
            </a:r>
            <a:endParaRPr lang="en-US" sz="1250" dirty="0"/>
          </a:p>
        </p:txBody>
      </p:sp>
      <p:sp>
        <p:nvSpPr>
          <p:cNvPr id="33" name="Shape 31"/>
          <p:cNvSpPr/>
          <p:nvPr/>
        </p:nvSpPr>
        <p:spPr>
          <a:xfrm>
            <a:off x="8970264" y="1691640"/>
            <a:ext cx="2606040" cy="4297680"/>
          </a:xfrm>
          <a:prstGeom prst="roundRect">
            <a:avLst>
              <a:gd name="adj" fmla="val 2807"/>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34" name="Shape 32"/>
          <p:cNvSpPr/>
          <p:nvPr/>
        </p:nvSpPr>
        <p:spPr>
          <a:xfrm>
            <a:off x="8970264" y="1691640"/>
            <a:ext cx="2606040" cy="502920"/>
          </a:xfrm>
          <a:prstGeom prst="roundRect">
            <a:avLst>
              <a:gd name="adj" fmla="val 10909"/>
            </a:avLst>
          </a:prstGeom>
          <a:solidFill>
            <a:srgbClr val="B5802E"/>
          </a:solidFill>
          <a:ln/>
        </p:spPr>
      </p:sp>
      <p:sp>
        <p:nvSpPr>
          <p:cNvPr id="35" name="Text 33"/>
          <p:cNvSpPr/>
          <p:nvPr/>
        </p:nvSpPr>
        <p:spPr>
          <a:xfrm>
            <a:off x="9107424" y="1691640"/>
            <a:ext cx="2331720" cy="502920"/>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M4 · Executive &amp; GIS</a:t>
            </a:r>
            <a:endParaRPr lang="en-US" sz="1550" dirty="0"/>
          </a:p>
        </p:txBody>
      </p:sp>
      <p:sp>
        <p:nvSpPr>
          <p:cNvPr id="36" name="Shape 34"/>
          <p:cNvSpPr/>
          <p:nvPr/>
        </p:nvSpPr>
        <p:spPr>
          <a:xfrm>
            <a:off x="9134856" y="2423160"/>
            <a:ext cx="109728" cy="109728"/>
          </a:xfrm>
          <a:prstGeom prst="rect">
            <a:avLst/>
          </a:prstGeom>
          <a:solidFill>
            <a:srgbClr val="B5802E"/>
          </a:solidFill>
          <a:ln/>
        </p:spPr>
      </p:sp>
      <p:sp>
        <p:nvSpPr>
          <p:cNvPr id="37" name="Text 35"/>
          <p:cNvSpPr/>
          <p:nvPr/>
        </p:nvSpPr>
        <p:spPr>
          <a:xfrm>
            <a:off x="9336024" y="2304288"/>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gis_sightings</a:t>
            </a:r>
            <a:endParaRPr lang="en-US" sz="1250" dirty="0"/>
          </a:p>
        </p:txBody>
      </p:sp>
      <p:sp>
        <p:nvSpPr>
          <p:cNvPr id="38" name="Shape 36"/>
          <p:cNvSpPr/>
          <p:nvPr/>
        </p:nvSpPr>
        <p:spPr>
          <a:xfrm>
            <a:off x="9134856" y="3081528"/>
            <a:ext cx="109728" cy="109728"/>
          </a:xfrm>
          <a:prstGeom prst="rect">
            <a:avLst/>
          </a:prstGeom>
          <a:solidFill>
            <a:srgbClr val="B5802E"/>
          </a:solidFill>
          <a:ln/>
        </p:spPr>
      </p:sp>
      <p:sp>
        <p:nvSpPr>
          <p:cNvPr id="39" name="Text 37"/>
          <p:cNvSpPr/>
          <p:nvPr/>
        </p:nvSpPr>
        <p:spPr>
          <a:xfrm>
            <a:off x="9336024" y="2962656"/>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patrol_zones</a:t>
            </a:r>
            <a:endParaRPr lang="en-US" sz="1250" dirty="0"/>
          </a:p>
        </p:txBody>
      </p:sp>
      <p:sp>
        <p:nvSpPr>
          <p:cNvPr id="40" name="Shape 38"/>
          <p:cNvSpPr/>
          <p:nvPr/>
        </p:nvSpPr>
        <p:spPr>
          <a:xfrm>
            <a:off x="9134856" y="3739896"/>
            <a:ext cx="109728" cy="109728"/>
          </a:xfrm>
          <a:prstGeom prst="rect">
            <a:avLst/>
          </a:prstGeom>
          <a:solidFill>
            <a:srgbClr val="B5802E"/>
          </a:solidFill>
          <a:ln/>
        </p:spPr>
      </p:sp>
      <p:sp>
        <p:nvSpPr>
          <p:cNvPr id="41" name="Text 39"/>
          <p:cNvSpPr/>
          <p:nvPr/>
        </p:nvSpPr>
        <p:spPr>
          <a:xfrm>
            <a:off x="9336024" y="3621024"/>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conflict_hotspots</a:t>
            </a:r>
            <a:endParaRPr lang="en-US" sz="1250" dirty="0"/>
          </a:p>
        </p:txBody>
      </p:sp>
      <p:sp>
        <p:nvSpPr>
          <p:cNvPr id="42" name="Shape 40"/>
          <p:cNvSpPr/>
          <p:nvPr/>
        </p:nvSpPr>
        <p:spPr>
          <a:xfrm>
            <a:off x="9134856" y="4398264"/>
            <a:ext cx="109728" cy="109728"/>
          </a:xfrm>
          <a:prstGeom prst="rect">
            <a:avLst/>
          </a:prstGeom>
          <a:solidFill>
            <a:srgbClr val="B5802E"/>
          </a:solidFill>
          <a:ln/>
        </p:spPr>
      </p:sp>
      <p:sp>
        <p:nvSpPr>
          <p:cNvPr id="43" name="Text 41"/>
          <p:cNvSpPr/>
          <p:nvPr/>
        </p:nvSpPr>
        <p:spPr>
          <a:xfrm>
            <a:off x="9336024" y="4279392"/>
            <a:ext cx="2103120" cy="502920"/>
          </a:xfrm>
          <a:prstGeom prst="rect">
            <a:avLst/>
          </a:prstGeom>
          <a:noFill/>
          <a:ln/>
        </p:spPr>
        <p:txBody>
          <a:bodyPr wrap="square" rtlCol="0" anchor="ctr"/>
          <a:lstStyle/>
          <a:p>
            <a:pPr marL="0" indent="0">
              <a:buNone/>
            </a:pPr>
            <a:r>
              <a:rPr lang="en-US" sz="1250" dirty="0">
                <a:solidFill>
                  <a:srgbClr val="1B2B22"/>
                </a:solidFill>
                <a:latin typeface="Courier New" pitchFamily="34" charset="0"/>
                <a:ea typeface="Courier New" pitchFamily="34" charset="-122"/>
                <a:cs typeface="Courier New" pitchFamily="34" charset="-120"/>
              </a:rPr>
              <a:t>executive_snapshots</a:t>
            </a:r>
            <a:endParaRPr lang="en-US" sz="1250" dirty="0"/>
          </a:p>
        </p:txBody>
      </p:sp>
      <p:sp>
        <p:nvSpPr>
          <p:cNvPr id="44" name="Text 42"/>
          <p:cNvSpPr/>
          <p:nvPr/>
        </p:nvSpPr>
        <p:spPr>
          <a:xfrm>
            <a:off x="548640" y="6108192"/>
            <a:ext cx="10789920" cy="320040"/>
          </a:xfrm>
          <a:prstGeom prst="rect">
            <a:avLst/>
          </a:prstGeom>
          <a:noFill/>
          <a:ln/>
        </p:spPr>
        <p:txBody>
          <a:bodyPr wrap="square" rtlCol="0" anchor="ctr"/>
          <a:lstStyle/>
          <a:p>
            <a:pPr marL="0" indent="0">
              <a:buNone/>
            </a:pPr>
            <a:r>
              <a:rPr lang="en-US" sz="1300" i="1" dirty="0">
                <a:solidFill>
                  <a:srgbClr val="556259"/>
                </a:solidFill>
                <a:latin typeface="Calibri" pitchFamily="34" charset="0"/>
                <a:ea typeface="Calibri" pitchFamily="34" charset="-122"/>
                <a:cs typeface="Calibri" pitchFamily="34" charset="-120"/>
              </a:rPr>
              <a:t>PostgreSQL + PostGIS (relational &amp; spatial) · MongoDB (sensor / media telemetry) · SQLAlchemy ORM · Pydantic schemas</a:t>
            </a:r>
            <a:endParaRPr lang="en-US" sz="1300" dirty="0"/>
          </a:p>
        </p:txBody>
      </p:sp>
      <p:sp>
        <p:nvSpPr>
          <p:cNvPr id="45" name="Text 43"/>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46" name="Text 44"/>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ENGINEERING</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Complete Technology Stack</a:t>
            </a:r>
            <a:endParaRPr lang="en-US" sz="3000" dirty="0"/>
          </a:p>
        </p:txBody>
      </p:sp>
      <p:sp>
        <p:nvSpPr>
          <p:cNvPr id="4" name="Shape 2"/>
          <p:cNvSpPr/>
          <p:nvPr/>
        </p:nvSpPr>
        <p:spPr>
          <a:xfrm>
            <a:off x="548640" y="1691640"/>
            <a:ext cx="2542032" cy="1874520"/>
          </a:xfrm>
          <a:prstGeom prst="roundRect">
            <a:avLst>
              <a:gd name="adj" fmla="val 3902"/>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5" name="Shape 3"/>
          <p:cNvSpPr/>
          <p:nvPr/>
        </p:nvSpPr>
        <p:spPr>
          <a:xfrm>
            <a:off x="713232" y="1856232"/>
            <a:ext cx="2212848" cy="45720"/>
          </a:xfrm>
          <a:prstGeom prst="roundRect">
            <a:avLst/>
          </a:prstGeom>
          <a:solidFill>
            <a:srgbClr val="1B4332"/>
          </a:solidFill>
          <a:ln/>
        </p:spPr>
      </p:sp>
      <p:sp>
        <p:nvSpPr>
          <p:cNvPr id="6" name="Text 4"/>
          <p:cNvSpPr/>
          <p:nvPr/>
        </p:nvSpPr>
        <p:spPr>
          <a:xfrm>
            <a:off x="713232" y="1984248"/>
            <a:ext cx="2212848" cy="457200"/>
          </a:xfrm>
          <a:prstGeom prst="rect">
            <a:avLst/>
          </a:prstGeom>
          <a:noFill/>
          <a:ln/>
        </p:spPr>
        <p:txBody>
          <a:bodyPr wrap="square" rtlCol="0" anchor="ctr"/>
          <a:lstStyle/>
          <a:p>
            <a:pPr marL="0" indent="0">
              <a:buNone/>
            </a:pPr>
            <a:r>
              <a:rPr lang="en-US" sz="1500" b="1" dirty="0">
                <a:solidFill>
                  <a:srgbClr val="1B2B22"/>
                </a:solidFill>
                <a:latin typeface="Cambria" pitchFamily="34" charset="0"/>
                <a:ea typeface="Cambria" pitchFamily="34" charset="-122"/>
                <a:cs typeface="Cambria" pitchFamily="34" charset="-120"/>
              </a:rPr>
              <a:t>Backend &amp; Frontend</a:t>
            </a:r>
            <a:endParaRPr lang="en-US" sz="1500" dirty="0"/>
          </a:p>
        </p:txBody>
      </p:sp>
      <p:sp>
        <p:nvSpPr>
          <p:cNvPr id="7" name="Text 5"/>
          <p:cNvSpPr/>
          <p:nvPr/>
        </p:nvSpPr>
        <p:spPr>
          <a:xfrm>
            <a:off x="713232" y="2468880"/>
            <a:ext cx="2212848" cy="960120"/>
          </a:xfrm>
          <a:prstGeom prst="rect">
            <a:avLst/>
          </a:prstGeom>
          <a:noFill/>
          <a:ln/>
        </p:spPr>
        <p:txBody>
          <a:bodyPr wrap="square" rtlCol="0" anchor="ctr"/>
          <a:lstStyle/>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Python · FastAPI</a:t>
            </a:r>
            <a:endParaRPr lang="en-US" sz="1200" dirty="0"/>
          </a:p>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JavaScript · React.js / Next.js</a:t>
            </a:r>
            <a:endParaRPr lang="en-US" sz="1200" dirty="0"/>
          </a:p>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Tailwind CSS · JWT Auth</a:t>
            </a:r>
            <a:endParaRPr lang="en-US" sz="1200" dirty="0"/>
          </a:p>
        </p:txBody>
      </p:sp>
      <p:sp>
        <p:nvSpPr>
          <p:cNvPr id="8" name="Shape 6"/>
          <p:cNvSpPr/>
          <p:nvPr/>
        </p:nvSpPr>
        <p:spPr>
          <a:xfrm>
            <a:off x="3273552" y="1691640"/>
            <a:ext cx="2542032" cy="1874520"/>
          </a:xfrm>
          <a:prstGeom prst="roundRect">
            <a:avLst>
              <a:gd name="adj" fmla="val 3902"/>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9" name="Shape 7"/>
          <p:cNvSpPr/>
          <p:nvPr/>
        </p:nvSpPr>
        <p:spPr>
          <a:xfrm>
            <a:off x="3438144" y="1856232"/>
            <a:ext cx="2212848" cy="45720"/>
          </a:xfrm>
          <a:prstGeom prst="roundRect">
            <a:avLst/>
          </a:prstGeom>
          <a:solidFill>
            <a:srgbClr val="52796F"/>
          </a:solidFill>
          <a:ln/>
        </p:spPr>
      </p:sp>
      <p:sp>
        <p:nvSpPr>
          <p:cNvPr id="10" name="Text 8"/>
          <p:cNvSpPr/>
          <p:nvPr/>
        </p:nvSpPr>
        <p:spPr>
          <a:xfrm>
            <a:off x="3438144" y="1984248"/>
            <a:ext cx="2212848" cy="457200"/>
          </a:xfrm>
          <a:prstGeom prst="rect">
            <a:avLst/>
          </a:prstGeom>
          <a:noFill/>
          <a:ln/>
        </p:spPr>
        <p:txBody>
          <a:bodyPr wrap="square" rtlCol="0" anchor="ctr"/>
          <a:lstStyle/>
          <a:p>
            <a:pPr marL="0" indent="0">
              <a:buNone/>
            </a:pPr>
            <a:r>
              <a:rPr lang="en-US" sz="1500" b="1" dirty="0">
                <a:solidFill>
                  <a:srgbClr val="1B2B22"/>
                </a:solidFill>
                <a:latin typeface="Cambria" pitchFamily="34" charset="0"/>
                <a:ea typeface="Cambria" pitchFamily="34" charset="-122"/>
                <a:cs typeface="Cambria" pitchFamily="34" charset="-120"/>
              </a:rPr>
              <a:t>Database</a:t>
            </a:r>
            <a:endParaRPr lang="en-US" sz="1500" dirty="0"/>
          </a:p>
        </p:txBody>
      </p:sp>
      <p:sp>
        <p:nvSpPr>
          <p:cNvPr id="11" name="Text 9"/>
          <p:cNvSpPr/>
          <p:nvPr/>
        </p:nvSpPr>
        <p:spPr>
          <a:xfrm>
            <a:off x="3438144" y="2468880"/>
            <a:ext cx="2212848" cy="960120"/>
          </a:xfrm>
          <a:prstGeom prst="rect">
            <a:avLst/>
          </a:prstGeom>
          <a:noFill/>
          <a:ln/>
        </p:spPr>
        <p:txBody>
          <a:bodyPr wrap="square" rtlCol="0" anchor="ctr"/>
          <a:lstStyle/>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PostgreSQL + PostGIS</a:t>
            </a:r>
            <a:endParaRPr lang="en-US" sz="1200" dirty="0"/>
          </a:p>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MongoDB</a:t>
            </a:r>
            <a:endParaRPr lang="en-US" sz="1200" dirty="0"/>
          </a:p>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SQLAlchemy / Pydantic</a:t>
            </a:r>
            <a:endParaRPr lang="en-US" sz="1200" dirty="0"/>
          </a:p>
        </p:txBody>
      </p:sp>
      <p:sp>
        <p:nvSpPr>
          <p:cNvPr id="12" name="Shape 10"/>
          <p:cNvSpPr/>
          <p:nvPr/>
        </p:nvSpPr>
        <p:spPr>
          <a:xfrm>
            <a:off x="5998464" y="1691640"/>
            <a:ext cx="2542032" cy="1874520"/>
          </a:xfrm>
          <a:prstGeom prst="roundRect">
            <a:avLst>
              <a:gd name="adj" fmla="val 3902"/>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3" name="Shape 11"/>
          <p:cNvSpPr/>
          <p:nvPr/>
        </p:nvSpPr>
        <p:spPr>
          <a:xfrm>
            <a:off x="6163056" y="1856232"/>
            <a:ext cx="2212848" cy="45720"/>
          </a:xfrm>
          <a:prstGeom prst="roundRect">
            <a:avLst/>
          </a:prstGeom>
          <a:solidFill>
            <a:srgbClr val="84A98C"/>
          </a:solidFill>
          <a:ln/>
        </p:spPr>
      </p:sp>
      <p:sp>
        <p:nvSpPr>
          <p:cNvPr id="14" name="Text 12"/>
          <p:cNvSpPr/>
          <p:nvPr/>
        </p:nvSpPr>
        <p:spPr>
          <a:xfrm>
            <a:off x="6163056" y="1984248"/>
            <a:ext cx="2212848" cy="457200"/>
          </a:xfrm>
          <a:prstGeom prst="rect">
            <a:avLst/>
          </a:prstGeom>
          <a:noFill/>
          <a:ln/>
        </p:spPr>
        <p:txBody>
          <a:bodyPr wrap="square" rtlCol="0" anchor="ctr"/>
          <a:lstStyle/>
          <a:p>
            <a:pPr marL="0" indent="0">
              <a:buNone/>
            </a:pPr>
            <a:r>
              <a:rPr lang="en-US" sz="1500" b="1" dirty="0">
                <a:solidFill>
                  <a:srgbClr val="1B2B22"/>
                </a:solidFill>
                <a:latin typeface="Cambria" pitchFamily="34" charset="0"/>
                <a:ea typeface="Cambria" pitchFamily="34" charset="-122"/>
                <a:cs typeface="Cambria" pitchFamily="34" charset="-120"/>
              </a:rPr>
              <a:t>Computer Vision</a:t>
            </a:r>
            <a:endParaRPr lang="en-US" sz="1500" dirty="0"/>
          </a:p>
        </p:txBody>
      </p:sp>
      <p:sp>
        <p:nvSpPr>
          <p:cNvPr id="15" name="Text 13"/>
          <p:cNvSpPr/>
          <p:nvPr/>
        </p:nvSpPr>
        <p:spPr>
          <a:xfrm>
            <a:off x="6163056" y="2468880"/>
            <a:ext cx="2212848" cy="960120"/>
          </a:xfrm>
          <a:prstGeom prst="rect">
            <a:avLst/>
          </a:prstGeom>
          <a:noFill/>
          <a:ln/>
        </p:spPr>
        <p:txBody>
          <a:bodyPr wrap="square" rtlCol="0" anchor="ctr"/>
          <a:lstStyle/>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YOLOv8 · PyTorch</a:t>
            </a:r>
            <a:endParaRPr lang="en-US" sz="1200" dirty="0"/>
          </a:p>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TensorFlow · OpenCV</a:t>
            </a:r>
            <a:endParaRPr lang="en-US" sz="1200" dirty="0"/>
          </a:p>
        </p:txBody>
      </p:sp>
      <p:sp>
        <p:nvSpPr>
          <p:cNvPr id="16" name="Shape 14"/>
          <p:cNvSpPr/>
          <p:nvPr/>
        </p:nvSpPr>
        <p:spPr>
          <a:xfrm>
            <a:off x="8723376" y="1691640"/>
            <a:ext cx="2542032" cy="1874520"/>
          </a:xfrm>
          <a:prstGeom prst="roundRect">
            <a:avLst>
              <a:gd name="adj" fmla="val 3902"/>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17" name="Shape 15"/>
          <p:cNvSpPr/>
          <p:nvPr/>
        </p:nvSpPr>
        <p:spPr>
          <a:xfrm>
            <a:off x="8887968" y="1856232"/>
            <a:ext cx="2212848" cy="45720"/>
          </a:xfrm>
          <a:prstGeom prst="roundRect">
            <a:avLst/>
          </a:prstGeom>
          <a:solidFill>
            <a:srgbClr val="B5802E"/>
          </a:solidFill>
          <a:ln/>
        </p:spPr>
      </p:sp>
      <p:sp>
        <p:nvSpPr>
          <p:cNvPr id="18" name="Text 16"/>
          <p:cNvSpPr/>
          <p:nvPr/>
        </p:nvSpPr>
        <p:spPr>
          <a:xfrm>
            <a:off x="8887968" y="1984248"/>
            <a:ext cx="2212848" cy="457200"/>
          </a:xfrm>
          <a:prstGeom prst="rect">
            <a:avLst/>
          </a:prstGeom>
          <a:noFill/>
          <a:ln/>
        </p:spPr>
        <p:txBody>
          <a:bodyPr wrap="square" rtlCol="0" anchor="ctr"/>
          <a:lstStyle/>
          <a:p>
            <a:pPr marL="0" indent="0">
              <a:buNone/>
            </a:pPr>
            <a:r>
              <a:rPr lang="en-US" sz="1500" b="1" dirty="0">
                <a:solidFill>
                  <a:srgbClr val="1B2B22"/>
                </a:solidFill>
                <a:latin typeface="Cambria" pitchFamily="34" charset="0"/>
                <a:ea typeface="Cambria" pitchFamily="34" charset="-122"/>
                <a:cs typeface="Cambria" pitchFamily="34" charset="-120"/>
              </a:rPr>
              <a:t>Audio Intelligence</a:t>
            </a:r>
            <a:endParaRPr lang="en-US" sz="1500" dirty="0"/>
          </a:p>
        </p:txBody>
      </p:sp>
      <p:sp>
        <p:nvSpPr>
          <p:cNvPr id="19" name="Text 17"/>
          <p:cNvSpPr/>
          <p:nvPr/>
        </p:nvSpPr>
        <p:spPr>
          <a:xfrm>
            <a:off x="8887968" y="2468880"/>
            <a:ext cx="2212848" cy="960120"/>
          </a:xfrm>
          <a:prstGeom prst="rect">
            <a:avLst/>
          </a:prstGeom>
          <a:noFill/>
          <a:ln/>
        </p:spPr>
        <p:txBody>
          <a:bodyPr wrap="square" rtlCol="0" anchor="ctr"/>
          <a:lstStyle/>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YAMNet · BirdNET</a:t>
            </a:r>
            <a:endParaRPr lang="en-US" sz="1200" dirty="0"/>
          </a:p>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Librosa · TensorFlow Audio</a:t>
            </a:r>
            <a:endParaRPr lang="en-US" sz="1200" dirty="0"/>
          </a:p>
        </p:txBody>
      </p:sp>
      <p:sp>
        <p:nvSpPr>
          <p:cNvPr id="20" name="Shape 18"/>
          <p:cNvSpPr/>
          <p:nvPr/>
        </p:nvSpPr>
        <p:spPr>
          <a:xfrm>
            <a:off x="548640" y="3749040"/>
            <a:ext cx="2542032" cy="1874520"/>
          </a:xfrm>
          <a:prstGeom prst="roundRect">
            <a:avLst>
              <a:gd name="adj" fmla="val 3902"/>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1" name="Shape 19"/>
          <p:cNvSpPr/>
          <p:nvPr/>
        </p:nvSpPr>
        <p:spPr>
          <a:xfrm>
            <a:off x="713232" y="3913632"/>
            <a:ext cx="2212848" cy="45720"/>
          </a:xfrm>
          <a:prstGeom prst="roundRect">
            <a:avLst/>
          </a:prstGeom>
          <a:solidFill>
            <a:srgbClr val="84A98C"/>
          </a:solidFill>
          <a:ln/>
        </p:spPr>
      </p:sp>
      <p:sp>
        <p:nvSpPr>
          <p:cNvPr id="22" name="Text 20"/>
          <p:cNvSpPr/>
          <p:nvPr/>
        </p:nvSpPr>
        <p:spPr>
          <a:xfrm>
            <a:off x="713232" y="4041648"/>
            <a:ext cx="2212848" cy="457200"/>
          </a:xfrm>
          <a:prstGeom prst="rect">
            <a:avLst/>
          </a:prstGeom>
          <a:noFill/>
          <a:ln/>
        </p:spPr>
        <p:txBody>
          <a:bodyPr wrap="square" rtlCol="0" anchor="ctr"/>
          <a:lstStyle/>
          <a:p>
            <a:pPr marL="0" indent="0">
              <a:buNone/>
            </a:pPr>
            <a:r>
              <a:rPr lang="en-US" sz="1500" b="1" dirty="0">
                <a:solidFill>
                  <a:srgbClr val="1B2B22"/>
                </a:solidFill>
                <a:latin typeface="Cambria" pitchFamily="34" charset="0"/>
                <a:ea typeface="Cambria" pitchFamily="34" charset="-122"/>
                <a:cs typeface="Cambria" pitchFamily="34" charset="-120"/>
              </a:rPr>
              <a:t>ML &amp; Data</a:t>
            </a:r>
            <a:endParaRPr lang="en-US" sz="1500" dirty="0"/>
          </a:p>
        </p:txBody>
      </p:sp>
      <p:sp>
        <p:nvSpPr>
          <p:cNvPr id="23" name="Text 21"/>
          <p:cNvSpPr/>
          <p:nvPr/>
        </p:nvSpPr>
        <p:spPr>
          <a:xfrm>
            <a:off x="713232" y="4526280"/>
            <a:ext cx="2212848" cy="960120"/>
          </a:xfrm>
          <a:prstGeom prst="rect">
            <a:avLst/>
          </a:prstGeom>
          <a:noFill/>
          <a:ln/>
        </p:spPr>
        <p:txBody>
          <a:bodyPr wrap="square" rtlCol="0" anchor="ctr"/>
          <a:lstStyle/>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Scikit-learn · XGBoost</a:t>
            </a:r>
            <a:endParaRPr lang="en-US" sz="1200" dirty="0"/>
          </a:p>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Pandas · NumPy</a:t>
            </a:r>
            <a:endParaRPr lang="en-US" sz="1200" dirty="0"/>
          </a:p>
        </p:txBody>
      </p:sp>
      <p:sp>
        <p:nvSpPr>
          <p:cNvPr id="24" name="Shape 22"/>
          <p:cNvSpPr/>
          <p:nvPr/>
        </p:nvSpPr>
        <p:spPr>
          <a:xfrm>
            <a:off x="3273552" y="3749040"/>
            <a:ext cx="2542032" cy="1874520"/>
          </a:xfrm>
          <a:prstGeom prst="roundRect">
            <a:avLst>
              <a:gd name="adj" fmla="val 3902"/>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5" name="Shape 23"/>
          <p:cNvSpPr/>
          <p:nvPr/>
        </p:nvSpPr>
        <p:spPr>
          <a:xfrm>
            <a:off x="3438144" y="3913632"/>
            <a:ext cx="2212848" cy="45720"/>
          </a:xfrm>
          <a:prstGeom prst="roundRect">
            <a:avLst/>
          </a:prstGeom>
          <a:solidFill>
            <a:srgbClr val="B5802E"/>
          </a:solidFill>
          <a:ln/>
        </p:spPr>
      </p:sp>
      <p:sp>
        <p:nvSpPr>
          <p:cNvPr id="26" name="Text 24"/>
          <p:cNvSpPr/>
          <p:nvPr/>
        </p:nvSpPr>
        <p:spPr>
          <a:xfrm>
            <a:off x="3438144" y="4041648"/>
            <a:ext cx="2212848" cy="457200"/>
          </a:xfrm>
          <a:prstGeom prst="rect">
            <a:avLst/>
          </a:prstGeom>
          <a:noFill/>
          <a:ln/>
        </p:spPr>
        <p:txBody>
          <a:bodyPr wrap="square" rtlCol="0" anchor="ctr"/>
          <a:lstStyle/>
          <a:p>
            <a:pPr marL="0" indent="0">
              <a:buNone/>
            </a:pPr>
            <a:r>
              <a:rPr lang="en-US" sz="1500" b="1" dirty="0">
                <a:solidFill>
                  <a:srgbClr val="1B2B22"/>
                </a:solidFill>
                <a:latin typeface="Cambria" pitchFamily="34" charset="0"/>
                <a:ea typeface="Cambria" pitchFamily="34" charset="-122"/>
                <a:cs typeface="Cambria" pitchFamily="34" charset="-120"/>
              </a:rPr>
              <a:t>GIS &amp; Remote Sensing</a:t>
            </a:r>
            <a:endParaRPr lang="en-US" sz="1500" dirty="0"/>
          </a:p>
        </p:txBody>
      </p:sp>
      <p:sp>
        <p:nvSpPr>
          <p:cNvPr id="27" name="Text 25"/>
          <p:cNvSpPr/>
          <p:nvPr/>
        </p:nvSpPr>
        <p:spPr>
          <a:xfrm>
            <a:off x="3438144" y="4526280"/>
            <a:ext cx="2212848" cy="960120"/>
          </a:xfrm>
          <a:prstGeom prst="rect">
            <a:avLst/>
          </a:prstGeom>
          <a:noFill/>
          <a:ln/>
        </p:spPr>
        <p:txBody>
          <a:bodyPr wrap="square" rtlCol="0" anchor="ctr"/>
          <a:lstStyle/>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GeoPandas · QGIS</a:t>
            </a:r>
            <a:endParaRPr lang="en-US" sz="1200" dirty="0"/>
          </a:p>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Rasterio · GDAL</a:t>
            </a:r>
            <a:endParaRPr lang="en-US" sz="1200" dirty="0"/>
          </a:p>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Sentinel Hub · Earth Engine</a:t>
            </a:r>
            <a:endParaRPr lang="en-US" sz="1200" dirty="0"/>
          </a:p>
        </p:txBody>
      </p:sp>
      <p:sp>
        <p:nvSpPr>
          <p:cNvPr id="28" name="Shape 26"/>
          <p:cNvSpPr/>
          <p:nvPr/>
        </p:nvSpPr>
        <p:spPr>
          <a:xfrm>
            <a:off x="5998464" y="3749040"/>
            <a:ext cx="2542032" cy="1874520"/>
          </a:xfrm>
          <a:prstGeom prst="roundRect">
            <a:avLst>
              <a:gd name="adj" fmla="val 3902"/>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29" name="Shape 27"/>
          <p:cNvSpPr/>
          <p:nvPr/>
        </p:nvSpPr>
        <p:spPr>
          <a:xfrm>
            <a:off x="6163056" y="3913632"/>
            <a:ext cx="2212848" cy="45720"/>
          </a:xfrm>
          <a:prstGeom prst="roundRect">
            <a:avLst/>
          </a:prstGeom>
          <a:solidFill>
            <a:srgbClr val="1B4332"/>
          </a:solidFill>
          <a:ln/>
        </p:spPr>
      </p:sp>
      <p:sp>
        <p:nvSpPr>
          <p:cNvPr id="30" name="Text 28"/>
          <p:cNvSpPr/>
          <p:nvPr/>
        </p:nvSpPr>
        <p:spPr>
          <a:xfrm>
            <a:off x="6163056" y="4041648"/>
            <a:ext cx="2212848" cy="457200"/>
          </a:xfrm>
          <a:prstGeom prst="rect">
            <a:avLst/>
          </a:prstGeom>
          <a:noFill/>
          <a:ln/>
        </p:spPr>
        <p:txBody>
          <a:bodyPr wrap="square" rtlCol="0" anchor="ctr"/>
          <a:lstStyle/>
          <a:p>
            <a:pPr marL="0" indent="0">
              <a:buNone/>
            </a:pPr>
            <a:r>
              <a:rPr lang="en-US" sz="1500" b="1" dirty="0">
                <a:solidFill>
                  <a:srgbClr val="1B2B22"/>
                </a:solidFill>
                <a:latin typeface="Cambria" pitchFamily="34" charset="0"/>
                <a:ea typeface="Cambria" pitchFamily="34" charset="-122"/>
                <a:cs typeface="Cambria" pitchFamily="34" charset="-120"/>
              </a:rPr>
              <a:t>Visualization</a:t>
            </a:r>
            <a:endParaRPr lang="en-US" sz="1500" dirty="0"/>
          </a:p>
        </p:txBody>
      </p:sp>
      <p:sp>
        <p:nvSpPr>
          <p:cNvPr id="31" name="Text 29"/>
          <p:cNvSpPr/>
          <p:nvPr/>
        </p:nvSpPr>
        <p:spPr>
          <a:xfrm>
            <a:off x="6163056" y="4526280"/>
            <a:ext cx="2212848" cy="960120"/>
          </a:xfrm>
          <a:prstGeom prst="rect">
            <a:avLst/>
          </a:prstGeom>
          <a:noFill/>
          <a:ln/>
        </p:spPr>
        <p:txBody>
          <a:bodyPr wrap="square" rtlCol="0" anchor="ctr"/>
          <a:lstStyle/>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Leaflet.js · Mapbox</a:t>
            </a:r>
            <a:endParaRPr lang="en-US" sz="1200" dirty="0"/>
          </a:p>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Plotly · Chart.js</a:t>
            </a:r>
            <a:endParaRPr lang="en-US" sz="1200" dirty="0"/>
          </a:p>
        </p:txBody>
      </p:sp>
      <p:sp>
        <p:nvSpPr>
          <p:cNvPr id="32" name="Shape 30"/>
          <p:cNvSpPr/>
          <p:nvPr/>
        </p:nvSpPr>
        <p:spPr>
          <a:xfrm>
            <a:off x="8723376" y="3749040"/>
            <a:ext cx="2542032" cy="1874520"/>
          </a:xfrm>
          <a:prstGeom prst="roundRect">
            <a:avLst>
              <a:gd name="adj" fmla="val 3902"/>
            </a:avLst>
          </a:prstGeom>
          <a:solidFill>
            <a:srgbClr val="FFFFFF"/>
          </a:solidFill>
          <a:ln w="12700">
            <a:solidFill>
              <a:srgbClr val="CAD2C5"/>
            </a:solidFill>
            <a:prstDash val="solid"/>
          </a:ln>
          <a:effectLst>
            <a:outerShdw blurRad="76200" dist="25400" dir="5400000" algn="bl" rotWithShape="0">
              <a:srgbClr val="1B4332">
                <a:alpha val="12000"/>
              </a:srgbClr>
            </a:outerShdw>
          </a:effectLst>
        </p:spPr>
      </p:sp>
      <p:sp>
        <p:nvSpPr>
          <p:cNvPr id="33" name="Shape 31"/>
          <p:cNvSpPr/>
          <p:nvPr/>
        </p:nvSpPr>
        <p:spPr>
          <a:xfrm>
            <a:off x="8887968" y="3913632"/>
            <a:ext cx="2212848" cy="45720"/>
          </a:xfrm>
          <a:prstGeom prst="roundRect">
            <a:avLst/>
          </a:prstGeom>
          <a:solidFill>
            <a:srgbClr val="52796F"/>
          </a:solidFill>
          <a:ln/>
        </p:spPr>
      </p:sp>
      <p:sp>
        <p:nvSpPr>
          <p:cNvPr id="34" name="Text 32"/>
          <p:cNvSpPr/>
          <p:nvPr/>
        </p:nvSpPr>
        <p:spPr>
          <a:xfrm>
            <a:off x="8887968" y="4041648"/>
            <a:ext cx="2212848" cy="457200"/>
          </a:xfrm>
          <a:prstGeom prst="rect">
            <a:avLst/>
          </a:prstGeom>
          <a:noFill/>
          <a:ln/>
        </p:spPr>
        <p:txBody>
          <a:bodyPr wrap="square" rtlCol="0" anchor="ctr"/>
          <a:lstStyle/>
          <a:p>
            <a:pPr marL="0" indent="0">
              <a:buNone/>
            </a:pPr>
            <a:r>
              <a:rPr lang="en-US" sz="1500" b="1" dirty="0">
                <a:solidFill>
                  <a:srgbClr val="1B2B22"/>
                </a:solidFill>
                <a:latin typeface="Cambria" pitchFamily="34" charset="0"/>
                <a:ea typeface="Cambria" pitchFamily="34" charset="-122"/>
                <a:cs typeface="Cambria" pitchFamily="34" charset="-120"/>
              </a:rPr>
              <a:t>Cloud &amp; DevOps</a:t>
            </a:r>
            <a:endParaRPr lang="en-US" sz="1500" dirty="0"/>
          </a:p>
        </p:txBody>
      </p:sp>
      <p:sp>
        <p:nvSpPr>
          <p:cNvPr id="35" name="Text 33"/>
          <p:cNvSpPr/>
          <p:nvPr/>
        </p:nvSpPr>
        <p:spPr>
          <a:xfrm>
            <a:off x="8887968" y="4526280"/>
            <a:ext cx="2212848" cy="960120"/>
          </a:xfrm>
          <a:prstGeom prst="rect">
            <a:avLst/>
          </a:prstGeom>
          <a:noFill/>
          <a:ln/>
        </p:spPr>
        <p:txBody>
          <a:bodyPr wrap="square" rtlCol="0" anchor="ctr"/>
          <a:lstStyle/>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Docker · Docker Compose</a:t>
            </a:r>
            <a:endParaRPr lang="en-US" sz="1200" dirty="0"/>
          </a:p>
          <a:p>
            <a:pPr marL="0" indent="0">
              <a:lnSpc>
                <a:spcPct val="135000"/>
              </a:lnSpc>
              <a:buNone/>
            </a:pPr>
            <a:r>
              <a:rPr lang="en-US" sz="1200" dirty="0">
                <a:solidFill>
                  <a:srgbClr val="556259"/>
                </a:solidFill>
                <a:latin typeface="Calibri" pitchFamily="34" charset="0"/>
                <a:ea typeface="Calibri" pitchFamily="34" charset="-122"/>
                <a:cs typeface="Calibri" pitchFamily="34" charset="-120"/>
              </a:rPr>
              <a:t>AWS / Azure · GitHub Actions</a:t>
            </a:r>
            <a:endParaRPr lang="en-US" sz="1200" dirty="0"/>
          </a:p>
        </p:txBody>
      </p:sp>
      <p:sp>
        <p:nvSpPr>
          <p:cNvPr id="36" name="Text 34"/>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37" name="Text 35"/>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VERIFICATION</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End-to-End Performance Benchmarks</a:t>
            </a:r>
            <a:endParaRPr lang="en-US" sz="3000" dirty="0"/>
          </a:p>
        </p:txBody>
      </p:sp>
      <p:sp>
        <p:nvSpPr>
          <p:cNvPr id="4" name="Shape 2"/>
          <p:cNvSpPr/>
          <p:nvPr/>
        </p:nvSpPr>
        <p:spPr>
          <a:xfrm>
            <a:off x="548640" y="1783080"/>
            <a:ext cx="10881360" cy="502920"/>
          </a:xfrm>
          <a:prstGeom prst="roundRect">
            <a:avLst>
              <a:gd name="adj" fmla="val 7273"/>
            </a:avLst>
          </a:prstGeom>
          <a:solidFill>
            <a:srgbClr val="1B4332"/>
          </a:solidFill>
          <a:ln/>
        </p:spPr>
      </p:sp>
      <p:sp>
        <p:nvSpPr>
          <p:cNvPr id="5" name="Text 3"/>
          <p:cNvSpPr/>
          <p:nvPr/>
        </p:nvSpPr>
        <p:spPr>
          <a:xfrm>
            <a:off x="777240" y="1783080"/>
            <a:ext cx="50292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Pipeline Stage</a:t>
            </a:r>
            <a:endParaRPr lang="en-US" sz="1400" dirty="0"/>
          </a:p>
        </p:txBody>
      </p:sp>
      <p:sp>
        <p:nvSpPr>
          <p:cNvPr id="6" name="Text 4"/>
          <p:cNvSpPr/>
          <p:nvPr/>
        </p:nvSpPr>
        <p:spPr>
          <a:xfrm>
            <a:off x="6126480" y="1783080"/>
            <a:ext cx="22860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Latency</a:t>
            </a:r>
            <a:endParaRPr lang="en-US" sz="1400" dirty="0"/>
          </a:p>
        </p:txBody>
      </p:sp>
      <p:sp>
        <p:nvSpPr>
          <p:cNvPr id="7" name="Text 5"/>
          <p:cNvSpPr/>
          <p:nvPr/>
        </p:nvSpPr>
        <p:spPr>
          <a:xfrm>
            <a:off x="8503920" y="1783080"/>
            <a:ext cx="2743200" cy="5029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Accuracy / Reliability</a:t>
            </a:r>
            <a:endParaRPr lang="en-US" sz="1400" dirty="0"/>
          </a:p>
        </p:txBody>
      </p:sp>
      <p:sp>
        <p:nvSpPr>
          <p:cNvPr id="8" name="Shape 6"/>
          <p:cNvSpPr/>
          <p:nvPr/>
        </p:nvSpPr>
        <p:spPr>
          <a:xfrm>
            <a:off x="548640" y="2286000"/>
            <a:ext cx="10881360" cy="603504"/>
          </a:xfrm>
          <a:prstGeom prst="rect">
            <a:avLst/>
          </a:prstGeom>
          <a:solidFill>
            <a:srgbClr val="FFFFFF"/>
          </a:solidFill>
          <a:ln w="6350">
            <a:solidFill>
              <a:srgbClr val="CAD2C5"/>
            </a:solidFill>
            <a:prstDash val="solid"/>
          </a:ln>
        </p:spPr>
      </p:sp>
      <p:sp>
        <p:nvSpPr>
          <p:cNvPr id="9" name="Text 7"/>
          <p:cNvSpPr/>
          <p:nvPr/>
        </p:nvSpPr>
        <p:spPr>
          <a:xfrm>
            <a:off x="777240" y="2286000"/>
            <a:ext cx="5029200" cy="603504"/>
          </a:xfrm>
          <a:prstGeom prst="rect">
            <a:avLst/>
          </a:prstGeom>
          <a:noFill/>
          <a:ln/>
        </p:spPr>
        <p:txBody>
          <a:bodyPr wrap="square" rtlCol="0" anchor="ctr"/>
          <a:lstStyle/>
          <a:p>
            <a:pPr marL="0" indent="0">
              <a:buNone/>
            </a:pPr>
            <a:r>
              <a:rPr lang="en-US" sz="1400" b="1" dirty="0">
                <a:solidFill>
                  <a:srgbClr val="1B2B22"/>
                </a:solidFill>
                <a:latin typeface="Calibri" pitchFamily="34" charset="0"/>
                <a:ea typeface="Calibri" pitchFamily="34" charset="-122"/>
                <a:cs typeface="Calibri" pitchFamily="34" charset="-120"/>
              </a:rPr>
              <a:t>Image Ingestion &amp; AI Detection</a:t>
            </a:r>
            <a:endParaRPr lang="en-US" sz="1400" dirty="0"/>
          </a:p>
        </p:txBody>
      </p:sp>
      <p:sp>
        <p:nvSpPr>
          <p:cNvPr id="10" name="Text 8"/>
          <p:cNvSpPr/>
          <p:nvPr/>
        </p:nvSpPr>
        <p:spPr>
          <a:xfrm>
            <a:off x="6126480" y="2286000"/>
            <a:ext cx="2286000" cy="603504"/>
          </a:xfrm>
          <a:prstGeom prst="rect">
            <a:avLst/>
          </a:prstGeom>
          <a:noFill/>
          <a:ln/>
        </p:spPr>
        <p:txBody>
          <a:bodyPr wrap="square" rtlCol="0" anchor="ctr"/>
          <a:lstStyle/>
          <a:p>
            <a:pPr marL="0" indent="0">
              <a:buNone/>
            </a:pPr>
            <a:r>
              <a:rPr lang="en-US" sz="1350" dirty="0">
                <a:solidFill>
                  <a:srgbClr val="52796F"/>
                </a:solidFill>
                <a:latin typeface="Courier New" pitchFamily="34" charset="0"/>
                <a:ea typeface="Courier New" pitchFamily="34" charset="-122"/>
                <a:cs typeface="Courier New" pitchFamily="34" charset="-120"/>
              </a:rPr>
              <a:t>120 ms / image</a:t>
            </a:r>
            <a:endParaRPr lang="en-US" sz="1350" dirty="0"/>
          </a:p>
        </p:txBody>
      </p:sp>
      <p:sp>
        <p:nvSpPr>
          <p:cNvPr id="11" name="Text 9"/>
          <p:cNvSpPr/>
          <p:nvPr/>
        </p:nvSpPr>
        <p:spPr>
          <a:xfrm>
            <a:off x="8503920" y="2286000"/>
            <a:ext cx="2743200" cy="603504"/>
          </a:xfrm>
          <a:prstGeom prst="rect">
            <a:avLst/>
          </a:prstGeom>
          <a:noFill/>
          <a:ln/>
        </p:spPr>
        <p:txBody>
          <a:bodyPr wrap="square" rtlCol="0" anchor="ctr"/>
          <a:lstStyle/>
          <a:p>
            <a:pPr marL="0" indent="0">
              <a:buNone/>
            </a:pPr>
            <a:r>
              <a:rPr lang="en-US" sz="1350" dirty="0">
                <a:solidFill>
                  <a:srgbClr val="1B2B22"/>
                </a:solidFill>
                <a:latin typeface="Calibri" pitchFamily="34" charset="0"/>
                <a:ea typeface="Calibri" pitchFamily="34" charset="-122"/>
                <a:cs typeface="Calibri" pitchFamily="34" charset="-120"/>
              </a:rPr>
              <a:t>91.2% Top-1 Precision</a:t>
            </a:r>
            <a:endParaRPr lang="en-US" sz="1350" dirty="0"/>
          </a:p>
        </p:txBody>
      </p:sp>
      <p:sp>
        <p:nvSpPr>
          <p:cNvPr id="12" name="Text 10"/>
          <p:cNvSpPr/>
          <p:nvPr/>
        </p:nvSpPr>
        <p:spPr>
          <a:xfrm>
            <a:off x="10469880" y="2286000"/>
            <a:ext cx="777240" cy="603504"/>
          </a:xfrm>
          <a:prstGeom prst="rect">
            <a:avLst/>
          </a:prstGeom>
          <a:noFill/>
          <a:ln/>
        </p:spPr>
        <p:txBody>
          <a:bodyPr wrap="square" rtlCol="0" anchor="ctr"/>
          <a:lstStyle/>
          <a:p>
            <a:pPr marL="0" indent="0" algn="ctr">
              <a:buNone/>
            </a:pPr>
            <a:r>
              <a:rPr lang="en-US" sz="1200" b="1" dirty="0">
                <a:solidFill>
                  <a:srgbClr val="52796F"/>
                </a:solidFill>
                <a:latin typeface="Calibri" pitchFamily="34" charset="0"/>
                <a:ea typeface="Calibri" pitchFamily="34" charset="-122"/>
                <a:cs typeface="Calibri" pitchFamily="34" charset="-120"/>
              </a:rPr>
              <a:t>PASS</a:t>
            </a:r>
            <a:endParaRPr lang="en-US" sz="1200" dirty="0"/>
          </a:p>
        </p:txBody>
      </p:sp>
      <p:sp>
        <p:nvSpPr>
          <p:cNvPr id="13" name="Shape 11"/>
          <p:cNvSpPr/>
          <p:nvPr/>
        </p:nvSpPr>
        <p:spPr>
          <a:xfrm>
            <a:off x="548640" y="2889504"/>
            <a:ext cx="10881360" cy="603504"/>
          </a:xfrm>
          <a:prstGeom prst="rect">
            <a:avLst/>
          </a:prstGeom>
          <a:solidFill>
            <a:srgbClr val="EFF2ED"/>
          </a:solidFill>
          <a:ln w="6350">
            <a:solidFill>
              <a:srgbClr val="CAD2C5"/>
            </a:solidFill>
            <a:prstDash val="solid"/>
          </a:ln>
        </p:spPr>
      </p:sp>
      <p:sp>
        <p:nvSpPr>
          <p:cNvPr id="14" name="Text 12"/>
          <p:cNvSpPr/>
          <p:nvPr/>
        </p:nvSpPr>
        <p:spPr>
          <a:xfrm>
            <a:off x="777240" y="2889504"/>
            <a:ext cx="5029200" cy="603504"/>
          </a:xfrm>
          <a:prstGeom prst="rect">
            <a:avLst/>
          </a:prstGeom>
          <a:noFill/>
          <a:ln/>
        </p:spPr>
        <p:txBody>
          <a:bodyPr wrap="square" rtlCol="0" anchor="ctr"/>
          <a:lstStyle/>
          <a:p>
            <a:pPr marL="0" indent="0">
              <a:buNone/>
            </a:pPr>
            <a:r>
              <a:rPr lang="en-US" sz="1400" b="1" dirty="0">
                <a:solidFill>
                  <a:srgbClr val="1B2B22"/>
                </a:solidFill>
                <a:latin typeface="Calibri" pitchFamily="34" charset="0"/>
                <a:ea typeface="Calibri" pitchFamily="34" charset="-122"/>
                <a:cs typeface="Calibri" pitchFamily="34" charset="-120"/>
              </a:rPr>
              <a:t>Population Abundance Engine</a:t>
            </a:r>
            <a:endParaRPr lang="en-US" sz="1400" dirty="0"/>
          </a:p>
        </p:txBody>
      </p:sp>
      <p:sp>
        <p:nvSpPr>
          <p:cNvPr id="15" name="Text 13"/>
          <p:cNvSpPr/>
          <p:nvPr/>
        </p:nvSpPr>
        <p:spPr>
          <a:xfrm>
            <a:off x="6126480" y="2889504"/>
            <a:ext cx="2286000" cy="603504"/>
          </a:xfrm>
          <a:prstGeom prst="rect">
            <a:avLst/>
          </a:prstGeom>
          <a:noFill/>
          <a:ln/>
        </p:spPr>
        <p:txBody>
          <a:bodyPr wrap="square" rtlCol="0" anchor="ctr"/>
          <a:lstStyle/>
          <a:p>
            <a:pPr marL="0" indent="0">
              <a:buNone/>
            </a:pPr>
            <a:r>
              <a:rPr lang="en-US" sz="1350" dirty="0">
                <a:solidFill>
                  <a:srgbClr val="52796F"/>
                </a:solidFill>
                <a:latin typeface="Courier New" pitchFamily="34" charset="0"/>
                <a:ea typeface="Courier New" pitchFamily="34" charset="-122"/>
                <a:cs typeface="Courier New" pitchFamily="34" charset="-120"/>
              </a:rPr>
              <a:t>15 ms / request</a:t>
            </a:r>
            <a:endParaRPr lang="en-US" sz="1350" dirty="0"/>
          </a:p>
        </p:txBody>
      </p:sp>
      <p:sp>
        <p:nvSpPr>
          <p:cNvPr id="16" name="Text 14"/>
          <p:cNvSpPr/>
          <p:nvPr/>
        </p:nvSpPr>
        <p:spPr>
          <a:xfrm>
            <a:off x="8503920" y="2889504"/>
            <a:ext cx="2743200" cy="603504"/>
          </a:xfrm>
          <a:prstGeom prst="rect">
            <a:avLst/>
          </a:prstGeom>
          <a:noFill/>
          <a:ln/>
        </p:spPr>
        <p:txBody>
          <a:bodyPr wrap="square" rtlCol="0" anchor="ctr"/>
          <a:lstStyle/>
          <a:p>
            <a:pPr marL="0" indent="0">
              <a:buNone/>
            </a:pPr>
            <a:r>
              <a:rPr lang="en-US" sz="1350" dirty="0">
                <a:solidFill>
                  <a:srgbClr val="1B2B22"/>
                </a:solidFill>
                <a:latin typeface="Calibri" pitchFamily="34" charset="0"/>
                <a:ea typeface="Calibri" pitchFamily="34" charset="-122"/>
                <a:cs typeface="Calibri" pitchFamily="34" charset="-120"/>
              </a:rPr>
              <a:t>95% Confidence Bounds</a:t>
            </a:r>
            <a:endParaRPr lang="en-US" sz="1350" dirty="0"/>
          </a:p>
        </p:txBody>
      </p:sp>
      <p:sp>
        <p:nvSpPr>
          <p:cNvPr id="17" name="Text 15"/>
          <p:cNvSpPr/>
          <p:nvPr/>
        </p:nvSpPr>
        <p:spPr>
          <a:xfrm>
            <a:off x="10469880" y="2889504"/>
            <a:ext cx="777240" cy="603504"/>
          </a:xfrm>
          <a:prstGeom prst="rect">
            <a:avLst/>
          </a:prstGeom>
          <a:noFill/>
          <a:ln/>
        </p:spPr>
        <p:txBody>
          <a:bodyPr wrap="square" rtlCol="0" anchor="ctr"/>
          <a:lstStyle/>
          <a:p>
            <a:pPr marL="0" indent="0" algn="ctr">
              <a:buNone/>
            </a:pPr>
            <a:r>
              <a:rPr lang="en-US" sz="1200" b="1" dirty="0">
                <a:solidFill>
                  <a:srgbClr val="52796F"/>
                </a:solidFill>
                <a:latin typeface="Calibri" pitchFamily="34" charset="0"/>
                <a:ea typeface="Calibri" pitchFamily="34" charset="-122"/>
                <a:cs typeface="Calibri" pitchFamily="34" charset="-120"/>
              </a:rPr>
              <a:t>PASS</a:t>
            </a:r>
            <a:endParaRPr lang="en-US" sz="1200" dirty="0"/>
          </a:p>
        </p:txBody>
      </p:sp>
      <p:sp>
        <p:nvSpPr>
          <p:cNvPr id="18" name="Shape 16"/>
          <p:cNvSpPr/>
          <p:nvPr/>
        </p:nvSpPr>
        <p:spPr>
          <a:xfrm>
            <a:off x="548640" y="3493008"/>
            <a:ext cx="10881360" cy="603504"/>
          </a:xfrm>
          <a:prstGeom prst="rect">
            <a:avLst/>
          </a:prstGeom>
          <a:solidFill>
            <a:srgbClr val="FFFFFF"/>
          </a:solidFill>
          <a:ln w="6350">
            <a:solidFill>
              <a:srgbClr val="CAD2C5"/>
            </a:solidFill>
            <a:prstDash val="solid"/>
          </a:ln>
        </p:spPr>
      </p:sp>
      <p:sp>
        <p:nvSpPr>
          <p:cNvPr id="19" name="Text 17"/>
          <p:cNvSpPr/>
          <p:nvPr/>
        </p:nvSpPr>
        <p:spPr>
          <a:xfrm>
            <a:off x="777240" y="3493008"/>
            <a:ext cx="5029200" cy="603504"/>
          </a:xfrm>
          <a:prstGeom prst="rect">
            <a:avLst/>
          </a:prstGeom>
          <a:noFill/>
          <a:ln/>
        </p:spPr>
        <p:txBody>
          <a:bodyPr wrap="square" rtlCol="0" anchor="ctr"/>
          <a:lstStyle/>
          <a:p>
            <a:pPr marL="0" indent="0">
              <a:buNone/>
            </a:pPr>
            <a:r>
              <a:rPr lang="en-US" sz="1400" b="1" dirty="0">
                <a:solidFill>
                  <a:srgbClr val="1B2B22"/>
                </a:solidFill>
                <a:latin typeface="Calibri" pitchFamily="34" charset="0"/>
                <a:ea typeface="Calibri" pitchFamily="34" charset="-122"/>
                <a:cs typeface="Calibri" pitchFamily="34" charset="-120"/>
              </a:rPr>
              <a:t>Habitat Satellite Index (NDVI)</a:t>
            </a:r>
            <a:endParaRPr lang="en-US" sz="1400" dirty="0"/>
          </a:p>
        </p:txBody>
      </p:sp>
      <p:sp>
        <p:nvSpPr>
          <p:cNvPr id="20" name="Text 18"/>
          <p:cNvSpPr/>
          <p:nvPr/>
        </p:nvSpPr>
        <p:spPr>
          <a:xfrm>
            <a:off x="6126480" y="3493008"/>
            <a:ext cx="2286000" cy="603504"/>
          </a:xfrm>
          <a:prstGeom prst="rect">
            <a:avLst/>
          </a:prstGeom>
          <a:noFill/>
          <a:ln/>
        </p:spPr>
        <p:txBody>
          <a:bodyPr wrap="square" rtlCol="0" anchor="ctr"/>
          <a:lstStyle/>
          <a:p>
            <a:pPr marL="0" indent="0">
              <a:buNone/>
            </a:pPr>
            <a:r>
              <a:rPr lang="en-US" sz="1350" dirty="0">
                <a:solidFill>
                  <a:srgbClr val="52796F"/>
                </a:solidFill>
                <a:latin typeface="Courier New" pitchFamily="34" charset="0"/>
                <a:ea typeface="Courier New" pitchFamily="34" charset="-122"/>
                <a:cs typeface="Courier New" pitchFamily="34" charset="-120"/>
              </a:rPr>
              <a:t>25 ms / request</a:t>
            </a:r>
            <a:endParaRPr lang="en-US" sz="1350" dirty="0"/>
          </a:p>
        </p:txBody>
      </p:sp>
      <p:sp>
        <p:nvSpPr>
          <p:cNvPr id="21" name="Text 19"/>
          <p:cNvSpPr/>
          <p:nvPr/>
        </p:nvSpPr>
        <p:spPr>
          <a:xfrm>
            <a:off x="8503920" y="3493008"/>
            <a:ext cx="2743200" cy="603504"/>
          </a:xfrm>
          <a:prstGeom prst="rect">
            <a:avLst/>
          </a:prstGeom>
          <a:noFill/>
          <a:ln/>
        </p:spPr>
        <p:txBody>
          <a:bodyPr wrap="square" rtlCol="0" anchor="ctr"/>
          <a:lstStyle/>
          <a:p>
            <a:pPr marL="0" indent="0">
              <a:buNone/>
            </a:pPr>
            <a:r>
              <a:rPr lang="en-US" sz="1350" dirty="0">
                <a:solidFill>
                  <a:srgbClr val="1B2B22"/>
                </a:solidFill>
                <a:latin typeface="Calibri" pitchFamily="34" charset="0"/>
                <a:ea typeface="Calibri" pitchFamily="34" charset="-122"/>
                <a:cs typeface="Calibri" pitchFamily="34" charset="-120"/>
              </a:rPr>
              <a:t>Standardized Scale (0–1)</a:t>
            </a:r>
            <a:endParaRPr lang="en-US" sz="1350" dirty="0"/>
          </a:p>
        </p:txBody>
      </p:sp>
      <p:sp>
        <p:nvSpPr>
          <p:cNvPr id="22" name="Text 20"/>
          <p:cNvSpPr/>
          <p:nvPr/>
        </p:nvSpPr>
        <p:spPr>
          <a:xfrm>
            <a:off x="10469880" y="3493008"/>
            <a:ext cx="777240" cy="603504"/>
          </a:xfrm>
          <a:prstGeom prst="rect">
            <a:avLst/>
          </a:prstGeom>
          <a:noFill/>
          <a:ln/>
        </p:spPr>
        <p:txBody>
          <a:bodyPr wrap="square" rtlCol="0" anchor="ctr"/>
          <a:lstStyle/>
          <a:p>
            <a:pPr marL="0" indent="0" algn="ctr">
              <a:buNone/>
            </a:pPr>
            <a:r>
              <a:rPr lang="en-US" sz="1200" b="1" dirty="0">
                <a:solidFill>
                  <a:srgbClr val="52796F"/>
                </a:solidFill>
                <a:latin typeface="Calibri" pitchFamily="34" charset="0"/>
                <a:ea typeface="Calibri" pitchFamily="34" charset="-122"/>
                <a:cs typeface="Calibri" pitchFamily="34" charset="-120"/>
              </a:rPr>
              <a:t>PASS</a:t>
            </a:r>
            <a:endParaRPr lang="en-US" sz="1200" dirty="0"/>
          </a:p>
        </p:txBody>
      </p:sp>
      <p:sp>
        <p:nvSpPr>
          <p:cNvPr id="23" name="Shape 21"/>
          <p:cNvSpPr/>
          <p:nvPr/>
        </p:nvSpPr>
        <p:spPr>
          <a:xfrm>
            <a:off x="548640" y="4096512"/>
            <a:ext cx="10881360" cy="603504"/>
          </a:xfrm>
          <a:prstGeom prst="rect">
            <a:avLst/>
          </a:prstGeom>
          <a:solidFill>
            <a:srgbClr val="EFF2ED"/>
          </a:solidFill>
          <a:ln w="6350">
            <a:solidFill>
              <a:srgbClr val="CAD2C5"/>
            </a:solidFill>
            <a:prstDash val="solid"/>
          </a:ln>
        </p:spPr>
      </p:sp>
      <p:sp>
        <p:nvSpPr>
          <p:cNvPr id="24" name="Text 22"/>
          <p:cNvSpPr/>
          <p:nvPr/>
        </p:nvSpPr>
        <p:spPr>
          <a:xfrm>
            <a:off x="777240" y="4096512"/>
            <a:ext cx="5029200" cy="603504"/>
          </a:xfrm>
          <a:prstGeom prst="rect">
            <a:avLst/>
          </a:prstGeom>
          <a:noFill/>
          <a:ln/>
        </p:spPr>
        <p:txBody>
          <a:bodyPr wrap="square" rtlCol="0" anchor="ctr"/>
          <a:lstStyle/>
          <a:p>
            <a:pPr marL="0" indent="0">
              <a:buNone/>
            </a:pPr>
            <a:r>
              <a:rPr lang="en-US" sz="1400" b="1" dirty="0">
                <a:solidFill>
                  <a:srgbClr val="1B2B22"/>
                </a:solidFill>
                <a:latin typeface="Calibri" pitchFamily="34" charset="0"/>
                <a:ea typeface="Calibri" pitchFamily="34" charset="-122"/>
                <a:cs typeface="Calibri" pitchFamily="34" charset="-120"/>
              </a:rPr>
              <a:t>GIS Layer Rendering</a:t>
            </a:r>
            <a:endParaRPr lang="en-US" sz="1400" dirty="0"/>
          </a:p>
        </p:txBody>
      </p:sp>
      <p:sp>
        <p:nvSpPr>
          <p:cNvPr id="25" name="Text 23"/>
          <p:cNvSpPr/>
          <p:nvPr/>
        </p:nvSpPr>
        <p:spPr>
          <a:xfrm>
            <a:off x="6126480" y="4096512"/>
            <a:ext cx="2286000" cy="603504"/>
          </a:xfrm>
          <a:prstGeom prst="rect">
            <a:avLst/>
          </a:prstGeom>
          <a:noFill/>
          <a:ln/>
        </p:spPr>
        <p:txBody>
          <a:bodyPr wrap="square" rtlCol="0" anchor="ctr"/>
          <a:lstStyle/>
          <a:p>
            <a:pPr marL="0" indent="0">
              <a:buNone/>
            </a:pPr>
            <a:r>
              <a:rPr lang="en-US" sz="1350" dirty="0">
                <a:solidFill>
                  <a:srgbClr val="52796F"/>
                </a:solidFill>
                <a:latin typeface="Courier New" pitchFamily="34" charset="0"/>
                <a:ea typeface="Courier New" pitchFamily="34" charset="-122"/>
                <a:cs typeface="Courier New" pitchFamily="34" charset="-120"/>
              </a:rPr>
              <a:t>&lt; 50 ms</a:t>
            </a:r>
            <a:endParaRPr lang="en-US" sz="1350" dirty="0"/>
          </a:p>
        </p:txBody>
      </p:sp>
      <p:sp>
        <p:nvSpPr>
          <p:cNvPr id="26" name="Text 24"/>
          <p:cNvSpPr/>
          <p:nvPr/>
        </p:nvSpPr>
        <p:spPr>
          <a:xfrm>
            <a:off x="8503920" y="4096512"/>
            <a:ext cx="2743200" cy="603504"/>
          </a:xfrm>
          <a:prstGeom prst="rect">
            <a:avLst/>
          </a:prstGeom>
          <a:noFill/>
          <a:ln/>
        </p:spPr>
        <p:txBody>
          <a:bodyPr wrap="square" rtlCol="0" anchor="ctr"/>
          <a:lstStyle/>
          <a:p>
            <a:pPr marL="0" indent="0">
              <a:buNone/>
            </a:pPr>
            <a:r>
              <a:rPr lang="en-US" sz="1350" dirty="0">
                <a:solidFill>
                  <a:srgbClr val="1B2B22"/>
                </a:solidFill>
                <a:latin typeface="Calibri" pitchFamily="34" charset="0"/>
                <a:ea typeface="Calibri" pitchFamily="34" charset="-122"/>
                <a:cs typeface="Calibri" pitchFamily="34" charset="-120"/>
              </a:rPr>
              <a:t>100% GeoJSON Valid</a:t>
            </a:r>
            <a:endParaRPr lang="en-US" sz="1350" dirty="0"/>
          </a:p>
        </p:txBody>
      </p:sp>
      <p:sp>
        <p:nvSpPr>
          <p:cNvPr id="27" name="Text 25"/>
          <p:cNvSpPr/>
          <p:nvPr/>
        </p:nvSpPr>
        <p:spPr>
          <a:xfrm>
            <a:off x="10469880" y="4096512"/>
            <a:ext cx="777240" cy="603504"/>
          </a:xfrm>
          <a:prstGeom prst="rect">
            <a:avLst/>
          </a:prstGeom>
          <a:noFill/>
          <a:ln/>
        </p:spPr>
        <p:txBody>
          <a:bodyPr wrap="square" rtlCol="0" anchor="ctr"/>
          <a:lstStyle/>
          <a:p>
            <a:pPr marL="0" indent="0" algn="ctr">
              <a:buNone/>
            </a:pPr>
            <a:r>
              <a:rPr lang="en-US" sz="1200" b="1" dirty="0">
                <a:solidFill>
                  <a:srgbClr val="52796F"/>
                </a:solidFill>
                <a:latin typeface="Calibri" pitchFamily="34" charset="0"/>
                <a:ea typeface="Calibri" pitchFamily="34" charset="-122"/>
                <a:cs typeface="Calibri" pitchFamily="34" charset="-120"/>
              </a:rPr>
              <a:t>PASS</a:t>
            </a:r>
            <a:endParaRPr lang="en-US" sz="1200" dirty="0"/>
          </a:p>
        </p:txBody>
      </p:sp>
      <p:sp>
        <p:nvSpPr>
          <p:cNvPr id="28" name="Shape 26"/>
          <p:cNvSpPr/>
          <p:nvPr/>
        </p:nvSpPr>
        <p:spPr>
          <a:xfrm>
            <a:off x="548640" y="4700016"/>
            <a:ext cx="10881360" cy="603504"/>
          </a:xfrm>
          <a:prstGeom prst="rect">
            <a:avLst/>
          </a:prstGeom>
          <a:solidFill>
            <a:srgbClr val="FFFFFF"/>
          </a:solidFill>
          <a:ln w="6350">
            <a:solidFill>
              <a:srgbClr val="CAD2C5"/>
            </a:solidFill>
            <a:prstDash val="solid"/>
          </a:ln>
        </p:spPr>
      </p:sp>
      <p:sp>
        <p:nvSpPr>
          <p:cNvPr id="29" name="Text 27"/>
          <p:cNvSpPr/>
          <p:nvPr/>
        </p:nvSpPr>
        <p:spPr>
          <a:xfrm>
            <a:off x="777240" y="4700016"/>
            <a:ext cx="5029200" cy="603504"/>
          </a:xfrm>
          <a:prstGeom prst="rect">
            <a:avLst/>
          </a:prstGeom>
          <a:noFill/>
          <a:ln/>
        </p:spPr>
        <p:txBody>
          <a:bodyPr wrap="square" rtlCol="0" anchor="ctr"/>
          <a:lstStyle/>
          <a:p>
            <a:pPr marL="0" indent="0">
              <a:buNone/>
            </a:pPr>
            <a:r>
              <a:rPr lang="en-US" sz="1400" b="1" dirty="0">
                <a:solidFill>
                  <a:srgbClr val="1B2B22"/>
                </a:solidFill>
                <a:latin typeface="Calibri" pitchFamily="34" charset="0"/>
                <a:ea typeface="Calibri" pitchFamily="34" charset="-122"/>
                <a:cs typeface="Calibri" pitchFamily="34" charset="-120"/>
              </a:rPr>
              <a:t>Executive PDF Export</a:t>
            </a:r>
            <a:endParaRPr lang="en-US" sz="1400" dirty="0"/>
          </a:p>
        </p:txBody>
      </p:sp>
      <p:sp>
        <p:nvSpPr>
          <p:cNvPr id="30" name="Text 28"/>
          <p:cNvSpPr/>
          <p:nvPr/>
        </p:nvSpPr>
        <p:spPr>
          <a:xfrm>
            <a:off x="6126480" y="4700016"/>
            <a:ext cx="2286000" cy="603504"/>
          </a:xfrm>
          <a:prstGeom prst="rect">
            <a:avLst/>
          </a:prstGeom>
          <a:noFill/>
          <a:ln/>
        </p:spPr>
        <p:txBody>
          <a:bodyPr wrap="square" rtlCol="0" anchor="ctr"/>
          <a:lstStyle/>
          <a:p>
            <a:pPr marL="0" indent="0">
              <a:buNone/>
            </a:pPr>
            <a:r>
              <a:rPr lang="en-US" sz="1350" dirty="0">
                <a:solidFill>
                  <a:srgbClr val="52796F"/>
                </a:solidFill>
                <a:latin typeface="Courier New" pitchFamily="34" charset="0"/>
                <a:ea typeface="Courier New" pitchFamily="34" charset="-122"/>
                <a:cs typeface="Courier New" pitchFamily="34" charset="-120"/>
              </a:rPr>
              <a:t>450 ms</a:t>
            </a:r>
            <a:endParaRPr lang="en-US" sz="1350" dirty="0"/>
          </a:p>
        </p:txBody>
      </p:sp>
      <p:sp>
        <p:nvSpPr>
          <p:cNvPr id="31" name="Text 29"/>
          <p:cNvSpPr/>
          <p:nvPr/>
        </p:nvSpPr>
        <p:spPr>
          <a:xfrm>
            <a:off x="8503920" y="4700016"/>
            <a:ext cx="2743200" cy="603504"/>
          </a:xfrm>
          <a:prstGeom prst="rect">
            <a:avLst/>
          </a:prstGeom>
          <a:noFill/>
          <a:ln/>
        </p:spPr>
        <p:txBody>
          <a:bodyPr wrap="square" rtlCol="0" anchor="ctr"/>
          <a:lstStyle/>
          <a:p>
            <a:pPr marL="0" indent="0">
              <a:buNone/>
            </a:pPr>
            <a:r>
              <a:rPr lang="en-US" sz="1350" dirty="0">
                <a:solidFill>
                  <a:srgbClr val="1B2B22"/>
                </a:solidFill>
                <a:latin typeface="Calibri" pitchFamily="34" charset="0"/>
                <a:ea typeface="Calibri" pitchFamily="34" charset="-122"/>
                <a:cs typeface="Calibri" pitchFamily="34" charset="-120"/>
              </a:rPr>
              <a:t>Full Layout Compliance</a:t>
            </a:r>
            <a:endParaRPr lang="en-US" sz="1350" dirty="0"/>
          </a:p>
        </p:txBody>
      </p:sp>
      <p:sp>
        <p:nvSpPr>
          <p:cNvPr id="32" name="Text 30"/>
          <p:cNvSpPr/>
          <p:nvPr/>
        </p:nvSpPr>
        <p:spPr>
          <a:xfrm>
            <a:off x="10469880" y="4700016"/>
            <a:ext cx="777240" cy="603504"/>
          </a:xfrm>
          <a:prstGeom prst="rect">
            <a:avLst/>
          </a:prstGeom>
          <a:noFill/>
          <a:ln/>
        </p:spPr>
        <p:txBody>
          <a:bodyPr wrap="square" rtlCol="0" anchor="ctr"/>
          <a:lstStyle/>
          <a:p>
            <a:pPr marL="0" indent="0" algn="ctr">
              <a:buNone/>
            </a:pPr>
            <a:r>
              <a:rPr lang="en-US" sz="1200" b="1" dirty="0">
                <a:solidFill>
                  <a:srgbClr val="52796F"/>
                </a:solidFill>
                <a:latin typeface="Calibri" pitchFamily="34" charset="0"/>
                <a:ea typeface="Calibri" pitchFamily="34" charset="-122"/>
                <a:cs typeface="Calibri" pitchFamily="34" charset="-120"/>
              </a:rPr>
              <a:t>PASS</a:t>
            </a:r>
            <a:endParaRPr lang="en-US" sz="1200" dirty="0"/>
          </a:p>
        </p:txBody>
      </p:sp>
      <p:sp>
        <p:nvSpPr>
          <p:cNvPr id="33" name="Text 31"/>
          <p:cNvSpPr/>
          <p:nvPr/>
        </p:nvSpPr>
        <p:spPr>
          <a:xfrm>
            <a:off x="548640" y="5486400"/>
            <a:ext cx="10881360" cy="365760"/>
          </a:xfrm>
          <a:prstGeom prst="rect">
            <a:avLst/>
          </a:prstGeom>
          <a:noFill/>
          <a:ln/>
        </p:spPr>
        <p:txBody>
          <a:bodyPr wrap="square" rtlCol="0" anchor="ctr"/>
          <a:lstStyle/>
          <a:p>
            <a:pPr marL="0" indent="0">
              <a:buNone/>
            </a:pPr>
            <a:r>
              <a:rPr lang="en-US" sz="1400" i="1" dirty="0">
                <a:solidFill>
                  <a:srgbClr val="556259"/>
                </a:solidFill>
                <a:latin typeface="Calibri" pitchFamily="34" charset="0"/>
                <a:ea typeface="Calibri" pitchFamily="34" charset="-122"/>
                <a:cs typeface="Calibri" pitchFamily="34" charset="-120"/>
              </a:rPr>
              <a:t>All services met or exceeded performance criteria across the full production pipeline.</a:t>
            </a:r>
            <a:endParaRPr lang="en-US" sz="1400" dirty="0"/>
          </a:p>
        </p:txBody>
      </p:sp>
      <p:sp>
        <p:nvSpPr>
          <p:cNvPr id="34" name="Text 32"/>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35" name="Text 33"/>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2"/>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400" b="1" kern="0" spc="200" dirty="0">
                <a:solidFill>
                  <a:srgbClr val="B5802E"/>
                </a:solidFill>
                <a:latin typeface="Calibri" pitchFamily="34" charset="0"/>
                <a:ea typeface="Calibri" pitchFamily="34" charset="-122"/>
                <a:cs typeface="Calibri" pitchFamily="34" charset="-120"/>
              </a:rPr>
              <a:t>QUALITY ASSURANCE</a:t>
            </a:r>
            <a:endParaRPr lang="en-US" sz="1400" dirty="0"/>
          </a:p>
        </p:txBody>
      </p:sp>
      <p:sp>
        <p:nvSpPr>
          <p:cNvPr id="3" name="Text 1"/>
          <p:cNvSpPr/>
          <p:nvPr/>
        </p:nvSpPr>
        <p:spPr>
          <a:xfrm>
            <a:off x="548640" y="658368"/>
            <a:ext cx="10607040" cy="640080"/>
          </a:xfrm>
          <a:prstGeom prst="rect">
            <a:avLst/>
          </a:prstGeom>
          <a:noFill/>
          <a:ln/>
        </p:spPr>
        <p:txBody>
          <a:bodyPr wrap="square" rtlCol="0" anchor="ctr"/>
          <a:lstStyle/>
          <a:p>
            <a:pPr marL="0" indent="0">
              <a:buNone/>
            </a:pPr>
            <a:r>
              <a:rPr lang="en-US" sz="3000" b="1" dirty="0">
                <a:solidFill>
                  <a:srgbClr val="1B2B22"/>
                </a:solidFill>
                <a:latin typeface="Cambria" pitchFamily="34" charset="0"/>
                <a:ea typeface="Cambria" pitchFamily="34" charset="-122"/>
                <a:cs typeface="Cambria" pitchFamily="34" charset="-120"/>
              </a:rPr>
              <a:t>Requirements &amp; Verification Summary</a:t>
            </a:r>
            <a:endParaRPr lang="en-US" sz="3000" dirty="0"/>
          </a:p>
        </p:txBody>
      </p:sp>
      <p:sp>
        <p:nvSpPr>
          <p:cNvPr id="4" name="Shape 2"/>
          <p:cNvSpPr/>
          <p:nvPr/>
        </p:nvSpPr>
        <p:spPr>
          <a:xfrm>
            <a:off x="548640" y="1737360"/>
            <a:ext cx="2560320" cy="1554480"/>
          </a:xfrm>
          <a:prstGeom prst="roundRect">
            <a:avLst>
              <a:gd name="adj" fmla="val 4706"/>
            </a:avLst>
          </a:prstGeom>
          <a:solidFill>
            <a:srgbClr val="1B4332"/>
          </a:solidFill>
          <a:ln w="12700">
            <a:solidFill>
              <a:srgbClr val="1B4332"/>
            </a:solidFill>
            <a:prstDash val="solid"/>
          </a:ln>
          <a:effectLst>
            <a:outerShdw blurRad="76200" dist="25400" dir="5400000" algn="bl" rotWithShape="0">
              <a:srgbClr val="1B4332">
                <a:alpha val="12000"/>
              </a:srgbClr>
            </a:outerShdw>
          </a:effectLst>
        </p:spPr>
      </p:sp>
      <p:sp>
        <p:nvSpPr>
          <p:cNvPr id="5" name="Text 3"/>
          <p:cNvSpPr/>
          <p:nvPr/>
        </p:nvSpPr>
        <p:spPr>
          <a:xfrm>
            <a:off x="685800" y="1874520"/>
            <a:ext cx="2286000" cy="685800"/>
          </a:xfrm>
          <a:prstGeom prst="rect">
            <a:avLst/>
          </a:prstGeom>
          <a:noFill/>
          <a:ln/>
        </p:spPr>
        <p:txBody>
          <a:bodyPr wrap="square" rtlCol="0" anchor="ctr"/>
          <a:lstStyle/>
          <a:p>
            <a:pPr marL="0" indent="0">
              <a:buNone/>
            </a:pPr>
            <a:r>
              <a:rPr lang="en-US" sz="4000" b="1" dirty="0">
                <a:solidFill>
                  <a:srgbClr val="D9A441"/>
                </a:solidFill>
                <a:latin typeface="Cambria" pitchFamily="34" charset="0"/>
                <a:ea typeface="Cambria" pitchFamily="34" charset="-122"/>
                <a:cs typeface="Cambria" pitchFamily="34" charset="-120"/>
              </a:rPr>
              <a:t>20</a:t>
            </a:r>
            <a:endParaRPr lang="en-US" sz="4000" dirty="0"/>
          </a:p>
        </p:txBody>
      </p:sp>
      <p:sp>
        <p:nvSpPr>
          <p:cNvPr id="6" name="Text 4"/>
          <p:cNvSpPr/>
          <p:nvPr/>
        </p:nvSpPr>
        <p:spPr>
          <a:xfrm>
            <a:off x="685800" y="2606040"/>
            <a:ext cx="22860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Functional Requirements</a:t>
            </a:r>
            <a:endParaRPr lang="en-US" sz="1300" dirty="0"/>
          </a:p>
        </p:txBody>
      </p:sp>
      <p:sp>
        <p:nvSpPr>
          <p:cNvPr id="7" name="Text 5"/>
          <p:cNvSpPr/>
          <p:nvPr/>
        </p:nvSpPr>
        <p:spPr>
          <a:xfrm>
            <a:off x="685800" y="2907792"/>
            <a:ext cx="2286000" cy="320040"/>
          </a:xfrm>
          <a:prstGeom prst="rect">
            <a:avLst/>
          </a:prstGeom>
          <a:noFill/>
          <a:ln/>
        </p:spPr>
        <p:txBody>
          <a:bodyPr wrap="square" rtlCol="0" anchor="ctr"/>
          <a:lstStyle/>
          <a:p>
            <a:pPr marL="0" indent="0">
              <a:buNone/>
            </a:pPr>
            <a:r>
              <a:rPr lang="en-US" sz="1100" dirty="0">
                <a:solidFill>
                  <a:srgbClr val="CAD2C5"/>
                </a:solidFill>
                <a:latin typeface="Calibri" pitchFamily="34" charset="0"/>
                <a:ea typeface="Calibri" pitchFamily="34" charset="-122"/>
                <a:cs typeface="Calibri" pitchFamily="34" charset="-120"/>
              </a:rPr>
              <a:t>All completed &amp; verified</a:t>
            </a:r>
            <a:endParaRPr lang="en-US" sz="1100" dirty="0"/>
          </a:p>
        </p:txBody>
      </p:sp>
      <p:sp>
        <p:nvSpPr>
          <p:cNvPr id="8" name="Shape 6"/>
          <p:cNvSpPr/>
          <p:nvPr/>
        </p:nvSpPr>
        <p:spPr>
          <a:xfrm>
            <a:off x="3291840" y="1737360"/>
            <a:ext cx="2560320" cy="1554480"/>
          </a:xfrm>
          <a:prstGeom prst="roundRect">
            <a:avLst>
              <a:gd name="adj" fmla="val 4706"/>
            </a:avLst>
          </a:prstGeom>
          <a:solidFill>
            <a:srgbClr val="1B4332"/>
          </a:solidFill>
          <a:ln w="12700">
            <a:solidFill>
              <a:srgbClr val="1B4332"/>
            </a:solidFill>
            <a:prstDash val="solid"/>
          </a:ln>
          <a:effectLst>
            <a:outerShdw blurRad="76200" dist="25400" dir="5400000" algn="bl" rotWithShape="0">
              <a:srgbClr val="1B4332">
                <a:alpha val="12000"/>
              </a:srgbClr>
            </a:outerShdw>
          </a:effectLst>
        </p:spPr>
      </p:sp>
      <p:sp>
        <p:nvSpPr>
          <p:cNvPr id="9" name="Text 7"/>
          <p:cNvSpPr/>
          <p:nvPr/>
        </p:nvSpPr>
        <p:spPr>
          <a:xfrm>
            <a:off x="3429000" y="1874520"/>
            <a:ext cx="2286000" cy="685800"/>
          </a:xfrm>
          <a:prstGeom prst="rect">
            <a:avLst/>
          </a:prstGeom>
          <a:noFill/>
          <a:ln/>
        </p:spPr>
        <p:txBody>
          <a:bodyPr wrap="square" rtlCol="0" anchor="ctr"/>
          <a:lstStyle/>
          <a:p>
            <a:pPr marL="0" indent="0">
              <a:buNone/>
            </a:pPr>
            <a:r>
              <a:rPr lang="en-US" sz="4000" b="1" dirty="0">
                <a:solidFill>
                  <a:srgbClr val="D9A441"/>
                </a:solidFill>
                <a:latin typeface="Cambria" pitchFamily="34" charset="0"/>
                <a:ea typeface="Cambria" pitchFamily="34" charset="-122"/>
                <a:cs typeface="Cambria" pitchFamily="34" charset="-120"/>
              </a:rPr>
              <a:t>20</a:t>
            </a:r>
            <a:endParaRPr lang="en-US" sz="4000" dirty="0"/>
          </a:p>
        </p:txBody>
      </p:sp>
      <p:sp>
        <p:nvSpPr>
          <p:cNvPr id="10" name="Text 8"/>
          <p:cNvSpPr/>
          <p:nvPr/>
        </p:nvSpPr>
        <p:spPr>
          <a:xfrm>
            <a:off x="3429000" y="2606040"/>
            <a:ext cx="22860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Non-Functional Requirements</a:t>
            </a:r>
            <a:endParaRPr lang="en-US" sz="1300" dirty="0"/>
          </a:p>
        </p:txBody>
      </p:sp>
      <p:sp>
        <p:nvSpPr>
          <p:cNvPr id="11" name="Text 9"/>
          <p:cNvSpPr/>
          <p:nvPr/>
        </p:nvSpPr>
        <p:spPr>
          <a:xfrm>
            <a:off x="3429000" y="2907792"/>
            <a:ext cx="2286000" cy="320040"/>
          </a:xfrm>
          <a:prstGeom prst="rect">
            <a:avLst/>
          </a:prstGeom>
          <a:noFill/>
          <a:ln/>
        </p:spPr>
        <p:txBody>
          <a:bodyPr wrap="square" rtlCol="0" anchor="ctr"/>
          <a:lstStyle/>
          <a:p>
            <a:pPr marL="0" indent="0">
              <a:buNone/>
            </a:pPr>
            <a:r>
              <a:rPr lang="en-US" sz="1100" dirty="0">
                <a:solidFill>
                  <a:srgbClr val="CAD2C5"/>
                </a:solidFill>
                <a:latin typeface="Calibri" pitchFamily="34" charset="0"/>
                <a:ea typeface="Calibri" pitchFamily="34" charset="-122"/>
                <a:cs typeface="Calibri" pitchFamily="34" charset="-120"/>
              </a:rPr>
              <a:t>Verified / Pass across all milestones</a:t>
            </a:r>
            <a:endParaRPr lang="en-US" sz="1100" dirty="0"/>
          </a:p>
        </p:txBody>
      </p:sp>
      <p:sp>
        <p:nvSpPr>
          <p:cNvPr id="12" name="Shape 10"/>
          <p:cNvSpPr/>
          <p:nvPr/>
        </p:nvSpPr>
        <p:spPr>
          <a:xfrm>
            <a:off x="6035040" y="1737360"/>
            <a:ext cx="2560320" cy="1554480"/>
          </a:xfrm>
          <a:prstGeom prst="roundRect">
            <a:avLst>
              <a:gd name="adj" fmla="val 4706"/>
            </a:avLst>
          </a:prstGeom>
          <a:solidFill>
            <a:srgbClr val="1B4332"/>
          </a:solidFill>
          <a:ln w="12700">
            <a:solidFill>
              <a:srgbClr val="1B4332"/>
            </a:solidFill>
            <a:prstDash val="solid"/>
          </a:ln>
          <a:effectLst>
            <a:outerShdw blurRad="76200" dist="25400" dir="5400000" algn="bl" rotWithShape="0">
              <a:srgbClr val="1B4332">
                <a:alpha val="12000"/>
              </a:srgbClr>
            </a:outerShdw>
          </a:effectLst>
        </p:spPr>
      </p:sp>
      <p:sp>
        <p:nvSpPr>
          <p:cNvPr id="13" name="Text 11"/>
          <p:cNvSpPr/>
          <p:nvPr/>
        </p:nvSpPr>
        <p:spPr>
          <a:xfrm>
            <a:off x="6172200" y="1874520"/>
            <a:ext cx="2286000" cy="685800"/>
          </a:xfrm>
          <a:prstGeom prst="rect">
            <a:avLst/>
          </a:prstGeom>
          <a:noFill/>
          <a:ln/>
        </p:spPr>
        <p:txBody>
          <a:bodyPr wrap="square" rtlCol="0" anchor="ctr"/>
          <a:lstStyle/>
          <a:p>
            <a:pPr marL="0" indent="0">
              <a:buNone/>
            </a:pPr>
            <a:r>
              <a:rPr lang="en-US" sz="4000" b="1" dirty="0">
                <a:solidFill>
                  <a:srgbClr val="D9A441"/>
                </a:solidFill>
                <a:latin typeface="Cambria" pitchFamily="34" charset="0"/>
                <a:ea typeface="Cambria" pitchFamily="34" charset="-122"/>
                <a:cs typeface="Cambria" pitchFamily="34" charset="-120"/>
              </a:rPr>
              <a:t>14</a:t>
            </a:r>
            <a:endParaRPr lang="en-US" sz="4000" dirty="0"/>
          </a:p>
        </p:txBody>
      </p:sp>
      <p:sp>
        <p:nvSpPr>
          <p:cNvPr id="14" name="Text 12"/>
          <p:cNvSpPr/>
          <p:nvPr/>
        </p:nvSpPr>
        <p:spPr>
          <a:xfrm>
            <a:off x="6172200" y="2606040"/>
            <a:ext cx="22860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Modules Delivered</a:t>
            </a:r>
            <a:endParaRPr lang="en-US" sz="1300" dirty="0"/>
          </a:p>
        </p:txBody>
      </p:sp>
      <p:sp>
        <p:nvSpPr>
          <p:cNvPr id="15" name="Text 13"/>
          <p:cNvSpPr/>
          <p:nvPr/>
        </p:nvSpPr>
        <p:spPr>
          <a:xfrm>
            <a:off x="6172200" y="2907792"/>
            <a:ext cx="2286000" cy="320040"/>
          </a:xfrm>
          <a:prstGeom prst="rect">
            <a:avLst/>
          </a:prstGeom>
          <a:noFill/>
          <a:ln/>
        </p:spPr>
        <p:txBody>
          <a:bodyPr wrap="square" rtlCol="0" anchor="ctr"/>
          <a:lstStyle/>
          <a:p>
            <a:pPr marL="0" indent="0">
              <a:buNone/>
            </a:pPr>
            <a:r>
              <a:rPr lang="en-US" sz="1100" dirty="0">
                <a:solidFill>
                  <a:srgbClr val="CAD2C5"/>
                </a:solidFill>
                <a:latin typeface="Calibri" pitchFamily="34" charset="0"/>
                <a:ea typeface="Calibri" pitchFamily="34" charset="-122"/>
                <a:cs typeface="Calibri" pitchFamily="34" charset="-120"/>
              </a:rPr>
              <a:t>End-to-end, fully integrated</a:t>
            </a:r>
            <a:endParaRPr lang="en-US" sz="1100" dirty="0"/>
          </a:p>
        </p:txBody>
      </p:sp>
      <p:sp>
        <p:nvSpPr>
          <p:cNvPr id="16" name="Shape 14"/>
          <p:cNvSpPr/>
          <p:nvPr/>
        </p:nvSpPr>
        <p:spPr>
          <a:xfrm>
            <a:off x="8778240" y="1737360"/>
            <a:ext cx="2560320" cy="1554480"/>
          </a:xfrm>
          <a:prstGeom prst="roundRect">
            <a:avLst>
              <a:gd name="adj" fmla="val 4706"/>
            </a:avLst>
          </a:prstGeom>
          <a:solidFill>
            <a:srgbClr val="1B4332"/>
          </a:solidFill>
          <a:ln w="12700">
            <a:solidFill>
              <a:srgbClr val="1B4332"/>
            </a:solidFill>
            <a:prstDash val="solid"/>
          </a:ln>
          <a:effectLst>
            <a:outerShdw blurRad="76200" dist="25400" dir="5400000" algn="bl" rotWithShape="0">
              <a:srgbClr val="1B4332">
                <a:alpha val="12000"/>
              </a:srgbClr>
            </a:outerShdw>
          </a:effectLst>
        </p:spPr>
      </p:sp>
      <p:sp>
        <p:nvSpPr>
          <p:cNvPr id="17" name="Text 15"/>
          <p:cNvSpPr/>
          <p:nvPr/>
        </p:nvSpPr>
        <p:spPr>
          <a:xfrm>
            <a:off x="8915400" y="1874520"/>
            <a:ext cx="2286000" cy="685800"/>
          </a:xfrm>
          <a:prstGeom prst="rect">
            <a:avLst/>
          </a:prstGeom>
          <a:noFill/>
          <a:ln/>
        </p:spPr>
        <p:txBody>
          <a:bodyPr wrap="square" rtlCol="0" anchor="ctr"/>
          <a:lstStyle/>
          <a:p>
            <a:pPr marL="0" indent="0">
              <a:buNone/>
            </a:pPr>
            <a:r>
              <a:rPr lang="en-US" sz="4000" b="1" dirty="0">
                <a:solidFill>
                  <a:srgbClr val="D9A441"/>
                </a:solidFill>
                <a:latin typeface="Cambria" pitchFamily="34" charset="0"/>
                <a:ea typeface="Cambria" pitchFamily="34" charset="-122"/>
                <a:cs typeface="Cambria" pitchFamily="34" charset="-120"/>
              </a:rPr>
              <a:t>4/4</a:t>
            </a:r>
            <a:endParaRPr lang="en-US" sz="4000" dirty="0"/>
          </a:p>
        </p:txBody>
      </p:sp>
      <p:sp>
        <p:nvSpPr>
          <p:cNvPr id="18" name="Text 16"/>
          <p:cNvSpPr/>
          <p:nvPr/>
        </p:nvSpPr>
        <p:spPr>
          <a:xfrm>
            <a:off x="8915400" y="2606040"/>
            <a:ext cx="22860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Milestones Complete</a:t>
            </a:r>
            <a:endParaRPr lang="en-US" sz="1300" dirty="0"/>
          </a:p>
        </p:txBody>
      </p:sp>
      <p:sp>
        <p:nvSpPr>
          <p:cNvPr id="19" name="Text 17"/>
          <p:cNvSpPr/>
          <p:nvPr/>
        </p:nvSpPr>
        <p:spPr>
          <a:xfrm>
            <a:off x="8915400" y="2907792"/>
            <a:ext cx="2286000" cy="320040"/>
          </a:xfrm>
          <a:prstGeom prst="rect">
            <a:avLst/>
          </a:prstGeom>
          <a:noFill/>
          <a:ln/>
        </p:spPr>
        <p:txBody>
          <a:bodyPr wrap="square" rtlCol="0" anchor="ctr"/>
          <a:lstStyle/>
          <a:p>
            <a:pPr marL="0" indent="0">
              <a:buNone/>
            </a:pPr>
            <a:r>
              <a:rPr lang="en-US" sz="1100" dirty="0">
                <a:solidFill>
                  <a:srgbClr val="CAD2C5"/>
                </a:solidFill>
                <a:latin typeface="Calibri" pitchFamily="34" charset="0"/>
                <a:ea typeface="Calibri" pitchFamily="34" charset="-122"/>
                <a:cs typeface="Calibri" pitchFamily="34" charset="-120"/>
              </a:rPr>
              <a:t>Weeks 1–8, on schedule</a:t>
            </a:r>
            <a:endParaRPr lang="en-US" sz="1100" dirty="0"/>
          </a:p>
        </p:txBody>
      </p:sp>
      <p:sp>
        <p:nvSpPr>
          <p:cNvPr id="20" name="Shape 18"/>
          <p:cNvSpPr/>
          <p:nvPr/>
        </p:nvSpPr>
        <p:spPr>
          <a:xfrm>
            <a:off x="548640" y="3657600"/>
            <a:ext cx="347472" cy="347472"/>
          </a:xfrm>
          <a:prstGeom prst="ellipse">
            <a:avLst/>
          </a:prstGeom>
          <a:solidFill>
            <a:srgbClr val="52796F"/>
          </a:solidFill>
          <a:ln/>
        </p:spPr>
      </p:sp>
      <p:sp>
        <p:nvSpPr>
          <p:cNvPr id="21" name="Text 19"/>
          <p:cNvSpPr/>
          <p:nvPr/>
        </p:nvSpPr>
        <p:spPr>
          <a:xfrm>
            <a:off x="548640" y="3657600"/>
            <a:ext cx="347472" cy="347472"/>
          </a:xfrm>
          <a:prstGeom prst="rect">
            <a:avLst/>
          </a:prstGeom>
          <a:noFill/>
          <a:ln/>
        </p:spPr>
        <p:txBody>
          <a:bodyPr wrap="square" rtlCol="0" anchor="ctr"/>
          <a:lstStyle/>
          <a:p>
            <a:pPr marL="0" indent="0" algn="ctr">
              <a:buNone/>
            </a:pPr>
            <a:r>
              <a:rPr lang="en-US" sz="1550" b="1" dirty="0">
                <a:solidFill>
                  <a:srgbClr val="FFFFFF"/>
                </a:solidFill>
                <a:latin typeface="Cambria" pitchFamily="34" charset="0"/>
                <a:ea typeface="Cambria" pitchFamily="34" charset="-122"/>
                <a:cs typeface="Cambria" pitchFamily="34" charset="-120"/>
              </a:rPr>
              <a:t>✓</a:t>
            </a:r>
            <a:endParaRPr lang="en-US" sz="1550" dirty="0"/>
          </a:p>
        </p:txBody>
      </p:sp>
      <p:sp>
        <p:nvSpPr>
          <p:cNvPr id="22" name="Text 20"/>
          <p:cNvSpPr/>
          <p:nvPr/>
        </p:nvSpPr>
        <p:spPr>
          <a:xfrm>
            <a:off x="1051560" y="3602736"/>
            <a:ext cx="10241280" cy="502920"/>
          </a:xfrm>
          <a:prstGeom prst="rect">
            <a:avLst/>
          </a:prstGeom>
          <a:noFill/>
          <a:ln/>
        </p:spPr>
        <p:txBody>
          <a:bodyPr wrap="square" rtlCol="0" anchor="ctr"/>
          <a:lstStyle/>
          <a:p>
            <a:pPr marL="0" indent="0">
              <a:buNone/>
            </a:pPr>
            <a:r>
              <a:rPr lang="en-US" sz="1500" dirty="0">
                <a:solidFill>
                  <a:srgbClr val="1B2B22"/>
                </a:solidFill>
                <a:latin typeface="Calibri" pitchFamily="34" charset="0"/>
                <a:ea typeface="Calibri" pitchFamily="34" charset="-122"/>
                <a:cs typeface="Calibri" pitchFamily="34" charset="-120"/>
              </a:rPr>
              <a:t>Backend API: all FastAPI routers verified across authentication, vision, audio, population, habitat, conservation, GIS &amp; analytics.</a:t>
            </a:r>
            <a:endParaRPr lang="en-US" sz="1500" dirty="0"/>
          </a:p>
        </p:txBody>
      </p:sp>
      <p:sp>
        <p:nvSpPr>
          <p:cNvPr id="23" name="Shape 21"/>
          <p:cNvSpPr/>
          <p:nvPr/>
        </p:nvSpPr>
        <p:spPr>
          <a:xfrm>
            <a:off x="548640" y="4279392"/>
            <a:ext cx="347472" cy="347472"/>
          </a:xfrm>
          <a:prstGeom prst="ellipse">
            <a:avLst/>
          </a:prstGeom>
          <a:solidFill>
            <a:srgbClr val="52796F"/>
          </a:solidFill>
          <a:ln/>
        </p:spPr>
      </p:sp>
      <p:sp>
        <p:nvSpPr>
          <p:cNvPr id="24" name="Text 22"/>
          <p:cNvSpPr/>
          <p:nvPr/>
        </p:nvSpPr>
        <p:spPr>
          <a:xfrm>
            <a:off x="548640" y="4279392"/>
            <a:ext cx="347472" cy="347472"/>
          </a:xfrm>
          <a:prstGeom prst="rect">
            <a:avLst/>
          </a:prstGeom>
          <a:noFill/>
          <a:ln/>
        </p:spPr>
        <p:txBody>
          <a:bodyPr wrap="square" rtlCol="0" anchor="ctr"/>
          <a:lstStyle/>
          <a:p>
            <a:pPr marL="0" indent="0" algn="ctr">
              <a:buNone/>
            </a:pPr>
            <a:r>
              <a:rPr lang="en-US" sz="1550" b="1" dirty="0">
                <a:solidFill>
                  <a:srgbClr val="FFFFFF"/>
                </a:solidFill>
                <a:latin typeface="Cambria" pitchFamily="34" charset="0"/>
                <a:ea typeface="Cambria" pitchFamily="34" charset="-122"/>
                <a:cs typeface="Cambria" pitchFamily="34" charset="-120"/>
              </a:rPr>
              <a:t>✓</a:t>
            </a:r>
            <a:endParaRPr lang="en-US" sz="1550" dirty="0"/>
          </a:p>
        </p:txBody>
      </p:sp>
      <p:sp>
        <p:nvSpPr>
          <p:cNvPr id="25" name="Text 23"/>
          <p:cNvSpPr/>
          <p:nvPr/>
        </p:nvSpPr>
        <p:spPr>
          <a:xfrm>
            <a:off x="1051560" y="4224528"/>
            <a:ext cx="10241280" cy="502920"/>
          </a:xfrm>
          <a:prstGeom prst="rect">
            <a:avLst/>
          </a:prstGeom>
          <a:noFill/>
          <a:ln/>
        </p:spPr>
        <p:txBody>
          <a:bodyPr wrap="square" rtlCol="0" anchor="ctr"/>
          <a:lstStyle/>
          <a:p>
            <a:pPr marL="0" indent="0">
              <a:buNone/>
            </a:pPr>
            <a:r>
              <a:rPr lang="en-US" sz="1500" dirty="0">
                <a:solidFill>
                  <a:srgbClr val="1B2B22"/>
                </a:solidFill>
                <a:latin typeface="Calibri" pitchFamily="34" charset="0"/>
                <a:ea typeface="Calibri" pitchFamily="34" charset="-122"/>
                <a:cs typeface="Calibri" pitchFamily="34" charset="-120"/>
              </a:rPr>
              <a:t>Frontend: Vite 8 production build compiles cleanly with zero errors on every milestone.</a:t>
            </a:r>
            <a:endParaRPr lang="en-US" sz="1500" dirty="0"/>
          </a:p>
        </p:txBody>
      </p:sp>
      <p:sp>
        <p:nvSpPr>
          <p:cNvPr id="26" name="Shape 24"/>
          <p:cNvSpPr/>
          <p:nvPr/>
        </p:nvSpPr>
        <p:spPr>
          <a:xfrm>
            <a:off x="548640" y="4901184"/>
            <a:ext cx="347472" cy="347472"/>
          </a:xfrm>
          <a:prstGeom prst="ellipse">
            <a:avLst/>
          </a:prstGeom>
          <a:solidFill>
            <a:srgbClr val="52796F"/>
          </a:solidFill>
          <a:ln/>
        </p:spPr>
      </p:sp>
      <p:sp>
        <p:nvSpPr>
          <p:cNvPr id="27" name="Text 25"/>
          <p:cNvSpPr/>
          <p:nvPr/>
        </p:nvSpPr>
        <p:spPr>
          <a:xfrm>
            <a:off x="548640" y="4901184"/>
            <a:ext cx="347472" cy="347472"/>
          </a:xfrm>
          <a:prstGeom prst="rect">
            <a:avLst/>
          </a:prstGeom>
          <a:noFill/>
          <a:ln/>
        </p:spPr>
        <p:txBody>
          <a:bodyPr wrap="square" rtlCol="0" anchor="ctr"/>
          <a:lstStyle/>
          <a:p>
            <a:pPr marL="0" indent="0" algn="ctr">
              <a:buNone/>
            </a:pPr>
            <a:r>
              <a:rPr lang="en-US" sz="1550" b="1" dirty="0">
                <a:solidFill>
                  <a:srgbClr val="FFFFFF"/>
                </a:solidFill>
                <a:latin typeface="Cambria" pitchFamily="34" charset="0"/>
                <a:ea typeface="Cambria" pitchFamily="34" charset="-122"/>
                <a:cs typeface="Cambria" pitchFamily="34" charset="-120"/>
              </a:rPr>
              <a:t>✓</a:t>
            </a:r>
            <a:endParaRPr lang="en-US" sz="1550" dirty="0"/>
          </a:p>
        </p:txBody>
      </p:sp>
      <p:sp>
        <p:nvSpPr>
          <p:cNvPr id="28" name="Text 26"/>
          <p:cNvSpPr/>
          <p:nvPr/>
        </p:nvSpPr>
        <p:spPr>
          <a:xfrm>
            <a:off x="1051560" y="4846320"/>
            <a:ext cx="10241280" cy="502920"/>
          </a:xfrm>
          <a:prstGeom prst="rect">
            <a:avLst/>
          </a:prstGeom>
          <a:noFill/>
          <a:ln/>
        </p:spPr>
        <p:txBody>
          <a:bodyPr wrap="square" rtlCol="0" anchor="ctr"/>
          <a:lstStyle/>
          <a:p>
            <a:pPr marL="0" indent="0">
              <a:buNone/>
            </a:pPr>
            <a:r>
              <a:rPr lang="en-US" sz="1500" dirty="0">
                <a:solidFill>
                  <a:srgbClr val="1B2B22"/>
                </a:solidFill>
                <a:latin typeface="Calibri" pitchFamily="34" charset="0"/>
                <a:ea typeface="Calibri" pitchFamily="34" charset="-122"/>
                <a:cs typeface="Calibri" pitchFamily="34" charset="-120"/>
              </a:rPr>
              <a:t>Database: all relational + spatial schemas validated through Pydantic / SQLAlchemy across PostgreSQL/PostGIS and MongoDB.</a:t>
            </a:r>
            <a:endParaRPr lang="en-US" sz="1500" dirty="0"/>
          </a:p>
        </p:txBody>
      </p:sp>
      <p:sp>
        <p:nvSpPr>
          <p:cNvPr id="29" name="Shape 27"/>
          <p:cNvSpPr/>
          <p:nvPr/>
        </p:nvSpPr>
        <p:spPr>
          <a:xfrm>
            <a:off x="548640" y="5522976"/>
            <a:ext cx="347472" cy="347472"/>
          </a:xfrm>
          <a:prstGeom prst="ellipse">
            <a:avLst/>
          </a:prstGeom>
          <a:solidFill>
            <a:srgbClr val="52796F"/>
          </a:solidFill>
          <a:ln/>
        </p:spPr>
      </p:sp>
      <p:sp>
        <p:nvSpPr>
          <p:cNvPr id="30" name="Text 28"/>
          <p:cNvSpPr/>
          <p:nvPr/>
        </p:nvSpPr>
        <p:spPr>
          <a:xfrm>
            <a:off x="548640" y="5522976"/>
            <a:ext cx="347472" cy="347472"/>
          </a:xfrm>
          <a:prstGeom prst="rect">
            <a:avLst/>
          </a:prstGeom>
          <a:noFill/>
          <a:ln/>
        </p:spPr>
        <p:txBody>
          <a:bodyPr wrap="square" rtlCol="0" anchor="ctr"/>
          <a:lstStyle/>
          <a:p>
            <a:pPr marL="0" indent="0" algn="ctr">
              <a:buNone/>
            </a:pPr>
            <a:r>
              <a:rPr lang="en-US" sz="1550" b="1" dirty="0">
                <a:solidFill>
                  <a:srgbClr val="FFFFFF"/>
                </a:solidFill>
                <a:latin typeface="Cambria" pitchFamily="34" charset="0"/>
                <a:ea typeface="Cambria" pitchFamily="34" charset="-122"/>
                <a:cs typeface="Cambria" pitchFamily="34" charset="-120"/>
              </a:rPr>
              <a:t>✓</a:t>
            </a:r>
            <a:endParaRPr lang="en-US" sz="1550" dirty="0"/>
          </a:p>
        </p:txBody>
      </p:sp>
      <p:sp>
        <p:nvSpPr>
          <p:cNvPr id="31" name="Text 29"/>
          <p:cNvSpPr/>
          <p:nvPr/>
        </p:nvSpPr>
        <p:spPr>
          <a:xfrm>
            <a:off x="1051560" y="5468112"/>
            <a:ext cx="10241280" cy="502920"/>
          </a:xfrm>
          <a:prstGeom prst="rect">
            <a:avLst/>
          </a:prstGeom>
          <a:noFill/>
          <a:ln/>
        </p:spPr>
        <p:txBody>
          <a:bodyPr wrap="square" rtlCol="0" anchor="ctr"/>
          <a:lstStyle/>
          <a:p>
            <a:pPr marL="0" indent="0">
              <a:buNone/>
            </a:pPr>
            <a:r>
              <a:rPr lang="en-US" sz="1500" dirty="0">
                <a:solidFill>
                  <a:srgbClr val="1B2B22"/>
                </a:solidFill>
                <a:latin typeface="Calibri" pitchFamily="34" charset="0"/>
                <a:ea typeface="Calibri" pitchFamily="34" charset="-122"/>
                <a:cs typeface="Calibri" pitchFamily="34" charset="-120"/>
              </a:rPr>
              <a:t>Pipeline: full ingestion-to-report workflow validated end-to-end with no data loss.</a:t>
            </a:r>
            <a:endParaRPr lang="en-US" sz="1500" dirty="0"/>
          </a:p>
        </p:txBody>
      </p:sp>
      <p:sp>
        <p:nvSpPr>
          <p:cNvPr id="32" name="Text 30"/>
          <p:cNvSpPr/>
          <p:nvPr/>
        </p:nvSpPr>
        <p:spPr>
          <a:xfrm>
            <a:off x="457200" y="6528816"/>
            <a:ext cx="7315200" cy="274320"/>
          </a:xfrm>
          <a:prstGeom prst="rect">
            <a:avLst/>
          </a:prstGeom>
          <a:noFill/>
          <a:ln/>
        </p:spPr>
        <p:txBody>
          <a:bodyPr wrap="square" rtlCol="0" anchor="ctr"/>
          <a:lstStyle/>
          <a:p>
            <a:pPr marL="0" indent="0" algn="l">
              <a:buNone/>
            </a:pPr>
            <a:r>
              <a:rPr lang="en-US" sz="1050" dirty="0">
                <a:solidFill>
                  <a:srgbClr val="9AA79E"/>
                </a:solidFill>
                <a:latin typeface="Calibri" pitchFamily="34" charset="0"/>
                <a:ea typeface="Calibri" pitchFamily="34" charset="-122"/>
                <a:cs typeface="Calibri" pitchFamily="34" charset="-120"/>
              </a:rPr>
              <a:t>AI Wildlife Population Intelligence System</a:t>
            </a:r>
            <a:endParaRPr lang="en-US" sz="1050" dirty="0"/>
          </a:p>
        </p:txBody>
      </p:sp>
      <p:sp>
        <p:nvSpPr>
          <p:cNvPr id="33" name="Text 31"/>
          <p:cNvSpPr/>
          <p:nvPr/>
        </p:nvSpPr>
        <p:spPr>
          <a:xfrm>
            <a:off x="11274552" y="6528816"/>
            <a:ext cx="457200" cy="274320"/>
          </a:xfrm>
          <a:prstGeom prst="rect">
            <a:avLst/>
          </a:prstGeom>
          <a:noFill/>
          <a:ln/>
        </p:spPr>
        <p:txBody>
          <a:bodyPr wrap="square" rtlCol="0" anchor="ctr"/>
          <a:lstStyle/>
          <a:p>
            <a:pPr marL="0" indent="0" algn="r">
              <a:buNone/>
            </a:pPr>
            <a:r>
              <a:rPr lang="en-US" sz="1050" dirty="0">
                <a:solidFill>
                  <a:srgbClr val="9AA7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4332"/>
        </a:solidFill>
        <a:effectLst/>
      </p:bgPr>
    </p:bg>
    <p:spTree>
      <p:nvGrpSpPr>
        <p:cNvPr id="1" name=""/>
        <p:cNvGrpSpPr/>
        <p:nvPr/>
      </p:nvGrpSpPr>
      <p:grpSpPr>
        <a:xfrm>
          <a:off x="0" y="0"/>
          <a:ext cx="0" cy="0"/>
          <a:chOff x="0" y="0"/>
          <a:chExt cx="0" cy="0"/>
        </a:xfrm>
      </p:grpSpPr>
      <p:sp>
        <p:nvSpPr>
          <p:cNvPr id="6" name="Text 4"/>
          <p:cNvSpPr/>
          <p:nvPr/>
        </p:nvSpPr>
        <p:spPr>
          <a:xfrm>
            <a:off x="640080" y="914400"/>
            <a:ext cx="7315200" cy="320040"/>
          </a:xfrm>
          <a:prstGeom prst="rect">
            <a:avLst/>
          </a:prstGeom>
          <a:noFill/>
          <a:ln/>
        </p:spPr>
        <p:txBody>
          <a:bodyPr wrap="square" rtlCol="0" anchor="ctr"/>
          <a:lstStyle/>
          <a:p>
            <a:pPr marL="0" indent="0">
              <a:buNone/>
            </a:pPr>
            <a:r>
              <a:rPr lang="en-US" sz="1550" b="1" kern="0" spc="200" dirty="0">
                <a:solidFill>
                  <a:srgbClr val="D9A441"/>
                </a:solidFill>
                <a:latin typeface="Calibri" pitchFamily="34" charset="0"/>
                <a:ea typeface="Calibri" pitchFamily="34" charset="-122"/>
                <a:cs typeface="Calibri" pitchFamily="34" charset="-120"/>
              </a:rPr>
              <a:t>CONCLUSION</a:t>
            </a:r>
            <a:endParaRPr lang="en-US" sz="1550" dirty="0"/>
          </a:p>
        </p:txBody>
      </p:sp>
      <p:sp>
        <p:nvSpPr>
          <p:cNvPr id="7" name="Text 5"/>
          <p:cNvSpPr/>
          <p:nvPr/>
        </p:nvSpPr>
        <p:spPr>
          <a:xfrm>
            <a:off x="594360" y="1280160"/>
            <a:ext cx="10515600" cy="1005840"/>
          </a:xfrm>
          <a:prstGeom prst="rect">
            <a:avLst/>
          </a:prstGeom>
          <a:noFill/>
          <a:ln/>
        </p:spPr>
        <p:txBody>
          <a:bodyPr wrap="square" rtlCol="0" anchor="ctr"/>
          <a:lstStyle/>
          <a:p>
            <a:pPr marL="0" indent="0">
              <a:buNone/>
            </a:pPr>
            <a:r>
              <a:rPr lang="en-US" sz="4250" b="1" dirty="0">
                <a:solidFill>
                  <a:srgbClr val="FFFFFF"/>
                </a:solidFill>
                <a:latin typeface="Cambria" pitchFamily="34" charset="0"/>
                <a:ea typeface="Cambria" pitchFamily="34" charset="-122"/>
                <a:cs typeface="Cambria" pitchFamily="34" charset="-120"/>
              </a:rPr>
              <a:t>Project Complete — Deployment Ready</a:t>
            </a:r>
            <a:endParaRPr lang="en-US" sz="4250" dirty="0"/>
          </a:p>
        </p:txBody>
      </p:sp>
      <p:sp>
        <p:nvSpPr>
          <p:cNvPr id="8" name="Text 6"/>
          <p:cNvSpPr/>
          <p:nvPr/>
        </p:nvSpPr>
        <p:spPr>
          <a:xfrm>
            <a:off x="640080" y="2423160"/>
            <a:ext cx="7863840" cy="1188720"/>
          </a:xfrm>
          <a:prstGeom prst="rect">
            <a:avLst/>
          </a:prstGeom>
          <a:noFill/>
          <a:ln/>
        </p:spPr>
        <p:txBody>
          <a:bodyPr wrap="square" rtlCol="0" anchor="ctr"/>
          <a:lstStyle/>
          <a:p>
            <a:pPr marL="0" indent="0">
              <a:lnSpc>
                <a:spcPct val="130000"/>
              </a:lnSpc>
              <a:buNone/>
            </a:pPr>
            <a:r>
              <a:rPr lang="en-US" sz="1650" dirty="0">
                <a:solidFill>
                  <a:srgbClr val="CAD2C5"/>
                </a:solidFill>
                <a:latin typeface="Calibri" pitchFamily="34" charset="0"/>
                <a:ea typeface="Calibri" pitchFamily="34" charset="-122"/>
                <a:cs typeface="Calibri" pitchFamily="34" charset="-120"/>
              </a:rPr>
              <a:t>All four milestones — foundation &amp; authentication, species &amp; bioacoustic recognition, population &amp; conservation intelligence, and executive GIS &amp; dashboards — are fully implemented, integrated, and verified against the official project specification.</a:t>
            </a:r>
            <a:endParaRPr lang="en-US" sz="1650" dirty="0"/>
          </a:p>
        </p:txBody>
      </p:sp>
      <p:sp>
        <p:nvSpPr>
          <p:cNvPr id="9" name="Text 7"/>
          <p:cNvSpPr/>
          <p:nvPr/>
        </p:nvSpPr>
        <p:spPr>
          <a:xfrm>
            <a:off x="640080" y="3749040"/>
            <a:ext cx="7863840" cy="1097280"/>
          </a:xfrm>
          <a:prstGeom prst="rect">
            <a:avLst/>
          </a:prstGeom>
          <a:noFill/>
          <a:ln/>
        </p:spPr>
        <p:txBody>
          <a:bodyPr wrap="square" rtlCol="0" anchor="ctr"/>
          <a:lstStyle/>
          <a:p>
            <a:pPr marL="0" indent="0">
              <a:lnSpc>
                <a:spcPct val="130000"/>
              </a:lnSpc>
              <a:buNone/>
            </a:pPr>
            <a:r>
              <a:rPr lang="en-US" sz="1650" dirty="0">
                <a:solidFill>
                  <a:srgbClr val="CAD2C5"/>
                </a:solidFill>
                <a:latin typeface="Calibri" pitchFamily="34" charset="0"/>
                <a:ea typeface="Calibri" pitchFamily="34" charset="-122"/>
                <a:cs typeface="Calibri" pitchFamily="34" charset="-120"/>
              </a:rPr>
              <a:t>The AI Wildlife Population Intelligence System now delivers a complete pipeline — from raw field data to actionable, exportable conservation guidance — and is ready for deployment in protected wildlife conservation reserves.</a:t>
            </a:r>
            <a:endParaRPr lang="en-US" sz="1650" dirty="0"/>
          </a:p>
        </p:txBody>
      </p:sp>
      <p:sp>
        <p:nvSpPr>
          <p:cNvPr id="10" name="Shape 8"/>
          <p:cNvSpPr/>
          <p:nvPr/>
        </p:nvSpPr>
        <p:spPr>
          <a:xfrm>
            <a:off x="640080" y="5212080"/>
            <a:ext cx="1234440" cy="502920"/>
          </a:xfrm>
          <a:prstGeom prst="roundRect">
            <a:avLst>
              <a:gd name="adj" fmla="val 50909"/>
            </a:avLst>
          </a:prstGeom>
          <a:solidFill>
            <a:srgbClr val="52796F"/>
          </a:solidFill>
          <a:ln/>
        </p:spPr>
      </p:sp>
      <p:sp>
        <p:nvSpPr>
          <p:cNvPr id="11" name="Text 9"/>
          <p:cNvSpPr/>
          <p:nvPr/>
        </p:nvSpPr>
        <p:spPr>
          <a:xfrm>
            <a:off x="640080" y="5212080"/>
            <a:ext cx="1234440" cy="50292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M1 ✓</a:t>
            </a:r>
            <a:endParaRPr lang="en-US" sz="1550" dirty="0"/>
          </a:p>
        </p:txBody>
      </p:sp>
      <p:sp>
        <p:nvSpPr>
          <p:cNvPr id="12" name="Shape 10"/>
          <p:cNvSpPr/>
          <p:nvPr/>
        </p:nvSpPr>
        <p:spPr>
          <a:xfrm>
            <a:off x="2057400" y="5212080"/>
            <a:ext cx="1234440" cy="502920"/>
          </a:xfrm>
          <a:prstGeom prst="roundRect">
            <a:avLst>
              <a:gd name="adj" fmla="val 50909"/>
            </a:avLst>
          </a:prstGeom>
          <a:solidFill>
            <a:srgbClr val="52796F"/>
          </a:solidFill>
          <a:ln/>
        </p:spPr>
      </p:sp>
      <p:sp>
        <p:nvSpPr>
          <p:cNvPr id="13" name="Text 11"/>
          <p:cNvSpPr/>
          <p:nvPr/>
        </p:nvSpPr>
        <p:spPr>
          <a:xfrm>
            <a:off x="2057400" y="5212080"/>
            <a:ext cx="1234440" cy="50292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M2 ✓</a:t>
            </a:r>
            <a:endParaRPr lang="en-US" sz="1550" dirty="0"/>
          </a:p>
        </p:txBody>
      </p:sp>
      <p:sp>
        <p:nvSpPr>
          <p:cNvPr id="14" name="Shape 12"/>
          <p:cNvSpPr/>
          <p:nvPr/>
        </p:nvSpPr>
        <p:spPr>
          <a:xfrm>
            <a:off x="3474720" y="5212080"/>
            <a:ext cx="1234440" cy="502920"/>
          </a:xfrm>
          <a:prstGeom prst="roundRect">
            <a:avLst>
              <a:gd name="adj" fmla="val 50909"/>
            </a:avLst>
          </a:prstGeom>
          <a:solidFill>
            <a:srgbClr val="52796F"/>
          </a:solidFill>
          <a:ln/>
        </p:spPr>
      </p:sp>
      <p:sp>
        <p:nvSpPr>
          <p:cNvPr id="15" name="Text 13"/>
          <p:cNvSpPr/>
          <p:nvPr/>
        </p:nvSpPr>
        <p:spPr>
          <a:xfrm>
            <a:off x="3474720" y="5212080"/>
            <a:ext cx="1234440" cy="50292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M3 ✓</a:t>
            </a:r>
            <a:endParaRPr lang="en-US" sz="1550" dirty="0"/>
          </a:p>
        </p:txBody>
      </p:sp>
      <p:sp>
        <p:nvSpPr>
          <p:cNvPr id="16" name="Shape 14"/>
          <p:cNvSpPr/>
          <p:nvPr/>
        </p:nvSpPr>
        <p:spPr>
          <a:xfrm>
            <a:off x="4892040" y="5212080"/>
            <a:ext cx="1234440" cy="502920"/>
          </a:xfrm>
          <a:prstGeom prst="roundRect">
            <a:avLst>
              <a:gd name="adj" fmla="val 50909"/>
            </a:avLst>
          </a:prstGeom>
          <a:solidFill>
            <a:srgbClr val="52796F"/>
          </a:solidFill>
          <a:ln/>
        </p:spPr>
      </p:sp>
      <p:sp>
        <p:nvSpPr>
          <p:cNvPr id="17" name="Text 15"/>
          <p:cNvSpPr/>
          <p:nvPr/>
        </p:nvSpPr>
        <p:spPr>
          <a:xfrm>
            <a:off x="4892040" y="5212080"/>
            <a:ext cx="1234440" cy="502920"/>
          </a:xfrm>
          <a:prstGeom prst="rect">
            <a:avLst/>
          </a:prstGeom>
          <a:noFill/>
          <a:ln/>
        </p:spPr>
        <p:txBody>
          <a:bodyPr wrap="square" rtlCol="0" anchor="ctr"/>
          <a:lstStyle/>
          <a:p>
            <a:pPr marL="0" indent="0" algn="ctr">
              <a:buNone/>
            </a:pPr>
            <a:r>
              <a:rPr lang="en-US" sz="1550" b="1" dirty="0">
                <a:solidFill>
                  <a:srgbClr val="FFFFFF"/>
                </a:solidFill>
                <a:latin typeface="Calibri" pitchFamily="34" charset="0"/>
                <a:ea typeface="Calibri" pitchFamily="34" charset="-122"/>
                <a:cs typeface="Calibri" pitchFamily="34" charset="-120"/>
              </a:rPr>
              <a:t>M4 ✓</a:t>
            </a:r>
            <a:endParaRPr lang="en-US" sz="1550" dirty="0"/>
          </a:p>
        </p:txBody>
      </p:sp>
      <p:sp>
        <p:nvSpPr>
          <p:cNvPr id="18" name="Text 16"/>
          <p:cNvSpPr/>
          <p:nvPr/>
        </p:nvSpPr>
        <p:spPr>
          <a:xfrm>
            <a:off x="640080" y="6309360"/>
            <a:ext cx="8229600" cy="320040"/>
          </a:xfrm>
          <a:prstGeom prst="rect">
            <a:avLst/>
          </a:prstGeom>
          <a:noFill/>
          <a:ln/>
        </p:spPr>
        <p:txBody>
          <a:bodyPr wrap="square" rtlCol="0" anchor="ctr"/>
          <a:lstStyle/>
          <a:p>
            <a:pPr marL="0" indent="0">
              <a:buNone/>
            </a:pPr>
            <a:r>
              <a:rPr lang="en-US" sz="1300" dirty="0">
                <a:solidFill>
                  <a:srgbClr val="9AA79E"/>
                </a:solidFill>
                <a:latin typeface="Calibri" pitchFamily="34" charset="0"/>
                <a:ea typeface="Calibri" pitchFamily="34" charset="-122"/>
                <a:cs typeface="Calibri" pitchFamily="34" charset="-120"/>
              </a:rPr>
              <a:t>Infosys Springboard Virtual Internship Program · Batch 2 · Intern: Jayasri 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1939</Words>
  <Application>Microsoft Office PowerPoint</Application>
  <PresentationFormat>Widescreen</PresentationFormat>
  <Paragraphs>427</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Jaya sri</cp:lastModifiedBy>
  <cp:revision>3</cp:revision>
  <dcterms:created xsi:type="dcterms:W3CDTF">2026-08-16T06:52:15Z</dcterms:created>
  <dcterms:modified xsi:type="dcterms:W3CDTF">2026-08-17T12:05:53Z</dcterms:modified>
</cp:coreProperties>
</file>